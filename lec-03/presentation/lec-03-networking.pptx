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431740ec-5f78-f3c8-8a8b-64caae420934}">
          <p14:sldIdLst>
            <p14:sldId id="256"/>
            <p14:sldId id="257"/>
            <p14:sldId id="258"/>
            <p14:sldId id="259"/>
          </p14:sldIdLst>
        </p14:section>
        <p14:section name="DNS, IP, port" id="{e1c7a102-90a0-9356-3d67-7a886e48071b}">
          <p14:sldIdLst>
            <p14:sldId id="260"/>
            <p14:sldId id="261"/>
            <p14:sldId id="262"/>
            <p14:sldId id="263"/>
            <p14:sldId id="264"/>
            <p14:sldId id="265"/>
            <p14:sldId id="266"/>
            <p14:sldId id="267"/>
            <p14:sldId id="268"/>
          </p14:sldIdLst>
        </p14:section>
        <p14:section name="When it fails" id="{537bf0e7-96fa-8956-6d99-b1caed5177b3}">
          <p14:sldIdLst>
            <p14:sldId id="269"/>
            <p14:sldId id="270"/>
            <p14:sldId id="271"/>
            <p14:sldId id="272"/>
            <p14:sldId id="273"/>
          </p14:sldIdLst>
        </p14:section>
        <p14:section name="Cloud network" id="{ad26fb6a-e858-6318-ebfd-f232215a6a0a}">
          <p14:sldIdLst>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Interview and close" id="{43516428-98a3-de0a-9fb1-5f4c9e7157f2}">
          <p14:sldIdLst>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881360" cy="1371600"/>
          </a:xfrm>
          <a:prstGeom prst="rect">
            <a:avLst/>
          </a:prstGeom>
          <a:noFill/>
          <a:ln/>
        </p:spPr>
        <p:txBody>
          <a:bodyPr wrap="square" rtlCol="0"/>
          <a:lstStyle>
            <a:lvl1pPr indent="0" marL="0">
              <a:buNone/>
              <a:defRPr lang="en-US" sz="3400" b="1" dirty="0">
                <a:solidFill>
                  <a:schemeClr val="bg1"/>
                </a:solidFill>
              </a:defRPr>
            </a:lvl1pPr>
          </a:lstStyle>
          <a:p>
            <a:pPr indent="0" marL="0">
              <a:buNone/>
            </a:pPr>
            <a:r>
              <a:rPr lang="en-US" sz="3400" b="1" dirty="0">
                <a:solidFill>
                  <a:schemeClr val="bg1"/>
                </a:solidFill>
              </a:rPr>
              <a:t>Title</a:t>
            </a:r>
            <a:endParaRPr lang="en-US" sz="3400" dirty="0"/>
          </a:p>
        </p:txBody>
      </p:sp>
      <p:sp>
        <p:nvSpPr>
          <p:cNvPr id="3" name="Text 0"/>
          <p:cNvSpPr/>
          <p:nvPr>
            <p:ph idx="101" type="body" hasCustomPrompt="1"/>
          </p:nvPr>
        </p:nvSpPr>
        <p:spPr>
          <a:xfrm>
            <a:off x="640080" y="3291840"/>
            <a:ext cx="10515600" cy="1554480"/>
          </a:xfrm>
          <a:prstGeom prst="rect">
            <a:avLst/>
          </a:prstGeom>
          <a:noFill/>
          <a:ln/>
        </p:spPr>
        <p:txBody>
          <a:bodyPr wrap="square" rtlCol="0"/>
          <a:lstStyle>
            <a:lvl1pPr indent="0" marL="0">
              <a:buNone/>
              <a:defRPr lang="en-US" sz="1800" dirty="0">
                <a:solidFill>
                  <a:srgbClr val="94A3B8"/>
                </a:solidFill>
              </a:defRPr>
            </a:lvl1pPr>
          </a:lstStyle>
          <a:p>
            <a:pPr indent="0" marL="0">
              <a:buNone/>
            </a:pPr>
            <a:r>
              <a:rPr lang="en-US" sz="1800" dirty="0">
                <a:solidFill>
                  <a:srgbClr val="94A3B8"/>
                </a:solidFill>
              </a:rPr>
              <a:t>Subtitle</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rtlCol="0"/>
          <a:lstStyle>
            <a:lvl1pPr indent="0" marL="0">
              <a:buNone/>
              <a:defRPr lang="en-US" sz="3200" b="1" dirty="0">
                <a:solidFill>
                  <a:schemeClr val="bg1"/>
                </a:solidFill>
              </a:defRPr>
            </a:lvl1pPr>
          </a:lstStyle>
          <a:p>
            <a:pPr indent="0" marL="0">
              <a:buNone/>
            </a:pPr>
            <a:r>
              <a:rPr lang="en-US" sz="3200" b="1" dirty="0">
                <a:solidFill>
                  <a:schemeClr val="bg1"/>
                </a:solidFill>
              </a:rPr>
              <a:t>Section</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rtlCol="0"/>
          <a:lstStyle>
            <a:lvl1pPr indent="0" marL="0">
              <a:buNone/>
              <a:defRPr lang="en-US" sz="1800" dirty="0">
                <a:solidFill>
                  <a:srgbClr val="94A3B8"/>
                </a:solidFill>
              </a:defRPr>
            </a:lvl1pPr>
          </a:lstStyle>
          <a:p>
            <a:pPr indent="0" marL="0">
              <a:buNone/>
            </a:pPr>
            <a:r>
              <a:rPr lang="en-US" sz="1800" dirty="0">
                <a:solidFill>
                  <a:srgbClr val="94A3B8"/>
                </a:solidFill>
              </a:rPr>
              <a:t>Section note</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rtlCol="0"/>
          <a:lstStyle>
            <a:lvl1pPr indent="0" marL="0">
              <a:buNone/>
              <a:defRPr lang="en-US" sz="2600" b="1" dirty="0">
                <a:solidFill>
                  <a:schemeClr val="tx1"/>
                </a:solidFill>
              </a:defRPr>
            </a:lvl1pPr>
          </a:lstStyle>
          <a:p>
            <a:pPr indent="0" marL="0">
              <a:buNone/>
            </a:pPr>
            <a:r>
              <a:rPr lang="en-US" sz="2600" b="1" dirty="0">
                <a:solidFill>
                  <a:schemeClr val="tx1"/>
                </a:solidFill>
              </a:rPr>
              <a:t>Title</a:t>
            </a:r>
            <a:endParaRPr lang="en-US" sz="2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40080" y="1234440"/>
            <a:ext cx="4937760" cy="365760"/>
          </a:xfrm>
          <a:prstGeom prst="roundRect">
            <a:avLst>
              <a:gd name="adj" fmla="val 15000"/>
            </a:avLst>
          </a:prstGeom>
          <a:solidFill>
            <a:srgbClr val="0F766E"/>
          </a:solidFill>
          <a:ln/>
        </p:spPr>
      </p:sp>
      <p:sp>
        <p:nvSpPr>
          <p:cNvPr id="3" name="Text 1"/>
          <p:cNvSpPr txBox="1"/>
          <p:nvPr/>
        </p:nvSpPr>
        <p:spPr>
          <a:xfrm>
            <a:off x="640080" y="1234440"/>
            <a:ext cx="4937760" cy="365760"/>
          </a:xfrm>
          <a:prstGeom prst="rect">
            <a:avLst/>
          </a:prstGeom>
          <a:noFill/>
          <a:ln/>
        </p:spPr>
        <p:txBody>
          <a:bodyPr wrap="square" lIns="0" tIns="0" rIns="0" bIns="0" rtlCol="0" anchor="ctr"/>
          <a:lstStyle/>
          <a:p>
            <a:pPr algn="ctr" indent="0" marL="0">
              <a:buNone/>
            </a:pPr>
            <a:r>
              <a:rPr lang="en-US" sz="1100" b="1" dirty="0">
                <a:solidFill>
                  <a:srgbClr val="FFFFFF"/>
                </a:solidFill>
              </a:rPr>
              <a:t>LECTURE 03  ·  READ THIS DECK  ·  NO REQUIRED LAB</a:t>
            </a:r>
            <a:endParaRPr lang="en-US" sz="1100" dirty="0"/>
          </a:p>
        </p:txBody>
      </p:sp>
      <p:sp>
        <p:nvSpPr>
          <p:cNvPr id="4" name="Text 0"/>
          <p:cNvSpPr/>
          <p:nvPr>
            <p:ph idx="100" type="title" hasCustomPrompt="1"/>
          </p:nvPr>
        </p:nvSpPr>
        <p:spPr>
          <a:xfrm>
            <a:off x="640080" y="1828800"/>
            <a:ext cx="10881360" cy="1371600"/>
          </a:xfrm>
          <a:prstGeom prst="rect">
            <a:avLst/>
          </a:prstGeom>
          <a:noFill/>
          <a:ln/>
        </p:spPr>
        <p:txBody>
          <a:bodyPr wrap="square" lIns="0" tIns="0" rIns="0" bIns="0" rtlCol="0" anchor="b"/>
          <a:lstStyle/>
          <a:p>
            <a:pPr indent="0" marL="0">
              <a:buNone/>
            </a:pPr>
            <a:r>
              <a:rPr lang="en-US" sz="3400" b="1" dirty="0">
                <a:solidFill>
                  <a:schemeClr val="bg1"/>
                </a:solidFill>
              </a:rPr>
              <a:t>Networking</a:t>
            </a:r>
            <a:endParaRPr lang="en-US" sz="3400" dirty="0"/>
          </a:p>
        </p:txBody>
      </p:sp>
      <p:sp>
        <p:nvSpPr>
          <p:cNvPr id="5" name="Text 0"/>
          <p:cNvSpPr/>
          <p:nvPr>
            <p:ph idx="101" type="body" hasCustomPrompt="1"/>
          </p:nvPr>
        </p:nvSpPr>
        <p:spPr>
          <a:xfrm>
            <a:off x="640080" y="3291840"/>
            <a:ext cx="10515600" cy="1554480"/>
          </a:xfrm>
          <a:prstGeom prst="rect">
            <a:avLst/>
          </a:prstGeom>
          <a:noFill/>
          <a:ln/>
        </p:spPr>
        <p:txBody>
          <a:bodyPr wrap="square" lIns="0" tIns="0" rIns="0" bIns="0" rtlCol="0"/>
          <a:lstStyle/>
          <a:p>
            <a:pPr indent="0" marL="0">
              <a:buNone/>
            </a:pPr>
            <a:r>
              <a:rPr lang="en-US" sz="1800" dirty="0">
                <a:solidFill>
                  <a:srgbClr val="94A3B8"/>
                </a:solidFill>
              </a:rPr>
              <a:t>A few words first: DNS, IP, port.</a:t>
            </a:r>
            <a:endParaRPr lang="en-US" sz="1800" dirty="0"/>
          </a:p>
          <a:p>
            <a:pPr indent="0" marL="0">
              <a:buNone/>
            </a:pPr>
            <a:r>
              <a:rPr lang="en-US" sz="1800" dirty="0">
                <a:solidFill>
                  <a:srgbClr val="94A3B8"/>
                </a:solidFill>
              </a:rPr>
              <a:t>Then the same picture in AWS, Azure, and GCP.</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How to use this deck</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How to read</a:t>
            </a:r>
            <a:endParaRPr lang="en-US" sz="1100" dirty="0"/>
          </a:p>
        </p:txBody>
      </p:sp>
      <p:sp>
        <p:nvSpPr>
          <p:cNvPr id="4" name="Text 2"/>
          <p:cNvSpPr txBox="1"/>
          <p:nvPr/>
        </p:nvSpPr>
        <p:spPr>
          <a:xfrm>
            <a:off x="502920" y="1024128"/>
            <a:ext cx="11155680" cy="1097280"/>
          </a:xfrm>
          <a:prstGeom prst="rect">
            <a:avLst/>
          </a:prstGeom>
          <a:noFill/>
          <a:ln/>
        </p:spPr>
        <p:txBody>
          <a:bodyPr wrap="square" lIns="0" tIns="0" rIns="0" bIns="0" rtlCol="0" anchor="t"/>
          <a:lstStyle/>
          <a:p>
            <a:pPr indent="0" marL="0">
              <a:buNone/>
            </a:pPr>
            <a:r>
              <a:rPr lang="en-US" sz="1600" dirty="0">
                <a:solidFill>
                  <a:srgbClr val="334155"/>
                </a:solidFill>
              </a:rPr>
              <a:t>This PowerPoint is the lesson. Every idea is on the slide, with an example. You do not need any networking background. There is no required lab.</a:t>
            </a:r>
            <a:endParaRPr lang="en-US" sz="1600" dirty="0"/>
          </a:p>
        </p:txBody>
      </p:sp>
      <p:sp>
        <p:nvSpPr>
          <p:cNvPr id="5" name="Shape 3"/>
          <p:cNvSpPr/>
          <p:nvPr/>
        </p:nvSpPr>
        <p:spPr>
          <a:xfrm>
            <a:off x="502920" y="2240280"/>
            <a:ext cx="5532120" cy="3794760"/>
          </a:xfrm>
          <a:prstGeom prst="roundRect">
            <a:avLst>
              <a:gd name="adj" fmla="val 1928"/>
            </a:avLst>
          </a:prstGeom>
          <a:solidFill>
            <a:srgbClr val="ECFDF5"/>
          </a:solidFill>
          <a:ln/>
        </p:spPr>
      </p:sp>
      <p:sp>
        <p:nvSpPr>
          <p:cNvPr id="6" name="Text 4"/>
          <p:cNvSpPr txBox="1"/>
          <p:nvPr/>
        </p:nvSpPr>
        <p:spPr>
          <a:xfrm>
            <a:off x="685800" y="2350008"/>
            <a:ext cx="5166360" cy="292608"/>
          </a:xfrm>
          <a:prstGeom prst="rect">
            <a:avLst/>
          </a:prstGeom>
          <a:noFill/>
          <a:ln/>
        </p:spPr>
        <p:txBody>
          <a:bodyPr wrap="square" lIns="0" tIns="0" rIns="0" bIns="0" rtlCol="0" anchor="ctr"/>
          <a:lstStyle/>
          <a:p>
            <a:pPr indent="0" marL="0">
              <a:buNone/>
            </a:pPr>
            <a:r>
              <a:rPr lang="en-US" sz="1300" b="1" dirty="0">
                <a:solidFill>
                  <a:srgbClr val="0F766E"/>
                </a:solidFill>
              </a:rPr>
              <a:t>Do this</a:t>
            </a:r>
            <a:endParaRPr lang="en-US" sz="1300" dirty="0"/>
          </a:p>
        </p:txBody>
      </p:sp>
      <p:sp>
        <p:nvSpPr>
          <p:cNvPr id="7" name="Text 5"/>
          <p:cNvSpPr txBox="1"/>
          <p:nvPr/>
        </p:nvSpPr>
        <p:spPr>
          <a:xfrm>
            <a:off x="685800" y="2660904"/>
            <a:ext cx="5166360" cy="3246120"/>
          </a:xfrm>
          <a:prstGeom prst="rect">
            <a:avLst/>
          </a:prstGeom>
          <a:noFill/>
          <a:ln/>
        </p:spPr>
        <p:txBody>
          <a:bodyPr wrap="square" lIns="0" tIns="0" rIns="0" bIns="0" rtlCol="0" anchor="t"/>
          <a:lstStyle/>
          <a:p>
            <a:pPr indent="0" marL="0">
              <a:buNone/>
            </a:pPr>
            <a:r>
              <a:rPr lang="en-US" sz="1500" dirty="0">
                <a:solidFill>
                  <a:srgbClr val="334155"/>
                </a:solidFill>
              </a:rPr>
              <a:t>Read each slide in order.</a:t>
            </a:r>
            <a:endParaRPr lang="en-US" sz="1500" dirty="0"/>
          </a:p>
          <a:p>
            <a:pPr indent="0" marL="0">
              <a:buNone/>
            </a:pPr>
            <a:endParaRPr lang="en-US" sz="1500" dirty="0"/>
          </a:p>
          <a:p>
            <a:pPr indent="0" marL="0">
              <a:buNone/>
            </a:pPr>
            <a:r>
              <a:rPr lang="en-US" sz="1500" dirty="0">
                <a:solidFill>
                  <a:srgbClr val="334155"/>
                </a:solidFill>
              </a:rPr>
              <a:t>When you see Example, stop and match it to the idea above.</a:t>
            </a:r>
            <a:endParaRPr lang="en-US" sz="1500" dirty="0"/>
          </a:p>
          <a:p>
            <a:pPr indent="0" marL="0">
              <a:buNone/>
            </a:pPr>
            <a:endParaRPr lang="en-US" sz="1500" dirty="0"/>
          </a:p>
          <a:p>
            <a:pPr indent="0" marL="0">
              <a:buNone/>
            </a:pPr>
            <a:r>
              <a:rPr lang="en-US" sz="1500" dirty="0">
                <a:solidFill>
                  <a:srgbClr val="334155"/>
                </a:solidFill>
              </a:rPr>
              <a:t>Lecture 4 is where we click AWS.</a:t>
            </a:r>
            <a:endParaRPr lang="en-US" sz="1500" dirty="0"/>
          </a:p>
        </p:txBody>
      </p:sp>
      <p:sp>
        <p:nvSpPr>
          <p:cNvPr id="8" name="Shape 6"/>
          <p:cNvSpPr/>
          <p:nvPr/>
        </p:nvSpPr>
        <p:spPr>
          <a:xfrm>
            <a:off x="6217920" y="2240280"/>
            <a:ext cx="5440680" cy="3794760"/>
          </a:xfrm>
          <a:prstGeom prst="roundRect">
            <a:avLst>
              <a:gd name="adj" fmla="val 1928"/>
            </a:avLst>
          </a:prstGeom>
          <a:solidFill>
            <a:srgbClr val="FEF3C7"/>
          </a:solidFill>
          <a:ln/>
        </p:spPr>
      </p:sp>
      <p:sp>
        <p:nvSpPr>
          <p:cNvPr id="9" name="Text 7"/>
          <p:cNvSpPr txBox="1"/>
          <p:nvPr/>
        </p:nvSpPr>
        <p:spPr>
          <a:xfrm>
            <a:off x="6400800" y="2350008"/>
            <a:ext cx="5074920" cy="292608"/>
          </a:xfrm>
          <a:prstGeom prst="rect">
            <a:avLst/>
          </a:prstGeom>
          <a:noFill/>
          <a:ln/>
        </p:spPr>
        <p:txBody>
          <a:bodyPr wrap="square" lIns="0" tIns="0" rIns="0" bIns="0" rtlCol="0" anchor="ctr"/>
          <a:lstStyle/>
          <a:p>
            <a:pPr indent="0" marL="0">
              <a:buNone/>
            </a:pPr>
            <a:r>
              <a:rPr lang="en-US" sz="1300" b="1" dirty="0">
                <a:solidFill>
                  <a:srgbClr val="B45309"/>
                </a:solidFill>
              </a:rPr>
              <a:t>You do not have to</a:t>
            </a:r>
            <a:endParaRPr lang="en-US" sz="1300" dirty="0"/>
          </a:p>
        </p:txBody>
      </p:sp>
      <p:sp>
        <p:nvSpPr>
          <p:cNvPr id="10" name="Text 8"/>
          <p:cNvSpPr txBox="1"/>
          <p:nvPr/>
        </p:nvSpPr>
        <p:spPr>
          <a:xfrm>
            <a:off x="6400800" y="2660904"/>
            <a:ext cx="5074920" cy="3246120"/>
          </a:xfrm>
          <a:prstGeom prst="rect">
            <a:avLst/>
          </a:prstGeom>
          <a:noFill/>
          <a:ln/>
        </p:spPr>
        <p:txBody>
          <a:bodyPr wrap="square" lIns="0" tIns="0" rIns="0" bIns="0" rtlCol="0" anchor="t"/>
          <a:lstStyle/>
          <a:p>
            <a:pPr indent="0" marL="0">
              <a:buNone/>
            </a:pPr>
            <a:r>
              <a:rPr lang="en-US" sz="1500" dirty="0">
                <a:solidFill>
                  <a:srgbClr val="334155"/>
                </a:solidFill>
              </a:rPr>
              <a:t>Run commands in class.</a:t>
            </a:r>
            <a:endParaRPr lang="en-US" sz="1500" dirty="0"/>
          </a:p>
          <a:p>
            <a:pPr indent="0" marL="0">
              <a:buNone/>
            </a:pPr>
            <a:endParaRPr lang="en-US" sz="1500" dirty="0"/>
          </a:p>
          <a:p>
            <a:pPr indent="0" marL="0">
              <a:buNone/>
            </a:pPr>
            <a:r>
              <a:rPr lang="en-US" sz="1500" dirty="0">
                <a:solidFill>
                  <a:srgbClr val="334155"/>
                </a:solidFill>
              </a:rPr>
              <a:t>Create a VPC, NAT, load balancer, or EC2 today.</a:t>
            </a:r>
            <a:endParaRPr lang="en-US" sz="1500" dirty="0"/>
          </a:p>
          <a:p>
            <a:pPr indent="0" marL="0">
              <a:buNone/>
            </a:pPr>
            <a:endParaRPr lang="en-US" sz="1500" dirty="0"/>
          </a:p>
          <a:p>
            <a:pPr indent="0" marL="0">
              <a:buNone/>
            </a:pPr>
            <a:r>
              <a:rPr lang="en-US" sz="1500" dirty="0">
                <a:solidFill>
                  <a:srgbClr val="334155"/>
                </a:solidFill>
              </a:rPr>
              <a:t>Learn OSI, TCP vs UDP, frames, or routers.</a:t>
            </a:r>
            <a:endParaRPr lang="en-US" sz="1500" dirty="0"/>
          </a:p>
          <a:p>
            <a:pPr indent="0" marL="0">
              <a:buNone/>
            </a:pPr>
            <a:endParaRPr lang="en-US" sz="1500" dirty="0"/>
          </a:p>
          <a:p>
            <a:pPr indent="0" marL="0">
              <a:buNone/>
            </a:pPr>
            <a:r>
              <a:rPr lang="en-US" sz="1500" dirty="0">
                <a:solidFill>
                  <a:srgbClr val="334155"/>
                </a:solidFill>
              </a:rPr>
              <a:t>Spend money.</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What we will learn</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Map</a:t>
            </a:r>
            <a:endParaRPr lang="en-US" sz="1100" dirty="0"/>
          </a:p>
        </p:txBody>
      </p:sp>
      <p:sp>
        <p:nvSpPr>
          <p:cNvPr id="4" name="Shape 2"/>
          <p:cNvSpPr/>
          <p:nvPr/>
        </p:nvSpPr>
        <p:spPr>
          <a:xfrm>
            <a:off x="502920" y="1097280"/>
            <a:ext cx="5532120" cy="4937760"/>
          </a:xfrm>
          <a:prstGeom prst="roundRect">
            <a:avLst>
              <a:gd name="adj" fmla="val 1481"/>
            </a:avLst>
          </a:prstGeom>
          <a:solidFill>
            <a:srgbClr val="0F172A"/>
          </a:solidFill>
          <a:ln/>
        </p:spPr>
      </p:sp>
      <p:sp>
        <p:nvSpPr>
          <p:cNvPr id="5" name="Text 3"/>
          <p:cNvSpPr txBox="1"/>
          <p:nvPr/>
        </p:nvSpPr>
        <p:spPr>
          <a:xfrm>
            <a:off x="685800" y="1207008"/>
            <a:ext cx="5166360" cy="292608"/>
          </a:xfrm>
          <a:prstGeom prst="rect">
            <a:avLst/>
          </a:prstGeom>
          <a:noFill/>
          <a:ln/>
        </p:spPr>
        <p:txBody>
          <a:bodyPr wrap="square" lIns="0" tIns="0" rIns="0" bIns="0" rtlCol="0" anchor="ctr"/>
          <a:lstStyle/>
          <a:p>
            <a:pPr indent="0" marL="0">
              <a:buNone/>
            </a:pPr>
            <a:r>
              <a:rPr lang="en-US" sz="1300" b="1" dirty="0">
                <a:solidFill>
                  <a:srgbClr val="5EEAD4"/>
                </a:solidFill>
              </a:rPr>
              <a:t>Words you need</a:t>
            </a:r>
            <a:endParaRPr lang="en-US" sz="1300" dirty="0"/>
          </a:p>
        </p:txBody>
      </p:sp>
      <p:sp>
        <p:nvSpPr>
          <p:cNvPr id="6" name="Text 4"/>
          <p:cNvSpPr txBox="1"/>
          <p:nvPr/>
        </p:nvSpPr>
        <p:spPr>
          <a:xfrm>
            <a:off x="685800" y="1517904"/>
            <a:ext cx="5166360" cy="4389120"/>
          </a:xfrm>
          <a:prstGeom prst="rect">
            <a:avLst/>
          </a:prstGeom>
          <a:noFill/>
          <a:ln/>
        </p:spPr>
        <p:txBody>
          <a:bodyPr wrap="square" lIns="0" tIns="0" rIns="0" bIns="0" rtlCol="0" anchor="t"/>
          <a:lstStyle/>
          <a:p>
            <a:pPr indent="0" marL="0">
              <a:buNone/>
            </a:pPr>
            <a:r>
              <a:rPr lang="en-US" sz="1500" dirty="0">
                <a:solidFill>
                  <a:srgbClr val="E2E8F0"/>
                </a:solidFill>
              </a:rPr>
              <a:t>DNS — a name becomes a number.</a:t>
            </a:r>
            <a:endParaRPr lang="en-US" sz="1500" dirty="0"/>
          </a:p>
          <a:p>
            <a:pPr indent="0" marL="0">
              <a:buNone/>
            </a:pPr>
            <a:endParaRPr lang="en-US" sz="1500" dirty="0"/>
          </a:p>
          <a:p>
            <a:pPr indent="0" marL="0">
              <a:buNone/>
            </a:pPr>
            <a:r>
              <a:rPr lang="en-US" sz="1500" dirty="0">
                <a:solidFill>
                  <a:srgbClr val="E2E8F0"/>
                </a:solidFill>
              </a:rPr>
              <a:t>IP — the address of a computer.</a:t>
            </a:r>
            <a:endParaRPr lang="en-US" sz="1500" dirty="0"/>
          </a:p>
          <a:p>
            <a:pPr indent="0" marL="0">
              <a:buNone/>
            </a:pPr>
            <a:endParaRPr lang="en-US" sz="1500" dirty="0"/>
          </a:p>
          <a:p>
            <a:pPr indent="0" marL="0">
              <a:buNone/>
            </a:pPr>
            <a:r>
              <a:rPr lang="en-US" sz="1500" dirty="0">
                <a:solidFill>
                  <a:srgbClr val="E2E8F0"/>
                </a:solidFill>
              </a:rPr>
              <a:t>Port — which door on that computer.</a:t>
            </a:r>
            <a:endParaRPr lang="en-US" sz="1500" dirty="0"/>
          </a:p>
          <a:p>
            <a:pPr indent="0" marL="0">
              <a:buNone/>
            </a:pPr>
            <a:endParaRPr lang="en-US" sz="1500" dirty="0"/>
          </a:p>
          <a:p>
            <a:pPr indent="0" marL="0">
              <a:buNone/>
            </a:pPr>
            <a:r>
              <a:rPr lang="en-US" sz="1500" dirty="0">
                <a:solidFill>
                  <a:srgbClr val="E2E8F0"/>
                </a:solidFill>
              </a:rPr>
              <a:t>HTTPS — the same HTTP as lecture 2, encrypted.</a:t>
            </a:r>
            <a:endParaRPr lang="en-US" sz="1500" dirty="0"/>
          </a:p>
          <a:p>
            <a:pPr indent="0" marL="0">
              <a:buNone/>
            </a:pPr>
            <a:endParaRPr lang="en-US" sz="1500" dirty="0"/>
          </a:p>
          <a:p>
            <a:pPr indent="0" marL="0">
              <a:buNone/>
            </a:pPr>
            <a:r>
              <a:rPr lang="en-US" sz="1500" dirty="0">
                <a:solidFill>
                  <a:srgbClr val="E2E8F0"/>
                </a:solidFill>
              </a:rPr>
              <a:t>Then: why a request fails.</a:t>
            </a:r>
            <a:endParaRPr lang="en-US" sz="1500" dirty="0"/>
          </a:p>
        </p:txBody>
      </p:sp>
      <p:sp>
        <p:nvSpPr>
          <p:cNvPr id="7" name="Shape 5"/>
          <p:cNvSpPr/>
          <p:nvPr/>
        </p:nvSpPr>
        <p:spPr>
          <a:xfrm>
            <a:off x="6217920" y="1097280"/>
            <a:ext cx="5440680" cy="4937760"/>
          </a:xfrm>
          <a:prstGeom prst="roundRect">
            <a:avLst>
              <a:gd name="adj" fmla="val 1481"/>
            </a:avLst>
          </a:prstGeom>
          <a:solidFill>
            <a:srgbClr val="ECFDF5"/>
          </a:solidFill>
          <a:ln/>
        </p:spPr>
      </p:sp>
      <p:sp>
        <p:nvSpPr>
          <p:cNvPr id="8" name="Text 6"/>
          <p:cNvSpPr txBox="1"/>
          <p:nvPr/>
        </p:nvSpPr>
        <p:spPr>
          <a:xfrm>
            <a:off x="6400800" y="1207008"/>
            <a:ext cx="5074920" cy="292608"/>
          </a:xfrm>
          <a:prstGeom prst="rect">
            <a:avLst/>
          </a:prstGeom>
          <a:noFill/>
          <a:ln/>
        </p:spPr>
        <p:txBody>
          <a:bodyPr wrap="square" lIns="0" tIns="0" rIns="0" bIns="0" rtlCol="0" anchor="ctr"/>
          <a:lstStyle/>
          <a:p>
            <a:pPr indent="0" marL="0">
              <a:buNone/>
            </a:pPr>
            <a:r>
              <a:rPr lang="en-US" sz="1300" b="1" dirty="0">
                <a:solidFill>
                  <a:srgbClr val="0F766E"/>
                </a:solidFill>
              </a:rPr>
              <a:t>Then the cloud</a:t>
            </a:r>
            <a:endParaRPr lang="en-US" sz="1300" dirty="0"/>
          </a:p>
        </p:txBody>
      </p:sp>
      <p:sp>
        <p:nvSpPr>
          <p:cNvPr id="9" name="Text 7"/>
          <p:cNvSpPr txBox="1"/>
          <p:nvPr/>
        </p:nvSpPr>
        <p:spPr>
          <a:xfrm>
            <a:off x="6400800" y="1517904"/>
            <a:ext cx="5074920" cy="4389120"/>
          </a:xfrm>
          <a:prstGeom prst="rect">
            <a:avLst/>
          </a:prstGeom>
          <a:noFill/>
          <a:ln/>
        </p:spPr>
        <p:txBody>
          <a:bodyPr wrap="square" lIns="0" tIns="0" rIns="0" bIns="0" rtlCol="0" anchor="t"/>
          <a:lstStyle/>
          <a:p>
            <a:pPr indent="0" marL="0">
              <a:buNone/>
            </a:pPr>
            <a:r>
              <a:rPr lang="en-US" sz="1500" dirty="0">
                <a:solidFill>
                  <a:srgbClr val="334155"/>
                </a:solidFill>
              </a:rPr>
              <a:t>The same ideas with cloud names.</a:t>
            </a:r>
            <a:endParaRPr lang="en-US" sz="1500" dirty="0"/>
          </a:p>
          <a:p>
            <a:pPr indent="0" marL="0">
              <a:buNone/>
            </a:pPr>
            <a:endParaRPr lang="en-US" sz="1500" dirty="0"/>
          </a:p>
          <a:p>
            <a:pPr indent="0" marL="0">
              <a:buNone/>
            </a:pPr>
            <a:r>
              <a:rPr lang="en-US" sz="1500" dirty="0">
                <a:solidFill>
                  <a:srgbClr val="334155"/>
                </a:solidFill>
              </a:rPr>
              <a:t>VPC, subnet, Internet Gateway, NAT, security group.</a:t>
            </a:r>
            <a:endParaRPr lang="en-US" sz="1500" dirty="0"/>
          </a:p>
          <a:p>
            <a:pPr indent="0" marL="0">
              <a:buNone/>
            </a:pPr>
            <a:endParaRPr lang="en-US" sz="1500" dirty="0"/>
          </a:p>
          <a:p>
            <a:pPr indent="0" marL="0">
              <a:buNone/>
            </a:pPr>
            <a:r>
              <a:rPr lang="en-US" sz="1500" dirty="0">
                <a:solidFill>
                  <a:srgbClr val="334155"/>
                </a:solidFill>
              </a:rPr>
              <a:t>AWS, Azure, and GCP use different words for the same boxes.</a:t>
            </a:r>
            <a:endParaRPr lang="en-US" sz="1500" dirty="0"/>
          </a:p>
          <a:p>
            <a:pPr indent="0" marL="0">
              <a:buNone/>
            </a:pPr>
            <a:endParaRPr lang="en-US" sz="1500" dirty="0"/>
          </a:p>
          <a:p>
            <a:pPr indent="0" marL="0">
              <a:buNone/>
            </a:pPr>
            <a:r>
              <a:rPr lang="en-US" sz="1500" dirty="0">
                <a:solidFill>
                  <a:srgbClr val="334155"/>
                </a:solidFill>
              </a:rPr>
              <a:t>We explain it. We click it in lecture 4.</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Not today in the AWS console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Scope</a:t>
            </a:r>
            <a:endParaRPr lang="en-US" sz="1100" dirty="0"/>
          </a:p>
        </p:txBody>
      </p:sp>
      <p:sp>
        <p:nvSpPr>
          <p:cNvPr id="4" name="Text 2"/>
          <p:cNvSpPr txBox="1"/>
          <p:nvPr/>
        </p:nvSpPr>
        <p:spPr>
          <a:xfrm>
            <a:off x="502920" y="1024128"/>
            <a:ext cx="11155680" cy="1051560"/>
          </a:xfrm>
          <a:prstGeom prst="rect">
            <a:avLst/>
          </a:prstGeom>
          <a:noFill/>
          <a:ln/>
        </p:spPr>
        <p:txBody>
          <a:bodyPr wrap="square" lIns="0" tIns="0" rIns="0" bIns="0" rtlCol="0" anchor="t"/>
          <a:lstStyle/>
          <a:p>
            <a:pPr indent="0" marL="0">
              <a:buNone/>
            </a:pPr>
            <a:r>
              <a:rPr lang="en-US" sz="1600" dirty="0">
                <a:solidFill>
                  <a:srgbClr val="334155"/>
                </a:solidFill>
              </a:rPr>
              <a:t>Knowing a box is not the same as paying for it. NAT Gateway, load balancer, and extra EC2 instances are billed. This course does not create them.</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2286000"/>
          <a:ext cx="11173968" cy="914400"/>
        </p:xfrm>
        <a:graphic>
          <a:graphicData uri="http://schemas.openxmlformats.org/drawingml/2006/table">
            <a:tbl>
              <a:tblPr/>
              <a:tblGrid>
                <a:gridCol w="4206240"/>
                <a:gridCol w="3474720"/>
                <a:gridCol w="349300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Thing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Learn it here?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Create 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VPC, subnet, IGW, security group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Yes — full picture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Lecture 4, default VPC, one micro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NAT Gateway, load balancer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Yes — what and why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Never in this course (billed)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VPN, Direct Connect, Transit Gateway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Name only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A URL is a journey</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If you can name the step that failed, you can debug.</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Four steps, always in this order</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Path</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051560"/>
          <a:ext cx="11173968" cy="914400"/>
        </p:xfrm>
        <a:graphic>
          <a:graphicData uri="http://schemas.openxmlformats.org/drawingml/2006/table">
            <a:tbl>
              <a:tblPr/>
              <a:tblGrid>
                <a:gridCol w="2011680"/>
                <a:gridCol w="4023360"/>
                <a:gridCol w="513892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Step</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1. DNS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What number is this name?</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example.com → 93.184.216.34</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2. IP</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Which computer?</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127.0.0.1 is this laptop</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3. Port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Which door on that computer?</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443 for HTTPS, 8080 for notes-api</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4. HTTP</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Method, path, status?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GET /health → 200  (lecture 2)</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5" name="Text 2"/>
          <p:cNvSpPr txBox="1"/>
          <p:nvPr/>
        </p:nvSpPr>
        <p:spPr>
          <a:xfrm>
            <a:off x="502920" y="5623560"/>
            <a:ext cx="11155680" cy="685800"/>
          </a:xfrm>
          <a:prstGeom prst="rect">
            <a:avLst/>
          </a:prstGeom>
          <a:noFill/>
          <a:ln/>
        </p:spPr>
        <p:txBody>
          <a:bodyPr wrap="square" lIns="0" tIns="0" rIns="0" bIns="0" rtlCol="0" anchor="t"/>
          <a:lstStyle/>
          <a:p>
            <a:pPr indent="0" marL="0">
              <a:buNone/>
            </a:pPr>
            <a:r>
              <a:rPr lang="en-US" sz="1600" dirty="0">
                <a:solidFill>
                  <a:srgbClr val="334155"/>
                </a:solidFill>
              </a:rPr>
              <a:t>If the URL is https://, the path is encrypted. Same HTTP as lecture 2, safer pipe. 404 means step 4 worked. “Could not resolve host” means step 1 failed.</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DNS turns a name into an IP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DNS</a:t>
            </a:r>
            <a:endParaRPr lang="en-US" sz="1100" dirty="0"/>
          </a:p>
        </p:txBody>
      </p:sp>
      <p:sp>
        <p:nvSpPr>
          <p:cNvPr id="4" name="Text 2"/>
          <p:cNvSpPr txBox="1"/>
          <p:nvPr/>
        </p:nvSpPr>
        <p:spPr>
          <a:xfrm>
            <a:off x="502920" y="1024128"/>
            <a:ext cx="11155680" cy="960120"/>
          </a:xfrm>
          <a:prstGeom prst="rect">
            <a:avLst/>
          </a:prstGeom>
          <a:noFill/>
          <a:ln/>
        </p:spPr>
        <p:txBody>
          <a:bodyPr wrap="square" lIns="0" tIns="0" rIns="0" bIns="0" rtlCol="0" anchor="t"/>
          <a:lstStyle/>
          <a:p>
            <a:pPr indent="0" marL="0">
              <a:buNone/>
            </a:pPr>
            <a:r>
              <a:rPr lang="en-US" sz="1600" dirty="0">
                <a:solidFill>
                  <a:srgbClr val="334155"/>
                </a:solidFill>
              </a:rPr>
              <a:t>Humans type names. Computers connect to numbers. DNS is the phone book. If DNS fails, nothing else runs.</a:t>
            </a:r>
            <a:endParaRPr lang="en-US" sz="1600" dirty="0"/>
          </a:p>
        </p:txBody>
      </p:sp>
      <p:sp>
        <p:nvSpPr>
          <p:cNvPr id="5" name="Shape 3"/>
          <p:cNvSpPr/>
          <p:nvPr/>
        </p:nvSpPr>
        <p:spPr>
          <a:xfrm>
            <a:off x="502920" y="2148840"/>
            <a:ext cx="5532120" cy="3886200"/>
          </a:xfrm>
          <a:prstGeom prst="roundRect">
            <a:avLst>
              <a:gd name="adj" fmla="val 1882"/>
            </a:avLst>
          </a:prstGeom>
          <a:solidFill>
            <a:srgbClr val="0F172A"/>
          </a:solidFill>
          <a:ln/>
        </p:spPr>
      </p:sp>
      <p:sp>
        <p:nvSpPr>
          <p:cNvPr id="6" name="Text 4"/>
          <p:cNvSpPr txBox="1"/>
          <p:nvPr/>
        </p:nvSpPr>
        <p:spPr>
          <a:xfrm>
            <a:off x="685800" y="2258568"/>
            <a:ext cx="5166360" cy="292608"/>
          </a:xfrm>
          <a:prstGeom prst="rect">
            <a:avLst/>
          </a:prstGeom>
          <a:noFill/>
          <a:ln/>
        </p:spPr>
        <p:txBody>
          <a:bodyPr wrap="square" lIns="0" tIns="0" rIns="0" bIns="0" rtlCol="0" anchor="ctr"/>
          <a:lstStyle/>
          <a:p>
            <a:pPr indent="0" marL="0">
              <a:buNone/>
            </a:pPr>
            <a:r>
              <a:rPr lang="en-US" sz="1300" b="1" dirty="0">
                <a:solidFill>
                  <a:srgbClr val="5EEAD4"/>
                </a:solidFill>
              </a:rPr>
              <a:t>Name</a:t>
            </a:r>
            <a:endParaRPr lang="en-US" sz="1300" dirty="0"/>
          </a:p>
        </p:txBody>
      </p:sp>
      <p:sp>
        <p:nvSpPr>
          <p:cNvPr id="7" name="Text 5"/>
          <p:cNvSpPr txBox="1"/>
          <p:nvPr/>
        </p:nvSpPr>
        <p:spPr>
          <a:xfrm>
            <a:off x="685800" y="2569464"/>
            <a:ext cx="5166360" cy="3337560"/>
          </a:xfrm>
          <a:prstGeom prst="rect">
            <a:avLst/>
          </a:prstGeom>
          <a:noFill/>
          <a:ln/>
        </p:spPr>
        <p:txBody>
          <a:bodyPr wrap="square" lIns="0" tIns="0" rIns="0" bIns="0" rtlCol="0" anchor="t"/>
          <a:lstStyle/>
          <a:p>
            <a:pPr indent="0" marL="0">
              <a:buNone/>
            </a:pPr>
            <a:r>
              <a:rPr lang="en-US" sz="1500" dirty="0">
                <a:solidFill>
                  <a:srgbClr val="E2E8F0"/>
                </a:solidFill>
              </a:rPr>
              <a:t>example.com</a:t>
            </a:r>
            <a:endParaRPr lang="en-US" sz="1500" dirty="0"/>
          </a:p>
          <a:p>
            <a:pPr indent="0" marL="0">
              <a:buNone/>
            </a:pPr>
            <a:endParaRPr lang="en-US" sz="1500" dirty="0"/>
          </a:p>
          <a:p>
            <a:pPr indent="0" marL="0">
              <a:buNone/>
            </a:pPr>
            <a:r>
              <a:rPr lang="en-US" sz="1500" dirty="0">
                <a:solidFill>
                  <a:srgbClr val="E2E8F0"/>
                </a:solidFill>
              </a:rPr>
              <a:t>The browser looks this up first.</a:t>
            </a:r>
            <a:endParaRPr lang="en-US" sz="1500" dirty="0"/>
          </a:p>
          <a:p>
            <a:pPr indent="0" marL="0">
              <a:buNone/>
            </a:pPr>
            <a:r>
              <a:rPr lang="en-US" sz="1500" dirty="0">
                <a:solidFill>
                  <a:srgbClr val="E2E8F0"/>
                </a:solidFill>
              </a:rPr>
              <a:t>127.0.0.1 skips DNS: it already is an IP.</a:t>
            </a:r>
            <a:endParaRPr lang="en-US" sz="1500" dirty="0"/>
          </a:p>
        </p:txBody>
      </p:sp>
      <p:sp>
        <p:nvSpPr>
          <p:cNvPr id="8" name="Shape 6"/>
          <p:cNvSpPr/>
          <p:nvPr/>
        </p:nvSpPr>
        <p:spPr>
          <a:xfrm>
            <a:off x="6217920" y="2148840"/>
            <a:ext cx="5440680" cy="3886200"/>
          </a:xfrm>
          <a:prstGeom prst="roundRect">
            <a:avLst>
              <a:gd name="adj" fmla="val 1882"/>
            </a:avLst>
          </a:prstGeom>
          <a:solidFill>
            <a:srgbClr val="ECFDF5"/>
          </a:solidFill>
          <a:ln/>
        </p:spPr>
      </p:sp>
      <p:sp>
        <p:nvSpPr>
          <p:cNvPr id="9" name="Text 7"/>
          <p:cNvSpPr txBox="1"/>
          <p:nvPr/>
        </p:nvSpPr>
        <p:spPr>
          <a:xfrm>
            <a:off x="6400800" y="2258568"/>
            <a:ext cx="5074920" cy="292608"/>
          </a:xfrm>
          <a:prstGeom prst="rect">
            <a:avLst/>
          </a:prstGeom>
          <a:noFill/>
          <a:ln/>
        </p:spPr>
        <p:txBody>
          <a:bodyPr wrap="square" lIns="0" tIns="0" rIns="0" bIns="0" rtlCol="0" anchor="ctr"/>
          <a:lstStyle/>
          <a:p>
            <a:pPr indent="0" marL="0">
              <a:buNone/>
            </a:pPr>
            <a:r>
              <a:rPr lang="en-US" sz="1300" b="1" dirty="0">
                <a:solidFill>
                  <a:srgbClr val="0F766E"/>
                </a:solidFill>
              </a:rPr>
              <a:t>Number</a:t>
            </a:r>
            <a:endParaRPr lang="en-US" sz="1300" dirty="0"/>
          </a:p>
        </p:txBody>
      </p:sp>
      <p:sp>
        <p:nvSpPr>
          <p:cNvPr id="10" name="Text 8"/>
          <p:cNvSpPr txBox="1"/>
          <p:nvPr/>
        </p:nvSpPr>
        <p:spPr>
          <a:xfrm>
            <a:off x="6400800" y="2569464"/>
            <a:ext cx="5074920" cy="3337560"/>
          </a:xfrm>
          <a:prstGeom prst="rect">
            <a:avLst/>
          </a:prstGeom>
          <a:noFill/>
          <a:ln/>
        </p:spPr>
        <p:txBody>
          <a:bodyPr wrap="square" lIns="0" tIns="0" rIns="0" bIns="0" rtlCol="0" anchor="t"/>
          <a:lstStyle/>
          <a:p>
            <a:pPr indent="0" marL="0">
              <a:buNone/>
            </a:pPr>
            <a:r>
              <a:rPr lang="en-US" sz="1500" dirty="0">
                <a:solidFill>
                  <a:srgbClr val="334155"/>
                </a:solidFill>
              </a:rPr>
              <a:t>An IPv4 address looks like 192.0.2.1</a:t>
            </a:r>
            <a:endParaRPr lang="en-US" sz="1500" dirty="0"/>
          </a:p>
          <a:p>
            <a:pPr indent="0" marL="0">
              <a:buNone/>
            </a:pPr>
            <a:endParaRPr lang="en-US" sz="1500" dirty="0"/>
          </a:p>
          <a:p>
            <a:pPr indent="0" marL="0">
              <a:buNone/>
            </a:pPr>
            <a:r>
              <a:rPr lang="en-US" sz="1500" dirty="0">
                <a:solidFill>
                  <a:srgbClr val="334155"/>
                </a:solidFill>
              </a:rPr>
              <a:t>One machine can have more than one IP.</a:t>
            </a:r>
            <a:endParaRPr lang="en-US" sz="1500" dirty="0"/>
          </a:p>
          <a:p>
            <a:pPr indent="0" marL="0">
              <a:buNone/>
            </a:pPr>
            <a:r>
              <a:rPr lang="en-US" sz="1500" dirty="0">
                <a:solidFill>
                  <a:srgbClr val="334155"/>
                </a:solidFill>
              </a:rPr>
              <a:t>Later in the cloud: a VM has a private IP inside the VPC, and maybe a public IP on the internet.</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Example: opening a website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DNS example</a:t>
            </a:r>
            <a:endParaRPr lang="en-US" sz="1100" dirty="0"/>
          </a:p>
        </p:txBody>
      </p:sp>
      <p:sp>
        <p:nvSpPr>
          <p:cNvPr id="4" name="Shape 2"/>
          <p:cNvSpPr/>
          <p:nvPr/>
        </p:nvSpPr>
        <p:spPr>
          <a:xfrm>
            <a:off x="502920" y="1097280"/>
            <a:ext cx="11155680" cy="4937760"/>
          </a:xfrm>
          <a:prstGeom prst="roundRect">
            <a:avLst>
              <a:gd name="adj" fmla="val 1481"/>
            </a:avLst>
          </a:prstGeom>
          <a:solidFill>
            <a:srgbClr val="FEF3C7"/>
          </a:solidFill>
          <a:ln/>
        </p:spPr>
      </p:sp>
      <p:sp>
        <p:nvSpPr>
          <p:cNvPr id="5" name="Text 3"/>
          <p:cNvSpPr txBox="1"/>
          <p:nvPr/>
        </p:nvSpPr>
        <p:spPr>
          <a:xfrm>
            <a:off x="685800" y="1207008"/>
            <a:ext cx="10789920" cy="292608"/>
          </a:xfrm>
          <a:prstGeom prst="rect">
            <a:avLst/>
          </a:prstGeom>
          <a:noFill/>
          <a:ln/>
        </p:spPr>
        <p:txBody>
          <a:bodyPr wrap="square" lIns="0" tIns="0" rIns="0" bIns="0" rtlCol="0" anchor="ctr"/>
          <a:lstStyle/>
          <a:p>
            <a:pPr indent="0" marL="0">
              <a:buNone/>
            </a:pPr>
            <a:r>
              <a:rPr lang="en-US" sz="1300" b="1" dirty="0">
                <a:solidFill>
                  <a:srgbClr val="B45309"/>
                </a:solidFill>
              </a:rPr>
              <a:t>Example</a:t>
            </a:r>
            <a:endParaRPr lang="en-US" sz="1300" dirty="0"/>
          </a:p>
        </p:txBody>
      </p:sp>
      <p:sp>
        <p:nvSpPr>
          <p:cNvPr id="6" name="Text 4"/>
          <p:cNvSpPr txBox="1"/>
          <p:nvPr/>
        </p:nvSpPr>
        <p:spPr>
          <a:xfrm>
            <a:off x="685800" y="1517904"/>
            <a:ext cx="10789920" cy="4389120"/>
          </a:xfrm>
          <a:prstGeom prst="rect">
            <a:avLst/>
          </a:prstGeom>
          <a:noFill/>
          <a:ln/>
        </p:spPr>
        <p:txBody>
          <a:bodyPr wrap="square" lIns="0" tIns="0" rIns="0" bIns="0" rtlCol="0" anchor="t"/>
          <a:lstStyle/>
          <a:p>
            <a:pPr indent="0" marL="0">
              <a:buNone/>
            </a:pPr>
            <a:r>
              <a:rPr lang="en-US" sz="1500" dirty="0">
                <a:solidFill>
                  <a:srgbClr val="334155"/>
                </a:solidFill>
              </a:rPr>
              <a:t>You type https://example.com in the browser.</a:t>
            </a:r>
            <a:endParaRPr lang="en-US" sz="1500" dirty="0"/>
          </a:p>
          <a:p>
            <a:pPr indent="0" marL="0">
              <a:buNone/>
            </a:pPr>
            <a:endParaRPr lang="en-US" sz="1500" dirty="0"/>
          </a:p>
          <a:p>
            <a:pPr indent="0" marL="0">
              <a:buNone/>
            </a:pPr>
            <a:r>
              <a:rPr lang="en-US" sz="1500" dirty="0">
                <a:solidFill>
                  <a:srgbClr val="334155"/>
                </a:solidFill>
              </a:rPr>
              <a:t>1. Browser asks: what IP is example.com?</a:t>
            </a:r>
            <a:endParaRPr lang="en-US" sz="1500" dirty="0"/>
          </a:p>
          <a:p>
            <a:pPr indent="0" marL="0">
              <a:buNone/>
            </a:pPr>
            <a:r>
              <a:rPr lang="en-US" sz="1500" dirty="0">
                <a:solidFill>
                  <a:srgbClr val="334155"/>
                </a:solidFill>
              </a:rPr>
              <a:t>2. DNS answers with a number, for example 93.184.216.34.</a:t>
            </a:r>
            <a:endParaRPr lang="en-US" sz="1500" dirty="0"/>
          </a:p>
          <a:p>
            <a:pPr indent="0" marL="0">
              <a:buNone/>
            </a:pPr>
            <a:r>
              <a:rPr lang="en-US" sz="1500" dirty="0">
                <a:solidFill>
                  <a:srgbClr val="334155"/>
                </a:solidFill>
              </a:rPr>
              <a:t>3. Only then does the laptop try that computer, on port 443.</a:t>
            </a:r>
            <a:endParaRPr lang="en-US" sz="1500" dirty="0"/>
          </a:p>
          <a:p>
            <a:pPr indent="0" marL="0">
              <a:buNone/>
            </a:pPr>
            <a:r>
              <a:rPr lang="en-US" sz="1500" dirty="0">
                <a:solidFill>
                  <a:srgbClr val="334155"/>
                </a:solidFill>
              </a:rPr>
              <a:t>4. Then HTTP: GET /</a:t>
            </a:r>
            <a:endParaRPr lang="en-US" sz="1500" dirty="0"/>
          </a:p>
          <a:p>
            <a:pPr indent="0" marL="0">
              <a:buNone/>
            </a:pPr>
            <a:endParaRPr lang="en-US" sz="1500" dirty="0"/>
          </a:p>
          <a:p>
            <a:pPr indent="0" marL="0">
              <a:buNone/>
            </a:pPr>
            <a:r>
              <a:rPr lang="en-US" sz="1500" dirty="0">
                <a:solidFill>
                  <a:srgbClr val="334155"/>
                </a:solidFill>
              </a:rPr>
              <a:t>If this first step fails you see “Could not resolve host” or “DNS_PROBE_FINISHED_NXDOMAIN.”</a:t>
            </a:r>
            <a:endParaRPr lang="en-US" sz="1500" dirty="0"/>
          </a:p>
          <a:p>
            <a:pPr indent="0" marL="0">
              <a:buNone/>
            </a:pPr>
            <a:r>
              <a:rPr lang="en-US" sz="1500" dirty="0">
                <a:solidFill>
                  <a:srgbClr val="334155"/>
                </a:solidFill>
              </a:rPr>
              <a:t>That is not HTTP 404. 404 means the name already worked.</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An IP is the address of a computer</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IP</a:t>
            </a:r>
            <a:endParaRPr lang="en-US" sz="1100" dirty="0"/>
          </a:p>
        </p:txBody>
      </p:sp>
      <p:sp>
        <p:nvSpPr>
          <p:cNvPr id="4" name="Text 2"/>
          <p:cNvSpPr txBox="1"/>
          <p:nvPr/>
        </p:nvSpPr>
        <p:spPr>
          <a:xfrm>
            <a:off x="502920" y="1024128"/>
            <a:ext cx="11155680" cy="1005840"/>
          </a:xfrm>
          <a:prstGeom prst="rect">
            <a:avLst/>
          </a:prstGeom>
          <a:noFill/>
          <a:ln/>
        </p:spPr>
        <p:txBody>
          <a:bodyPr wrap="square" lIns="0" tIns="0" rIns="0" bIns="0" rtlCol="0" anchor="t"/>
          <a:lstStyle/>
          <a:p>
            <a:pPr indent="0" marL="0">
              <a:buNone/>
            </a:pPr>
            <a:r>
              <a:rPr lang="en-US" sz="1600" dirty="0">
                <a:solidFill>
                  <a:srgbClr val="334155"/>
                </a:solidFill>
              </a:rPr>
              <a:t>Think of a house number. Every computer on a network has an IP so others can find it. IPv4 looks like four numbers: 192.168.1.10</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194560"/>
          <a:ext cx="11173968" cy="914400"/>
        </p:xfrm>
        <a:graphic>
          <a:graphicData uri="http://schemas.openxmlformats.org/drawingml/2006/table">
            <a:tbl>
              <a:tblPr/>
              <a:tblGrid>
                <a:gridCol w="2926080"/>
                <a:gridCol w="824788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Address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Meaning</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127.0.0.1</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This laptop. notes-api in lecture 2 used this. No internet involved.</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192.168.1.10</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A typical private address at home. The internet cannot reach it directly.</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10.0.1.25</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A typical private address inside a cloud VPC.</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8.8.8.8</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A public address. Reachable from the internet (Google DNS).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Public IP vs private IP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Public vs private</a:t>
            </a:r>
            <a:endParaRPr lang="en-US" sz="1100" dirty="0"/>
          </a:p>
        </p:txBody>
      </p:sp>
      <p:sp>
        <p:nvSpPr>
          <p:cNvPr id="4" name="Text 2"/>
          <p:cNvSpPr txBox="1"/>
          <p:nvPr/>
        </p:nvSpPr>
        <p:spPr>
          <a:xfrm>
            <a:off x="502920" y="1024128"/>
            <a:ext cx="11155680" cy="1051560"/>
          </a:xfrm>
          <a:prstGeom prst="rect">
            <a:avLst/>
          </a:prstGeom>
          <a:noFill/>
          <a:ln/>
        </p:spPr>
        <p:txBody>
          <a:bodyPr wrap="square" lIns="0" tIns="0" rIns="0" bIns="0" rtlCol="0" anchor="t"/>
          <a:lstStyle/>
          <a:p>
            <a:pPr indent="0" marL="0">
              <a:buNone/>
            </a:pPr>
            <a:r>
              <a:rPr lang="en-US" sz="1600" dirty="0">
                <a:solidFill>
                  <a:srgbClr val="334155"/>
                </a:solidFill>
              </a:rPr>
              <a:t>This pair matters in the cloud. A public IP can be reached from the internet. A private IP stays inside your network (home Wi-Fi or a VPC).</a:t>
            </a:r>
            <a:endParaRPr lang="en-US" sz="1600" dirty="0"/>
          </a:p>
        </p:txBody>
      </p:sp>
      <p:sp>
        <p:nvSpPr>
          <p:cNvPr id="5" name="Shape 3"/>
          <p:cNvSpPr/>
          <p:nvPr/>
        </p:nvSpPr>
        <p:spPr>
          <a:xfrm>
            <a:off x="502920" y="2240280"/>
            <a:ext cx="5532120" cy="3794760"/>
          </a:xfrm>
          <a:prstGeom prst="roundRect">
            <a:avLst>
              <a:gd name="adj" fmla="val 1928"/>
            </a:avLst>
          </a:prstGeom>
          <a:solidFill>
            <a:srgbClr val="ECFDF5"/>
          </a:solidFill>
          <a:ln/>
        </p:spPr>
      </p:sp>
      <p:sp>
        <p:nvSpPr>
          <p:cNvPr id="6" name="Text 4"/>
          <p:cNvSpPr txBox="1"/>
          <p:nvPr/>
        </p:nvSpPr>
        <p:spPr>
          <a:xfrm>
            <a:off x="685800" y="2350008"/>
            <a:ext cx="5166360" cy="292608"/>
          </a:xfrm>
          <a:prstGeom prst="rect">
            <a:avLst/>
          </a:prstGeom>
          <a:noFill/>
          <a:ln/>
        </p:spPr>
        <p:txBody>
          <a:bodyPr wrap="square" lIns="0" tIns="0" rIns="0" bIns="0" rtlCol="0" anchor="ctr"/>
          <a:lstStyle/>
          <a:p>
            <a:pPr indent="0" marL="0">
              <a:buNone/>
            </a:pPr>
            <a:r>
              <a:rPr lang="en-US" sz="1300" b="1" dirty="0">
                <a:solidFill>
                  <a:srgbClr val="0F766E"/>
                </a:solidFill>
              </a:rPr>
              <a:t>Private</a:t>
            </a:r>
            <a:endParaRPr lang="en-US" sz="1300" dirty="0"/>
          </a:p>
        </p:txBody>
      </p:sp>
      <p:sp>
        <p:nvSpPr>
          <p:cNvPr id="7" name="Text 5"/>
          <p:cNvSpPr txBox="1"/>
          <p:nvPr/>
        </p:nvSpPr>
        <p:spPr>
          <a:xfrm>
            <a:off x="685800" y="2660904"/>
            <a:ext cx="5166360" cy="3246120"/>
          </a:xfrm>
          <a:prstGeom prst="rect">
            <a:avLst/>
          </a:prstGeom>
          <a:noFill/>
          <a:ln/>
        </p:spPr>
        <p:txBody>
          <a:bodyPr wrap="square" lIns="0" tIns="0" rIns="0" bIns="0" rtlCol="0" anchor="t"/>
          <a:lstStyle/>
          <a:p>
            <a:pPr indent="0" marL="0">
              <a:buNone/>
            </a:pPr>
            <a:r>
              <a:rPr lang="en-US" sz="1500" dirty="0">
                <a:solidFill>
                  <a:srgbClr val="334155"/>
                </a:solidFill>
              </a:rPr>
              <a:t>Only computers on the same network can use it.</a:t>
            </a:r>
            <a:endParaRPr lang="en-US" sz="1500" dirty="0"/>
          </a:p>
          <a:p>
            <a:pPr indent="0" marL="0">
              <a:buNone/>
            </a:pPr>
            <a:endParaRPr lang="en-US" sz="1500" dirty="0"/>
          </a:p>
          <a:p>
            <a:pPr indent="0" marL="0">
              <a:buNone/>
            </a:pPr>
            <a:r>
              <a:rPr lang="en-US" sz="1500" dirty="0">
                <a:solidFill>
                  <a:srgbClr val="334155"/>
                </a:solidFill>
              </a:rPr>
              <a:t>Common ranges: 10.x.x.x and 192.168.x.x</a:t>
            </a:r>
            <a:endParaRPr lang="en-US" sz="1500" dirty="0"/>
          </a:p>
          <a:p>
            <a:pPr indent="0" marL="0">
              <a:buNone/>
            </a:pPr>
            <a:endParaRPr lang="en-US" sz="1500" dirty="0"/>
          </a:p>
          <a:p>
            <a:pPr indent="0" marL="0">
              <a:buNone/>
            </a:pPr>
            <a:r>
              <a:rPr lang="en-US" sz="1500" dirty="0">
                <a:solidFill>
                  <a:srgbClr val="334155"/>
                </a:solidFill>
              </a:rPr>
              <a:t>Your laptop at home is private. A cloud VM always has a private IP inside the VPC.</a:t>
            </a:r>
            <a:endParaRPr lang="en-US" sz="1500" dirty="0"/>
          </a:p>
        </p:txBody>
      </p:sp>
      <p:sp>
        <p:nvSpPr>
          <p:cNvPr id="8" name="Shape 6"/>
          <p:cNvSpPr/>
          <p:nvPr/>
        </p:nvSpPr>
        <p:spPr>
          <a:xfrm>
            <a:off x="6217920" y="2240280"/>
            <a:ext cx="5440680" cy="3794760"/>
          </a:xfrm>
          <a:prstGeom prst="roundRect">
            <a:avLst>
              <a:gd name="adj" fmla="val 1928"/>
            </a:avLst>
          </a:prstGeom>
          <a:solidFill>
            <a:srgbClr val="FEF3C7"/>
          </a:solidFill>
          <a:ln/>
        </p:spPr>
      </p:sp>
      <p:sp>
        <p:nvSpPr>
          <p:cNvPr id="9" name="Text 7"/>
          <p:cNvSpPr txBox="1"/>
          <p:nvPr/>
        </p:nvSpPr>
        <p:spPr>
          <a:xfrm>
            <a:off x="6400800" y="2350008"/>
            <a:ext cx="5074920" cy="292608"/>
          </a:xfrm>
          <a:prstGeom prst="rect">
            <a:avLst/>
          </a:prstGeom>
          <a:noFill/>
          <a:ln/>
        </p:spPr>
        <p:txBody>
          <a:bodyPr wrap="square" lIns="0" tIns="0" rIns="0" bIns="0" rtlCol="0" anchor="ctr"/>
          <a:lstStyle/>
          <a:p>
            <a:pPr indent="0" marL="0">
              <a:buNone/>
            </a:pPr>
            <a:r>
              <a:rPr lang="en-US" sz="1300" b="1" dirty="0">
                <a:solidFill>
                  <a:srgbClr val="B45309"/>
                </a:solidFill>
              </a:rPr>
              <a:t>Public</a:t>
            </a:r>
            <a:endParaRPr lang="en-US" sz="1300" dirty="0"/>
          </a:p>
        </p:txBody>
      </p:sp>
      <p:sp>
        <p:nvSpPr>
          <p:cNvPr id="10" name="Text 8"/>
          <p:cNvSpPr txBox="1"/>
          <p:nvPr/>
        </p:nvSpPr>
        <p:spPr>
          <a:xfrm>
            <a:off x="6400800" y="2660904"/>
            <a:ext cx="5074920" cy="3246120"/>
          </a:xfrm>
          <a:prstGeom prst="rect">
            <a:avLst/>
          </a:prstGeom>
          <a:noFill/>
          <a:ln/>
        </p:spPr>
        <p:txBody>
          <a:bodyPr wrap="square" lIns="0" tIns="0" rIns="0" bIns="0" rtlCol="0" anchor="t"/>
          <a:lstStyle/>
          <a:p>
            <a:pPr indent="0" marL="0">
              <a:buNone/>
            </a:pPr>
            <a:r>
              <a:rPr lang="en-US" sz="1500" dirty="0">
                <a:solidFill>
                  <a:srgbClr val="334155"/>
                </a:solidFill>
              </a:rPr>
              <a:t>The internet can route to it.</a:t>
            </a:r>
            <a:endParaRPr lang="en-US" sz="1500" dirty="0"/>
          </a:p>
          <a:p>
            <a:pPr indent="0" marL="0">
              <a:buNone/>
            </a:pPr>
            <a:endParaRPr lang="en-US" sz="1500" dirty="0"/>
          </a:p>
          <a:p>
            <a:pPr indent="0" marL="0">
              <a:buNone/>
            </a:pPr>
            <a:r>
              <a:rPr lang="en-US" sz="1500" dirty="0">
                <a:solidFill>
                  <a:srgbClr val="334155"/>
                </a:solidFill>
              </a:rPr>
              <a:t>Lecture 4: one small VM gets a public IP so you can log in from your laptop.</a:t>
            </a:r>
            <a:endParaRPr lang="en-US" sz="1500" dirty="0"/>
          </a:p>
          <a:p>
            <a:pPr indent="0" marL="0">
              <a:buNone/>
            </a:pPr>
            <a:endParaRPr lang="en-US" sz="1500" dirty="0"/>
          </a:p>
          <a:p>
            <a:pPr indent="0" marL="0">
              <a:buNone/>
            </a:pPr>
            <a:r>
              <a:rPr lang="en-US" sz="1500" dirty="0">
                <a:solidFill>
                  <a:srgbClr val="334155"/>
                </a:solidFill>
              </a:rPr>
              <a:t>0.0.0.0/0 means “the whole internet.” Never open SSH to it.</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A port is a door on that IP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Ports</a:t>
            </a:r>
            <a:endParaRPr lang="en-US" sz="1100" dirty="0"/>
          </a:p>
        </p:txBody>
      </p:sp>
      <p:sp>
        <p:nvSpPr>
          <p:cNvPr id="4" name="Text 2"/>
          <p:cNvSpPr txBox="1"/>
          <p:nvPr/>
        </p:nvSpPr>
        <p:spPr>
          <a:xfrm>
            <a:off x="502920" y="1024128"/>
            <a:ext cx="11155680" cy="960120"/>
          </a:xfrm>
          <a:prstGeom prst="rect">
            <a:avLst/>
          </a:prstGeom>
          <a:noFill/>
          <a:ln/>
        </p:spPr>
        <p:txBody>
          <a:bodyPr wrap="square" lIns="0" tIns="0" rIns="0" bIns="0" rtlCol="0" anchor="t"/>
          <a:lstStyle/>
          <a:p>
            <a:pPr indent="0" marL="0">
              <a:buNone/>
            </a:pPr>
            <a:r>
              <a:rPr lang="en-US" sz="1600" dirty="0">
                <a:solidFill>
                  <a:srgbClr val="334155"/>
                </a:solidFill>
              </a:rPr>
              <a:t>One computer, one IP, many doors. The port says which program should get the message. Two programs cannot both own the same port.</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11173968" cy="914400"/>
        </p:xfrm>
        <a:graphic>
          <a:graphicData uri="http://schemas.openxmlformats.org/drawingml/2006/table">
            <a:tbl>
              <a:tblPr/>
              <a:tblGrid>
                <a:gridCol w="1828800"/>
                <a:gridCol w="4846320"/>
                <a:gridCol w="449884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Port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Usual job</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We use it?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22</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SSH — log into a Linux computer</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Lecture 4, locked to your IP only</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HTTP (not encrypted)</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Rare now; often sends you to 443</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443</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HTTPS (encrypted HTTP)</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Websites on the internet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8080</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Our class notes-api</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Laptop in lecture 2</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669280"/>
            <a:ext cx="11155680" cy="640080"/>
          </a:xfrm>
          <a:prstGeom prst="rect">
            <a:avLst/>
          </a:prstGeom>
          <a:noFill/>
          <a:ln/>
        </p:spPr>
        <p:txBody>
          <a:bodyPr wrap="square" lIns="0" tIns="0" rIns="0" bIns="0" rtlCol="0" anchor="t"/>
          <a:lstStyle/>
          <a:p>
            <a:pPr indent="0" marL="0">
              <a:buNone/>
            </a:pPr>
            <a:r>
              <a:rPr lang="en-US" sz="1600" dirty="0">
                <a:solidFill>
                  <a:srgbClr val="334155"/>
                </a:solidFill>
              </a:rPr>
              <a:t>In the cloud, a security group is a list of which doors are allowed. Closed door → timeout or “connection refused,” not HTTP 404.</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http vs https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HTTPS</a:t>
            </a:r>
            <a:endParaRPr lang="en-US" sz="1100" dirty="0"/>
          </a:p>
        </p:txBody>
      </p:sp>
      <p:sp>
        <p:nvSpPr>
          <p:cNvPr id="4" name="Shape 2"/>
          <p:cNvSpPr/>
          <p:nvPr/>
        </p:nvSpPr>
        <p:spPr>
          <a:xfrm>
            <a:off x="502920" y="1097280"/>
            <a:ext cx="5532120" cy="4937760"/>
          </a:xfrm>
          <a:prstGeom prst="roundRect">
            <a:avLst>
              <a:gd name="adj" fmla="val 1481"/>
            </a:avLst>
          </a:prstGeom>
          <a:solidFill>
            <a:srgbClr val="F1F5F9"/>
          </a:solidFill>
          <a:ln/>
        </p:spPr>
      </p:sp>
      <p:sp>
        <p:nvSpPr>
          <p:cNvPr id="5" name="Text 3"/>
          <p:cNvSpPr txBox="1"/>
          <p:nvPr/>
        </p:nvSpPr>
        <p:spPr>
          <a:xfrm>
            <a:off x="685800" y="1207008"/>
            <a:ext cx="5166360" cy="292608"/>
          </a:xfrm>
          <a:prstGeom prst="rect">
            <a:avLst/>
          </a:prstGeom>
          <a:noFill/>
          <a:ln/>
        </p:spPr>
        <p:txBody>
          <a:bodyPr wrap="square" lIns="0" tIns="0" rIns="0" bIns="0" rtlCol="0" anchor="ctr"/>
          <a:lstStyle/>
          <a:p>
            <a:pPr indent="0" marL="0">
              <a:buNone/>
            </a:pPr>
            <a:r>
              <a:rPr lang="en-US" sz="1300" b="1" dirty="0">
                <a:solidFill>
                  <a:srgbClr val="0F766E"/>
                </a:solidFill>
              </a:rPr>
              <a:t>http://</a:t>
            </a:r>
            <a:endParaRPr lang="en-US" sz="1300" dirty="0"/>
          </a:p>
        </p:txBody>
      </p:sp>
      <p:sp>
        <p:nvSpPr>
          <p:cNvPr id="6" name="Text 4"/>
          <p:cNvSpPr txBox="1"/>
          <p:nvPr/>
        </p:nvSpPr>
        <p:spPr>
          <a:xfrm>
            <a:off x="685800" y="1517904"/>
            <a:ext cx="5166360" cy="4389120"/>
          </a:xfrm>
          <a:prstGeom prst="rect">
            <a:avLst/>
          </a:prstGeom>
          <a:noFill/>
          <a:ln/>
        </p:spPr>
        <p:txBody>
          <a:bodyPr wrap="square" lIns="0" tIns="0" rIns="0" bIns="0" rtlCol="0" anchor="t"/>
          <a:lstStyle/>
          <a:p>
            <a:pPr indent="0" marL="0">
              <a:buNone/>
            </a:pPr>
            <a:r>
              <a:rPr lang="en-US" sz="1500" dirty="0">
                <a:solidFill>
                  <a:srgbClr val="334155"/>
                </a:solidFill>
              </a:rPr>
              <a:t>The same GET / POST as lecture 2.</a:t>
            </a:r>
            <a:endParaRPr lang="en-US" sz="1500" dirty="0"/>
          </a:p>
          <a:p>
            <a:pPr indent="0" marL="0">
              <a:buNone/>
            </a:pPr>
            <a:endParaRPr lang="en-US" sz="1500" dirty="0"/>
          </a:p>
          <a:p>
            <a:pPr indent="0" marL="0">
              <a:buNone/>
            </a:pPr>
            <a:r>
              <a:rPr lang="en-US" sz="1500" dirty="0">
                <a:solidFill>
                  <a:srgbClr val="334155"/>
                </a:solidFill>
              </a:rPr>
              <a:t>Anyone on the path can read the JSON and the API key.</a:t>
            </a:r>
            <a:endParaRPr lang="en-US" sz="1500" dirty="0"/>
          </a:p>
          <a:p>
            <a:pPr indent="0" marL="0">
              <a:buNone/>
            </a:pPr>
            <a:endParaRPr lang="en-US" sz="1500" dirty="0"/>
          </a:p>
          <a:p>
            <a:pPr indent="0" marL="0">
              <a:buNone/>
            </a:pPr>
            <a:r>
              <a:rPr lang="en-US" sz="1500" dirty="0">
                <a:solidFill>
                  <a:srgbClr val="334155"/>
                </a:solidFill>
              </a:rPr>
              <a:t>Usually port 80.</a:t>
            </a:r>
            <a:endParaRPr lang="en-US" sz="1500" dirty="0"/>
          </a:p>
        </p:txBody>
      </p:sp>
      <p:sp>
        <p:nvSpPr>
          <p:cNvPr id="7" name="Shape 5"/>
          <p:cNvSpPr/>
          <p:nvPr/>
        </p:nvSpPr>
        <p:spPr>
          <a:xfrm>
            <a:off x="6217920" y="1097280"/>
            <a:ext cx="5440680" cy="4937760"/>
          </a:xfrm>
          <a:prstGeom prst="roundRect">
            <a:avLst>
              <a:gd name="adj" fmla="val 1481"/>
            </a:avLst>
          </a:prstGeom>
          <a:solidFill>
            <a:srgbClr val="ECFDF5"/>
          </a:solidFill>
          <a:ln/>
        </p:spPr>
      </p:sp>
      <p:sp>
        <p:nvSpPr>
          <p:cNvPr id="8" name="Text 6"/>
          <p:cNvSpPr txBox="1"/>
          <p:nvPr/>
        </p:nvSpPr>
        <p:spPr>
          <a:xfrm>
            <a:off x="6400800" y="1207008"/>
            <a:ext cx="5074920" cy="292608"/>
          </a:xfrm>
          <a:prstGeom prst="rect">
            <a:avLst/>
          </a:prstGeom>
          <a:noFill/>
          <a:ln/>
        </p:spPr>
        <p:txBody>
          <a:bodyPr wrap="square" lIns="0" tIns="0" rIns="0" bIns="0" rtlCol="0" anchor="ctr"/>
          <a:lstStyle/>
          <a:p>
            <a:pPr indent="0" marL="0">
              <a:buNone/>
            </a:pPr>
            <a:r>
              <a:rPr lang="en-US" sz="1300" b="1" dirty="0">
                <a:solidFill>
                  <a:srgbClr val="0F766E"/>
                </a:solidFill>
              </a:rPr>
              <a:t>https://</a:t>
            </a:r>
            <a:endParaRPr lang="en-US" sz="1300" dirty="0"/>
          </a:p>
        </p:txBody>
      </p:sp>
      <p:sp>
        <p:nvSpPr>
          <p:cNvPr id="9" name="Text 7"/>
          <p:cNvSpPr txBox="1"/>
          <p:nvPr/>
        </p:nvSpPr>
        <p:spPr>
          <a:xfrm>
            <a:off x="6400800" y="1517904"/>
            <a:ext cx="5074920" cy="4389120"/>
          </a:xfrm>
          <a:prstGeom prst="rect">
            <a:avLst/>
          </a:prstGeom>
          <a:noFill/>
          <a:ln/>
        </p:spPr>
        <p:txBody>
          <a:bodyPr wrap="square" lIns="0" tIns="0" rIns="0" bIns="0" rtlCol="0" anchor="t"/>
          <a:lstStyle/>
          <a:p>
            <a:pPr indent="0" marL="0">
              <a:buNone/>
            </a:pPr>
            <a:r>
              <a:rPr lang="en-US" sz="1500" dirty="0">
                <a:solidFill>
                  <a:srgbClr val="334155"/>
                </a:solidFill>
              </a:rPr>
              <a:t>Same HTTP messages, encrypted on the way.</a:t>
            </a:r>
            <a:endParaRPr lang="en-US" sz="1500" dirty="0"/>
          </a:p>
          <a:p>
            <a:pPr indent="0" marL="0">
              <a:buNone/>
            </a:pPr>
            <a:endParaRPr lang="en-US" sz="1500" dirty="0"/>
          </a:p>
          <a:p>
            <a:pPr indent="0" marL="0">
              <a:buNone/>
            </a:pPr>
            <a:r>
              <a:rPr lang="en-US" sz="1500" dirty="0">
                <a:solidFill>
                  <a:srgbClr val="334155"/>
                </a:solidFill>
              </a:rPr>
              <a:t>Padlock in the browser means this worked.</a:t>
            </a:r>
            <a:endParaRPr lang="en-US" sz="1500" dirty="0"/>
          </a:p>
          <a:p>
            <a:pPr indent="0" marL="0">
              <a:buNone/>
            </a:pPr>
            <a:endParaRPr lang="en-US" sz="1500" dirty="0"/>
          </a:p>
          <a:p>
            <a:pPr indent="0" marL="0">
              <a:buNone/>
            </a:pPr>
            <a:r>
              <a:rPr lang="en-US" sz="1500" dirty="0">
                <a:solidFill>
                  <a:srgbClr val="334155"/>
                </a:solidFill>
              </a:rPr>
              <a:t>Usually port 443.</a:t>
            </a:r>
            <a:endParaRPr lang="en-US" sz="1500" dirty="0"/>
          </a:p>
          <a:p>
            <a:pPr indent="0" marL="0">
              <a:buNone/>
            </a:pPr>
            <a:endParaRPr lang="en-US" sz="1500" dirty="0"/>
          </a:p>
          <a:p>
            <a:pPr indent="0" marL="0">
              <a:buNone/>
            </a:pPr>
            <a:r>
              <a:rPr lang="en-US" sz="1500" dirty="0">
                <a:solidFill>
                  <a:srgbClr val="334155"/>
                </a:solidFill>
              </a:rPr>
              <a:t>Use this on the internet.</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Put it together</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One picture</a:t>
            </a:r>
            <a:endParaRPr lang="en-US" sz="1100" dirty="0"/>
          </a:p>
        </p:txBody>
      </p:sp>
      <p:sp>
        <p:nvSpPr>
          <p:cNvPr id="4" name="Shape 2"/>
          <p:cNvSpPr/>
          <p:nvPr/>
        </p:nvSpPr>
        <p:spPr>
          <a:xfrm>
            <a:off x="502920" y="1097280"/>
            <a:ext cx="11155680" cy="4937760"/>
          </a:xfrm>
          <a:prstGeom prst="roundRect">
            <a:avLst>
              <a:gd name="adj" fmla="val 1481"/>
            </a:avLst>
          </a:prstGeom>
          <a:solidFill>
            <a:srgbClr val="0F172A"/>
          </a:solidFill>
          <a:ln/>
        </p:spPr>
      </p:sp>
      <p:sp>
        <p:nvSpPr>
          <p:cNvPr id="5" name="Text 3"/>
          <p:cNvSpPr txBox="1"/>
          <p:nvPr/>
        </p:nvSpPr>
        <p:spPr>
          <a:xfrm>
            <a:off x="685800" y="1207008"/>
            <a:ext cx="10789920" cy="292608"/>
          </a:xfrm>
          <a:prstGeom prst="rect">
            <a:avLst/>
          </a:prstGeom>
          <a:noFill/>
          <a:ln/>
        </p:spPr>
        <p:txBody>
          <a:bodyPr wrap="square" lIns="0" tIns="0" rIns="0" bIns="0" rtlCol="0" anchor="ctr"/>
          <a:lstStyle/>
          <a:p>
            <a:pPr indent="0" marL="0">
              <a:buNone/>
            </a:pPr>
            <a:r>
              <a:rPr lang="en-US" sz="1300" b="1" dirty="0">
                <a:solidFill>
                  <a:srgbClr val="5EEAD4"/>
                </a:solidFill>
              </a:rPr>
              <a:t>https://example.com/health</a:t>
            </a:r>
            <a:endParaRPr lang="en-US" sz="1300" dirty="0"/>
          </a:p>
        </p:txBody>
      </p:sp>
      <p:sp>
        <p:nvSpPr>
          <p:cNvPr id="6" name="Text 4"/>
          <p:cNvSpPr txBox="1"/>
          <p:nvPr/>
        </p:nvSpPr>
        <p:spPr>
          <a:xfrm>
            <a:off x="685800" y="1517904"/>
            <a:ext cx="10789920" cy="4389120"/>
          </a:xfrm>
          <a:prstGeom prst="rect">
            <a:avLst/>
          </a:prstGeom>
          <a:noFill/>
          <a:ln/>
        </p:spPr>
        <p:txBody>
          <a:bodyPr wrap="square" lIns="0" tIns="0" rIns="0" bIns="0" rtlCol="0" anchor="t"/>
          <a:lstStyle/>
          <a:p>
            <a:pPr indent="0" marL="0">
              <a:buNone/>
            </a:pPr>
            <a:r>
              <a:rPr lang="en-US" sz="1500" dirty="0">
                <a:solidFill>
                  <a:srgbClr val="E2E8F0"/>
                </a:solidFill>
              </a:rPr>
              <a:t>DNS     example.com  →  93.184.216.34</a:t>
            </a:r>
            <a:endParaRPr lang="en-US" sz="1500" dirty="0"/>
          </a:p>
          <a:p>
            <a:pPr indent="0" marL="0">
              <a:buNone/>
            </a:pPr>
            <a:r>
              <a:rPr lang="en-US" sz="1500" dirty="0">
                <a:solidFill>
                  <a:srgbClr val="E2E8F0"/>
                </a:solidFill>
              </a:rPr>
              <a:t>IP      that computer</a:t>
            </a:r>
            <a:endParaRPr lang="en-US" sz="1500" dirty="0"/>
          </a:p>
          <a:p>
            <a:pPr indent="0" marL="0">
              <a:buNone/>
            </a:pPr>
            <a:r>
              <a:rPr lang="en-US" sz="1500" dirty="0">
                <a:solidFill>
                  <a:srgbClr val="E2E8F0"/>
                </a:solidFill>
              </a:rPr>
              <a:t>Port    door 443</a:t>
            </a:r>
            <a:endParaRPr lang="en-US" sz="1500" dirty="0"/>
          </a:p>
          <a:p>
            <a:pPr indent="0" marL="0">
              <a:buNone/>
            </a:pPr>
            <a:r>
              <a:rPr lang="en-US" sz="1500" dirty="0">
                <a:solidFill>
                  <a:srgbClr val="E2E8F0"/>
                </a:solidFill>
              </a:rPr>
              <a:t>HTTPS   the pipe is encrypted</a:t>
            </a:r>
            <a:endParaRPr lang="en-US" sz="1500" dirty="0"/>
          </a:p>
          <a:p>
            <a:pPr indent="0" marL="0">
              <a:buNone/>
            </a:pPr>
            <a:r>
              <a:rPr lang="en-US" sz="1500" dirty="0">
                <a:solidFill>
                  <a:srgbClr val="E2E8F0"/>
                </a:solidFill>
              </a:rPr>
              <a:t>HTTP    GET /health   →  status 200</a:t>
            </a:r>
            <a:endParaRPr lang="en-US" sz="1500" dirty="0"/>
          </a:p>
          <a:p>
            <a:pPr indent="0" marL="0">
              <a:buNone/>
            </a:pPr>
            <a:endParaRPr lang="en-US" sz="1500" dirty="0"/>
          </a:p>
          <a:p>
            <a:pPr indent="0" marL="0">
              <a:buNone/>
            </a:pPr>
            <a:r>
              <a:rPr lang="en-US" sz="1500" dirty="0">
                <a:solidFill>
                  <a:srgbClr val="E2E8F0"/>
                </a:solidFill>
              </a:rPr>
              <a:t>Lecture 2 started at HTTP. Today we look at DNS, IP, and port — because that is what a VPC, a public IP, and a security group are about.</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Name the failure</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Examples are on the slides. You do not have to run them in class.</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Refused vs timeout vs HTTP errors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Failures</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024128"/>
          <a:ext cx="11173968" cy="914400"/>
        </p:xfrm>
        <a:graphic>
          <a:graphicData uri="http://schemas.openxmlformats.org/drawingml/2006/table">
            <a:tbl>
              <a:tblPr/>
              <a:tblGrid>
                <a:gridCol w="3017520"/>
                <a:gridCol w="2286000"/>
                <a:gridCol w="587044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you see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Did HTTP start?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Typical cause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Could not resolve host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DNS has no answer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Connection refused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IP reached, nothing listening on that port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Timed out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Drop / filter / dead IP / no route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Certificate error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 HTTP yet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HTTPS check failed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401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Missing or wrong key (lecture 2)</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403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Authenticated or not, not allowed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Wrong path (lecture 2)</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500 / 502 / 503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App or proxy broke after HTTP started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ping — “is this IP reachable at all?”</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ping</a:t>
            </a:r>
            <a:endParaRPr lang="en-US" sz="1100" dirty="0"/>
          </a:p>
        </p:txBody>
      </p:sp>
      <p:sp>
        <p:nvSpPr>
          <p:cNvPr id="4" name="Text 2"/>
          <p:cNvSpPr txBox="1"/>
          <p:nvPr/>
        </p:nvSpPr>
        <p:spPr>
          <a:xfrm>
            <a:off x="502920" y="1024128"/>
            <a:ext cx="11155680" cy="1188720"/>
          </a:xfrm>
          <a:prstGeom prst="rect">
            <a:avLst/>
          </a:prstGeom>
          <a:noFill/>
          <a:ln/>
        </p:spPr>
        <p:txBody>
          <a:bodyPr wrap="square" lIns="0" tIns="0" rIns="0" bIns="0" rtlCol="0" anchor="t"/>
          <a:lstStyle/>
          <a:p>
            <a:pPr indent="0" marL="0">
              <a:buNone/>
            </a:pPr>
            <a:r>
              <a:rPr lang="en-US" sz="1600" dirty="0">
                <a:solidFill>
                  <a:srgbClr val="334155"/>
                </a:solidFill>
              </a:rPr>
              <a:t>ping asks: does this IP answer at all? It is not HTTP. Many clouds block ping, so a failed ping does not always mean the site is down. A successful ping means the IP was reachable.</a:t>
            </a:r>
            <a:endParaRPr lang="en-US" sz="1600" dirty="0"/>
          </a:p>
        </p:txBody>
      </p:sp>
      <p:sp>
        <p:nvSpPr>
          <p:cNvPr id="5" name="Shape 3"/>
          <p:cNvSpPr/>
          <p:nvPr/>
        </p:nvSpPr>
        <p:spPr>
          <a:xfrm>
            <a:off x="502920" y="2377440"/>
            <a:ext cx="11155680" cy="3657600"/>
          </a:xfrm>
          <a:prstGeom prst="roundRect">
            <a:avLst>
              <a:gd name="adj" fmla="val 2000"/>
            </a:avLst>
          </a:prstGeom>
          <a:solidFill>
            <a:srgbClr val="0F172A"/>
          </a:solidFill>
          <a:ln/>
        </p:spPr>
      </p:sp>
      <p:sp>
        <p:nvSpPr>
          <p:cNvPr id="6" name="Text 4"/>
          <p:cNvSpPr txBox="1"/>
          <p:nvPr/>
        </p:nvSpPr>
        <p:spPr>
          <a:xfrm>
            <a:off x="685800" y="2487168"/>
            <a:ext cx="10789920" cy="292608"/>
          </a:xfrm>
          <a:prstGeom prst="rect">
            <a:avLst/>
          </a:prstGeom>
          <a:noFill/>
          <a:ln/>
        </p:spPr>
        <p:txBody>
          <a:bodyPr wrap="square" lIns="0" tIns="0" rIns="0" bIns="0" rtlCol="0" anchor="ctr"/>
          <a:lstStyle/>
          <a:p>
            <a:pPr indent="0" marL="0">
              <a:buNone/>
            </a:pPr>
            <a:r>
              <a:rPr lang="en-US" sz="1300" b="1" dirty="0">
                <a:solidFill>
                  <a:srgbClr val="5EEAD4"/>
                </a:solidFill>
              </a:rPr>
              <a:t>What a success looks like</a:t>
            </a:r>
            <a:endParaRPr lang="en-US" sz="1300" dirty="0"/>
          </a:p>
        </p:txBody>
      </p:sp>
      <p:sp>
        <p:nvSpPr>
          <p:cNvPr id="7" name="Text 5"/>
          <p:cNvSpPr txBox="1"/>
          <p:nvPr/>
        </p:nvSpPr>
        <p:spPr>
          <a:xfrm>
            <a:off x="685800" y="2798064"/>
            <a:ext cx="10789920" cy="3108960"/>
          </a:xfrm>
          <a:prstGeom prst="rect">
            <a:avLst/>
          </a:prstGeom>
          <a:noFill/>
          <a:ln/>
        </p:spPr>
        <p:txBody>
          <a:bodyPr wrap="square" lIns="0" tIns="0" rIns="0" bIns="0" rtlCol="0" anchor="t"/>
          <a:lstStyle/>
          <a:p>
            <a:pPr indent="0" marL="0">
              <a:buNone/>
            </a:pPr>
            <a:r>
              <a:rPr lang="en-US" sz="1500" dirty="0">
                <a:solidFill>
                  <a:srgbClr val="E2E8F0"/>
                </a:solidFill>
              </a:rPr>
              <a:t>ping 8.8.8.8</a:t>
            </a:r>
            <a:endParaRPr lang="en-US" sz="1500" dirty="0"/>
          </a:p>
          <a:p>
            <a:pPr indent="0" marL="0">
              <a:buNone/>
            </a:pPr>
            <a:endParaRPr lang="en-US" sz="1500" dirty="0"/>
          </a:p>
          <a:p>
            <a:pPr indent="0" marL="0">
              <a:buNone/>
            </a:pPr>
            <a:r>
              <a:rPr lang="en-US" sz="1500" dirty="0">
                <a:solidFill>
                  <a:srgbClr val="E2E8F0"/>
                </a:solidFill>
              </a:rPr>
              <a:t>Reply from 8.8.8.8: bytes=32 time=12ms TTL=117</a:t>
            </a:r>
            <a:endParaRPr lang="en-US" sz="1500" dirty="0"/>
          </a:p>
          <a:p>
            <a:pPr indent="0" marL="0">
              <a:buNone/>
            </a:pPr>
            <a:r>
              <a:rPr lang="en-US" sz="1500" dirty="0">
                <a:solidFill>
                  <a:srgbClr val="E2E8F0"/>
                </a:solidFill>
              </a:rPr>
              <a:t>Reply from 8.8.8.8: bytes=32 time=11ms TTL=117</a:t>
            </a:r>
            <a:endParaRPr lang="en-US" sz="1500" dirty="0"/>
          </a:p>
          <a:p>
            <a:pPr indent="0" marL="0">
              <a:buNone/>
            </a:pPr>
            <a:endParaRPr lang="en-US" sz="1500" dirty="0"/>
          </a:p>
          <a:p>
            <a:pPr indent="0" marL="0">
              <a:buNone/>
            </a:pPr>
            <a:r>
              <a:rPr lang="en-US" sz="1500" dirty="0">
                <a:solidFill>
                  <a:srgbClr val="E2E8F0"/>
                </a:solidFill>
              </a:rPr>
              <a:t>time = how long the round trip took.</a:t>
            </a:r>
            <a:endParaRPr lang="en-US" sz="1500" dirty="0"/>
          </a:p>
          <a:p>
            <a:pPr indent="0" marL="0">
              <a:buNone/>
            </a:pPr>
            <a:r>
              <a:rPr lang="en-US" sz="1500" dirty="0">
                <a:solidFill>
                  <a:srgbClr val="E2E8F0"/>
                </a:solidFill>
              </a:rPr>
              <a:t>Destination host unreachable = no path to that IP.</a:t>
            </a:r>
            <a:endParaRPr lang="en-US" sz="1500" dirty="0"/>
          </a:p>
          <a:p>
            <a:pPr indent="0" marL="0">
              <a:buNone/>
            </a:pPr>
            <a:r>
              <a:rPr lang="en-US" sz="1500" dirty="0">
                <a:solidFill>
                  <a:srgbClr val="E2E8F0"/>
                </a:solidFill>
              </a:rPr>
              <a:t>Request timed out = silence (filter, or the host is off).</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traceroute — which hop went quiet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traceroute</a:t>
            </a:r>
            <a:endParaRPr lang="en-US" sz="1100" dirty="0"/>
          </a:p>
        </p:txBody>
      </p:sp>
      <p:sp>
        <p:nvSpPr>
          <p:cNvPr id="4" name="Text 2"/>
          <p:cNvSpPr txBox="1"/>
          <p:nvPr/>
        </p:nvSpPr>
        <p:spPr>
          <a:xfrm>
            <a:off x="502920" y="1024128"/>
            <a:ext cx="11155680" cy="1143000"/>
          </a:xfrm>
          <a:prstGeom prst="rect">
            <a:avLst/>
          </a:prstGeom>
          <a:noFill/>
          <a:ln/>
        </p:spPr>
        <p:txBody>
          <a:bodyPr wrap="square" lIns="0" tIns="0" rIns="0" bIns="0" rtlCol="0" anchor="t"/>
          <a:lstStyle/>
          <a:p>
            <a:pPr indent="0" marL="0">
              <a:buNone/>
            </a:pPr>
            <a:r>
              <a:rPr lang="en-US" sz="1600" dirty="0">
                <a:solidFill>
                  <a:srgbClr val="334155"/>
                </a:solidFill>
              </a:rPr>
              <a:t>traceroute (Windows: tracert) lists the stops on the path to an IP. Stars * * * mean that stop did not answer. That is common and not always a failure. You care if the path never reaches the destination.</a:t>
            </a:r>
            <a:endParaRPr lang="en-US" sz="1600" dirty="0"/>
          </a:p>
        </p:txBody>
      </p:sp>
      <p:sp>
        <p:nvSpPr>
          <p:cNvPr id="5" name="Shape 3"/>
          <p:cNvSpPr/>
          <p:nvPr/>
        </p:nvSpPr>
        <p:spPr>
          <a:xfrm>
            <a:off x="502920" y="2331720"/>
            <a:ext cx="11155680" cy="3703320"/>
          </a:xfrm>
          <a:prstGeom prst="roundRect">
            <a:avLst>
              <a:gd name="adj" fmla="val 1975"/>
            </a:avLst>
          </a:prstGeom>
          <a:solidFill>
            <a:srgbClr val="0F172A"/>
          </a:solidFill>
          <a:ln/>
        </p:spPr>
      </p:sp>
      <p:sp>
        <p:nvSpPr>
          <p:cNvPr id="6" name="Text 4"/>
          <p:cNvSpPr txBox="1"/>
          <p:nvPr/>
        </p:nvSpPr>
        <p:spPr>
          <a:xfrm>
            <a:off x="685800" y="2441448"/>
            <a:ext cx="10789920" cy="292608"/>
          </a:xfrm>
          <a:prstGeom prst="rect">
            <a:avLst/>
          </a:prstGeom>
          <a:noFill/>
          <a:ln/>
        </p:spPr>
        <p:txBody>
          <a:bodyPr wrap="square" lIns="0" tIns="0" rIns="0" bIns="0" rtlCol="0" anchor="ctr"/>
          <a:lstStyle/>
          <a:p>
            <a:pPr indent="0" marL="0">
              <a:buNone/>
            </a:pPr>
            <a:r>
              <a:rPr lang="en-US" sz="1300" b="1" dirty="0">
                <a:solidFill>
                  <a:srgbClr val="5EEAD4"/>
                </a:solidFill>
              </a:rPr>
              <a:t>Shape of the output (illustrative)</a:t>
            </a:r>
            <a:endParaRPr lang="en-US" sz="1300" dirty="0"/>
          </a:p>
        </p:txBody>
      </p:sp>
      <p:sp>
        <p:nvSpPr>
          <p:cNvPr id="7" name="Text 5"/>
          <p:cNvSpPr txBox="1"/>
          <p:nvPr/>
        </p:nvSpPr>
        <p:spPr>
          <a:xfrm>
            <a:off x="685800" y="2752344"/>
            <a:ext cx="10789920" cy="3154680"/>
          </a:xfrm>
          <a:prstGeom prst="rect">
            <a:avLst/>
          </a:prstGeom>
          <a:noFill/>
          <a:ln/>
        </p:spPr>
        <p:txBody>
          <a:bodyPr wrap="square" lIns="0" tIns="0" rIns="0" bIns="0" rtlCol="0" anchor="t"/>
          <a:lstStyle/>
          <a:p>
            <a:pPr indent="0" marL="0">
              <a:buNone/>
            </a:pPr>
            <a:r>
              <a:rPr lang="en-US" sz="1500" dirty="0">
                <a:solidFill>
                  <a:srgbClr val="E2E8F0"/>
                </a:solidFill>
              </a:rPr>
              <a:t>tracert example.com</a:t>
            </a:r>
            <a:endParaRPr lang="en-US" sz="1500" dirty="0"/>
          </a:p>
          <a:p>
            <a:pPr indent="0" marL="0">
              <a:buNone/>
            </a:pPr>
            <a:endParaRPr lang="en-US" sz="1500" dirty="0"/>
          </a:p>
          <a:p>
            <a:pPr indent="0" marL="0">
              <a:buNone/>
            </a:pPr>
            <a:r>
              <a:rPr lang="en-US" sz="1500" dirty="0">
                <a:solidFill>
                  <a:srgbClr val="E2E8F0"/>
                </a:solidFill>
              </a:rPr>
              <a:t> 1    2 ms     192.168.1.1          your home Wi-Fi box</a:t>
            </a:r>
            <a:endParaRPr lang="en-US" sz="1500" dirty="0"/>
          </a:p>
          <a:p>
            <a:pPr indent="0" marL="0">
              <a:buNone/>
            </a:pPr>
            <a:r>
              <a:rPr lang="en-US" sz="1500" dirty="0">
                <a:solidFill>
                  <a:srgbClr val="E2E8F0"/>
                </a:solidFill>
              </a:rPr>
              <a:t> 2   12 ms     10.x.x.x             your internet provider</a:t>
            </a:r>
            <a:endParaRPr lang="en-US" sz="1500" dirty="0"/>
          </a:p>
          <a:p>
            <a:pPr indent="0" marL="0">
              <a:buNone/>
            </a:pPr>
            <a:r>
              <a:rPr lang="en-US" sz="1500" dirty="0">
                <a:solidFill>
                  <a:srgbClr val="E2E8F0"/>
                </a:solidFill>
              </a:rPr>
              <a:t> 3   20 ms     …                    a stop on the internet</a:t>
            </a:r>
            <a:endParaRPr lang="en-US" sz="1500" dirty="0"/>
          </a:p>
          <a:p>
            <a:pPr indent="0" marL="0">
              <a:buNone/>
            </a:pPr>
            <a:r>
              <a:rPr lang="en-US" sz="1500" dirty="0">
                <a:solidFill>
                  <a:srgbClr val="E2E8F0"/>
                </a:solidFill>
              </a:rPr>
              <a:t> …</a:t>
            </a:r>
            <a:endParaRPr lang="en-US" sz="1500" dirty="0"/>
          </a:p>
          <a:p>
            <a:pPr indent="0" marL="0">
              <a:buNone/>
            </a:pPr>
            <a:r>
              <a:rPr lang="en-US" sz="1500" dirty="0">
                <a:solidFill>
                  <a:srgbClr val="E2E8F0"/>
                </a:solidFill>
              </a:rPr>
              <a:t>14   40 ms     93.184.216.34        destination</a:t>
            </a:r>
            <a:endParaRPr lang="en-US" sz="1500" dirty="0"/>
          </a:p>
          <a:p>
            <a:pPr indent="0" marL="0">
              <a:buNone/>
            </a:pPr>
            <a:endParaRPr lang="en-US" sz="1500" dirty="0"/>
          </a:p>
          <a:p>
            <a:pPr indent="0" marL="0">
              <a:buNone/>
            </a:pPr>
            <a:r>
              <a:rPr lang="en-US" sz="1500" dirty="0">
                <a:solidFill>
                  <a:srgbClr val="E2E8F0"/>
                </a:solidFill>
              </a:rPr>
              <a:t>If it dies at hop 1, your home network is the problem.</a:t>
            </a:r>
            <a:endParaRPr lang="en-US" sz="1500" dirty="0"/>
          </a:p>
          <a:p>
            <a:pPr indent="0" marL="0">
              <a:buNone/>
            </a:pPr>
            <a:r>
              <a:rPr lang="en-US" sz="1500" dirty="0">
                <a:solidFill>
                  <a:srgbClr val="E2E8F0"/>
                </a:solidFill>
              </a:rPr>
              <a:t>If it dies near the end, the other side or a firewall may be dropping you.</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Firewall, proxy, load balancer (general)</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Middle boxes</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051560"/>
          <a:ext cx="11173968" cy="914400"/>
        </p:xfrm>
        <a:graphic>
          <a:graphicData uri="http://schemas.openxmlformats.org/drawingml/2006/table">
            <a:tbl>
              <a:tblPr/>
              <a:tblGrid>
                <a:gridCol w="2560320"/>
                <a:gridCol w="4206240"/>
                <a:gridCol w="440740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Box</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Question it answers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Beginner example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Firewall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May this IP talk to this port?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Home Wi-Fi box; AWS security group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Forward proxy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Staff browser goes out through 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Office web filter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Reverse proxy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Internet hits me; I forward to the app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nginx in front of notes-api</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Load balancer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One name, several healthy backends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ALB in AWS — billed, we skip creating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5" name="Text 2"/>
          <p:cNvSpPr txBox="1"/>
          <p:nvPr/>
        </p:nvSpPr>
        <p:spPr>
          <a:xfrm>
            <a:off x="502920" y="5715000"/>
            <a:ext cx="11155680" cy="594360"/>
          </a:xfrm>
          <a:prstGeom prst="rect">
            <a:avLst/>
          </a:prstGeom>
          <a:noFill/>
          <a:ln/>
        </p:spPr>
        <p:txBody>
          <a:bodyPr wrap="square" lIns="0" tIns="0" rIns="0" bIns="0" rtlCol="0" anchor="t"/>
          <a:lstStyle/>
          <a:p>
            <a:pPr indent="0" marL="0">
              <a:buNone/>
            </a:pPr>
            <a:r>
              <a:rPr lang="en-US" sz="1600" dirty="0">
                <a:solidFill>
                  <a:srgbClr val="334155"/>
                </a:solidFill>
              </a:rPr>
              <a:t>They can be separate products or one box doing two jobs. Name the job, not the brand.</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The same network on every cloud</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Learn the picture. Names change. Lecture 4 clicks AWS.</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A VPC is a private network you rent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Idea</a:t>
            </a:r>
            <a:endParaRPr lang="en-US" sz="1100" dirty="0"/>
          </a:p>
        </p:txBody>
      </p:sp>
      <p:sp>
        <p:nvSpPr>
          <p:cNvPr id="4" name="Text 2"/>
          <p:cNvSpPr txBox="1"/>
          <p:nvPr/>
        </p:nvSpPr>
        <p:spPr>
          <a:xfrm>
            <a:off x="502920" y="1024128"/>
            <a:ext cx="11155680" cy="1234440"/>
          </a:xfrm>
          <a:prstGeom prst="rect">
            <a:avLst/>
          </a:prstGeom>
          <a:noFill/>
          <a:ln/>
        </p:spPr>
        <p:txBody>
          <a:bodyPr wrap="square" lIns="0" tIns="0" rIns="0" bIns="0" rtlCol="0" anchor="t"/>
          <a:lstStyle/>
          <a:p>
            <a:pPr indent="0" marL="0">
              <a:buNone/>
            </a:pPr>
            <a:r>
              <a:rPr lang="en-US" sz="1600" dirty="0">
                <a:solidFill>
                  <a:srgbClr val="334155"/>
                </a:solidFill>
              </a:rPr>
              <a:t>The cloud draws a private network around your VMs: private IPs, subnets, a door to the internet, and a firewall. AWS and GCP call that network a VPC. Azure calls it a Virtual Network (VNet).</a:t>
            </a:r>
            <a:endParaRPr lang="en-US" sz="1600" dirty="0"/>
          </a:p>
        </p:txBody>
      </p:sp>
      <p:sp>
        <p:nvSpPr>
          <p:cNvPr id="5" name="Shape 3"/>
          <p:cNvSpPr/>
          <p:nvPr/>
        </p:nvSpPr>
        <p:spPr>
          <a:xfrm>
            <a:off x="502920" y="2423160"/>
            <a:ext cx="11155680" cy="3611880"/>
          </a:xfrm>
          <a:prstGeom prst="roundRect">
            <a:avLst>
              <a:gd name="adj" fmla="val 2025"/>
            </a:avLst>
          </a:prstGeom>
          <a:solidFill>
            <a:srgbClr val="FEF3C7"/>
          </a:solidFill>
          <a:ln/>
        </p:spPr>
      </p:sp>
      <p:sp>
        <p:nvSpPr>
          <p:cNvPr id="6" name="Text 4"/>
          <p:cNvSpPr txBox="1"/>
          <p:nvPr/>
        </p:nvSpPr>
        <p:spPr>
          <a:xfrm>
            <a:off x="685800" y="2532888"/>
            <a:ext cx="10789920" cy="292608"/>
          </a:xfrm>
          <a:prstGeom prst="rect">
            <a:avLst/>
          </a:prstGeom>
          <a:noFill/>
          <a:ln/>
        </p:spPr>
        <p:txBody>
          <a:bodyPr wrap="square" lIns="0" tIns="0" rIns="0" bIns="0" rtlCol="0" anchor="ctr"/>
          <a:lstStyle/>
          <a:p>
            <a:pPr indent="0" marL="0">
              <a:buNone/>
            </a:pPr>
            <a:r>
              <a:rPr lang="en-US" sz="1300" b="1" dirty="0">
                <a:solidFill>
                  <a:srgbClr val="B45309"/>
                </a:solidFill>
              </a:rPr>
              <a:t>Example</a:t>
            </a:r>
            <a:endParaRPr lang="en-US" sz="1300" dirty="0"/>
          </a:p>
        </p:txBody>
      </p:sp>
      <p:sp>
        <p:nvSpPr>
          <p:cNvPr id="7" name="Text 5"/>
          <p:cNvSpPr txBox="1"/>
          <p:nvPr/>
        </p:nvSpPr>
        <p:spPr>
          <a:xfrm>
            <a:off x="685800" y="2843784"/>
            <a:ext cx="10789920" cy="3063240"/>
          </a:xfrm>
          <a:prstGeom prst="rect">
            <a:avLst/>
          </a:prstGeom>
          <a:noFill/>
          <a:ln/>
        </p:spPr>
        <p:txBody>
          <a:bodyPr wrap="square" lIns="0" tIns="0" rIns="0" bIns="0" rtlCol="0" anchor="t"/>
          <a:lstStyle/>
          <a:p>
            <a:pPr indent="0" marL="0">
              <a:buNone/>
            </a:pPr>
            <a:r>
              <a:rPr lang="en-US" sz="1500" dirty="0">
                <a:solidFill>
                  <a:srgbClr val="334155"/>
                </a:solidFill>
              </a:rPr>
              <a:t>Home:   laptop 192.168.1.10  →  home Wi-Fi box  →  internet</a:t>
            </a:r>
            <a:endParaRPr lang="en-US" sz="1500" dirty="0"/>
          </a:p>
          <a:p>
            <a:pPr indent="0" marL="0">
              <a:buNone/>
            </a:pPr>
            <a:r>
              <a:rPr lang="en-US" sz="1500" dirty="0">
                <a:solidFill>
                  <a:srgbClr val="334155"/>
                </a:solidFill>
              </a:rPr>
              <a:t>Cloud:  VM     10.0.1.25     →  Internet Gateway →  internet</a:t>
            </a:r>
            <a:endParaRPr lang="en-US" sz="1500" dirty="0"/>
          </a:p>
          <a:p>
            <a:pPr indent="0" marL="0">
              <a:buNone/>
            </a:pPr>
            <a:endParaRPr lang="en-US" sz="1500" dirty="0"/>
          </a:p>
          <a:p>
            <a:pPr indent="0" marL="0">
              <a:buNone/>
            </a:pPr>
            <a:r>
              <a:rPr lang="en-US" sz="1500" dirty="0">
                <a:solidFill>
                  <a:srgbClr val="334155"/>
                </a:solidFill>
              </a:rPr>
              <a:t>Same jobs. Different names. You do not plug a cable in a data centre. You pick a block of IPs (a CIDR) and the provider builds the virtual network.</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Same boxes, three nameplates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All clouds</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2880360"/>
                <a:gridCol w="2743200"/>
                <a:gridCol w="2926080"/>
                <a:gridCol w="2624328"/>
              </a:tblGrid>
              <a:tr h="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AWS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Your private network</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VPC</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Virtual Network (VNet)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VPC</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Slice of it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Subnet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Subnet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Subnet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Door to the internet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Internet Gateway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Internet / default route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Internet gateway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Private subnet outbound</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NAT Gateway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NAT Gateway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Cloud NAT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Firewall on the VM</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Security group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NSG</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VPC firewall rule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Sticky public IP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Elastic IP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Public IP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External IP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DNS in the cloud</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Route 53</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Azure DNS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Cloud DNS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Load balancer</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ALB / NLB</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LB / App Gateway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Cloud Load Balancing</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Private path to a PaaS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VPC endpoint / PrivateLink</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Private Endpoint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Private Service Connect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CIDR is how we write a block of IPs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CIDR</a:t>
            </a:r>
            <a:endParaRPr lang="en-US" sz="1100" dirty="0"/>
          </a:p>
        </p:txBody>
      </p:sp>
      <p:sp>
        <p:nvSpPr>
          <p:cNvPr id="4" name="Text 2"/>
          <p:cNvSpPr txBox="1"/>
          <p:nvPr/>
        </p:nvSpPr>
        <p:spPr>
          <a:xfrm>
            <a:off x="502920" y="1024128"/>
            <a:ext cx="11155680" cy="1005840"/>
          </a:xfrm>
          <a:prstGeom prst="rect">
            <a:avLst/>
          </a:prstGeom>
          <a:noFill/>
          <a:ln/>
        </p:spPr>
        <p:txBody>
          <a:bodyPr wrap="square" lIns="0" tIns="0" rIns="0" bIns="0" rtlCol="0" anchor="t"/>
          <a:lstStyle/>
          <a:p>
            <a:pPr indent="0" marL="0">
              <a:buNone/>
            </a:pPr>
            <a:r>
              <a:rPr lang="en-US" sz="1600" dirty="0">
                <a:solidFill>
                  <a:srgbClr val="334155"/>
                </a:solidFill>
              </a:rPr>
              <a:t>You will see 10.0.0.0/16 on a VPC. The number after the slash is the size. You do not need binary. Remember two examples.</a:t>
            </a:r>
            <a:endParaRPr lang="en-US" sz="1600" dirty="0"/>
          </a:p>
        </p:txBody>
      </p:sp>
      <p:sp>
        <p:nvSpPr>
          <p:cNvPr id="5" name="Shape 3"/>
          <p:cNvSpPr/>
          <p:nvPr/>
        </p:nvSpPr>
        <p:spPr>
          <a:xfrm>
            <a:off x="502920" y="2194560"/>
            <a:ext cx="5532120" cy="3794760"/>
          </a:xfrm>
          <a:prstGeom prst="roundRect">
            <a:avLst>
              <a:gd name="adj" fmla="val 1928"/>
            </a:avLst>
          </a:prstGeom>
          <a:solidFill>
            <a:srgbClr val="0F172A"/>
          </a:solidFill>
          <a:ln/>
        </p:spPr>
      </p:sp>
      <p:sp>
        <p:nvSpPr>
          <p:cNvPr id="6" name="Text 4"/>
          <p:cNvSpPr txBox="1"/>
          <p:nvPr/>
        </p:nvSpPr>
        <p:spPr>
          <a:xfrm>
            <a:off x="685800" y="2304288"/>
            <a:ext cx="5166360" cy="292608"/>
          </a:xfrm>
          <a:prstGeom prst="rect">
            <a:avLst/>
          </a:prstGeom>
          <a:noFill/>
          <a:ln/>
        </p:spPr>
        <p:txBody>
          <a:bodyPr wrap="square" lIns="0" tIns="0" rIns="0" bIns="0" rtlCol="0" anchor="ctr"/>
          <a:lstStyle/>
          <a:p>
            <a:pPr indent="0" marL="0">
              <a:buNone/>
            </a:pPr>
            <a:r>
              <a:rPr lang="en-US" sz="1300" b="1" dirty="0">
                <a:solidFill>
                  <a:srgbClr val="5EEAD4"/>
                </a:solidFill>
              </a:rPr>
              <a:t>VPC — the whole house</a:t>
            </a:r>
            <a:endParaRPr lang="en-US" sz="1300" dirty="0"/>
          </a:p>
        </p:txBody>
      </p:sp>
      <p:sp>
        <p:nvSpPr>
          <p:cNvPr id="7" name="Text 5"/>
          <p:cNvSpPr txBox="1"/>
          <p:nvPr/>
        </p:nvSpPr>
        <p:spPr>
          <a:xfrm>
            <a:off x="685800" y="2615184"/>
            <a:ext cx="5166360" cy="3246120"/>
          </a:xfrm>
          <a:prstGeom prst="rect">
            <a:avLst/>
          </a:prstGeom>
          <a:noFill/>
          <a:ln/>
        </p:spPr>
        <p:txBody>
          <a:bodyPr wrap="square" lIns="0" tIns="0" rIns="0" bIns="0" rtlCol="0" anchor="t"/>
          <a:lstStyle/>
          <a:p>
            <a:pPr indent="0" marL="0">
              <a:buNone/>
            </a:pPr>
            <a:r>
              <a:rPr lang="en-US" sz="1500" dirty="0">
                <a:solidFill>
                  <a:srgbClr val="E2E8F0"/>
                </a:solidFill>
              </a:rPr>
              <a:t>10.0.0.0/16</a:t>
            </a:r>
            <a:endParaRPr lang="en-US" sz="1500" dirty="0"/>
          </a:p>
          <a:p>
            <a:pPr indent="0" marL="0">
              <a:buNone/>
            </a:pPr>
            <a:endParaRPr lang="en-US" sz="1500" dirty="0"/>
          </a:p>
          <a:p>
            <a:pPr indent="0" marL="0">
              <a:buNone/>
            </a:pPr>
            <a:r>
              <a:rPr lang="en-US" sz="1500" dirty="0">
                <a:solidFill>
                  <a:srgbClr val="E2E8F0"/>
                </a:solidFill>
              </a:rPr>
              <a:t>A large private range. Thousands of addresses.</a:t>
            </a:r>
            <a:endParaRPr lang="en-US" sz="1500" dirty="0"/>
          </a:p>
          <a:p>
            <a:pPr indent="0" marL="0">
              <a:buNone/>
            </a:pPr>
            <a:r>
              <a:rPr lang="en-US" sz="1500" dirty="0">
                <a:solidFill>
                  <a:srgbClr val="E2E8F0"/>
                </a:solidFill>
              </a:rPr>
              <a:t>This is the whole network.</a:t>
            </a:r>
            <a:endParaRPr lang="en-US" sz="1500" dirty="0"/>
          </a:p>
        </p:txBody>
      </p:sp>
      <p:sp>
        <p:nvSpPr>
          <p:cNvPr id="8" name="Shape 6"/>
          <p:cNvSpPr/>
          <p:nvPr/>
        </p:nvSpPr>
        <p:spPr>
          <a:xfrm>
            <a:off x="6217920" y="2194560"/>
            <a:ext cx="5440680" cy="3794760"/>
          </a:xfrm>
          <a:prstGeom prst="roundRect">
            <a:avLst>
              <a:gd name="adj" fmla="val 1928"/>
            </a:avLst>
          </a:prstGeom>
          <a:solidFill>
            <a:srgbClr val="ECFDF5"/>
          </a:solidFill>
          <a:ln/>
        </p:spPr>
      </p:sp>
      <p:sp>
        <p:nvSpPr>
          <p:cNvPr id="9" name="Text 7"/>
          <p:cNvSpPr txBox="1"/>
          <p:nvPr/>
        </p:nvSpPr>
        <p:spPr>
          <a:xfrm>
            <a:off x="6400800" y="2304288"/>
            <a:ext cx="5074920" cy="292608"/>
          </a:xfrm>
          <a:prstGeom prst="rect">
            <a:avLst/>
          </a:prstGeom>
          <a:noFill/>
          <a:ln/>
        </p:spPr>
        <p:txBody>
          <a:bodyPr wrap="square" lIns="0" tIns="0" rIns="0" bIns="0" rtlCol="0" anchor="ctr"/>
          <a:lstStyle/>
          <a:p>
            <a:pPr indent="0" marL="0">
              <a:buNone/>
            </a:pPr>
            <a:r>
              <a:rPr lang="en-US" sz="1300" b="1" dirty="0">
                <a:solidFill>
                  <a:srgbClr val="0F766E"/>
                </a:solidFill>
              </a:rPr>
              <a:t>Subnet — one room</a:t>
            </a:r>
            <a:endParaRPr lang="en-US" sz="1300" dirty="0"/>
          </a:p>
        </p:txBody>
      </p:sp>
      <p:sp>
        <p:nvSpPr>
          <p:cNvPr id="10" name="Text 8"/>
          <p:cNvSpPr txBox="1"/>
          <p:nvPr/>
        </p:nvSpPr>
        <p:spPr>
          <a:xfrm>
            <a:off x="6400800" y="2615184"/>
            <a:ext cx="5074920" cy="3246120"/>
          </a:xfrm>
          <a:prstGeom prst="rect">
            <a:avLst/>
          </a:prstGeom>
          <a:noFill/>
          <a:ln/>
        </p:spPr>
        <p:txBody>
          <a:bodyPr wrap="square" lIns="0" tIns="0" rIns="0" bIns="0" rtlCol="0" anchor="t"/>
          <a:lstStyle/>
          <a:p>
            <a:pPr indent="0" marL="0">
              <a:buNone/>
            </a:pPr>
            <a:r>
              <a:rPr lang="en-US" sz="1500" dirty="0">
                <a:solidFill>
                  <a:srgbClr val="334155"/>
                </a:solidFill>
              </a:rPr>
              <a:t>10.0.1.0/24</a:t>
            </a:r>
            <a:endParaRPr lang="en-US" sz="1500" dirty="0"/>
          </a:p>
          <a:p>
            <a:pPr indent="0" marL="0">
              <a:buNone/>
            </a:pPr>
            <a:endParaRPr lang="en-US" sz="1500" dirty="0"/>
          </a:p>
          <a:p>
            <a:pPr indent="0" marL="0">
              <a:buNone/>
            </a:pPr>
            <a:r>
              <a:rPr lang="en-US" sz="1500" dirty="0">
                <a:solidFill>
                  <a:srgbClr val="334155"/>
                </a:solidFill>
              </a:rPr>
              <a:t>A smaller slice inside the VPC.</a:t>
            </a:r>
            <a:endParaRPr lang="en-US" sz="1500" dirty="0"/>
          </a:p>
          <a:p>
            <a:pPr indent="0" marL="0">
              <a:buNone/>
            </a:pPr>
            <a:r>
              <a:rPr lang="en-US" sz="1500" dirty="0">
                <a:solidFill>
                  <a:srgbClr val="334155"/>
                </a:solidFill>
              </a:rPr>
              <a:t>Public or private is decided by the route, not by this number.</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VPC / VNet is your isolated network</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VPC</a:t>
            </a:r>
            <a:endParaRPr lang="en-US" sz="1100" dirty="0"/>
          </a:p>
        </p:txBody>
      </p:sp>
      <p:sp>
        <p:nvSpPr>
          <p:cNvPr id="4" name="Text 2"/>
          <p:cNvSpPr txBox="1"/>
          <p:nvPr/>
        </p:nvSpPr>
        <p:spPr>
          <a:xfrm>
            <a:off x="502920" y="1024128"/>
            <a:ext cx="11155680" cy="1097280"/>
          </a:xfrm>
          <a:prstGeom prst="rect">
            <a:avLst/>
          </a:prstGeom>
          <a:noFill/>
          <a:ln/>
        </p:spPr>
        <p:txBody>
          <a:bodyPr wrap="square" lIns="0" tIns="0" rIns="0" bIns="0" rtlCol="0" anchor="t"/>
          <a:lstStyle/>
          <a:p>
            <a:pPr indent="0" marL="0">
              <a:buNone/>
            </a:pPr>
            <a:r>
              <a:rPr lang="en-US" sz="1600" dirty="0">
                <a:solidFill>
                  <a:srgbClr val="334155"/>
                </a:solidFill>
              </a:rPr>
              <a:t>Nothing on the internet can see inside unless you open a door. You choose the CIDR. AWS gives every new account a default VPC so beginners are not stuck. Default VPC is fine for this course.</a:t>
            </a:r>
            <a:endParaRPr lang="en-US" sz="1600" dirty="0"/>
          </a:p>
        </p:txBody>
      </p:sp>
      <p:sp>
        <p:nvSpPr>
          <p:cNvPr id="5" name="Shape 3"/>
          <p:cNvSpPr/>
          <p:nvPr/>
        </p:nvSpPr>
        <p:spPr>
          <a:xfrm>
            <a:off x="502920" y="2286000"/>
            <a:ext cx="3657600" cy="3703320"/>
          </a:xfrm>
          <a:prstGeom prst="roundRect">
            <a:avLst>
              <a:gd name="adj" fmla="val 2000"/>
            </a:avLst>
          </a:prstGeom>
          <a:solidFill>
            <a:srgbClr val="0F172A"/>
          </a:solidFill>
          <a:ln/>
        </p:spPr>
      </p:sp>
      <p:sp>
        <p:nvSpPr>
          <p:cNvPr id="6" name="Text 4"/>
          <p:cNvSpPr txBox="1"/>
          <p:nvPr/>
        </p:nvSpPr>
        <p:spPr>
          <a:xfrm>
            <a:off x="685800" y="2395728"/>
            <a:ext cx="3291840" cy="292608"/>
          </a:xfrm>
          <a:prstGeom prst="rect">
            <a:avLst/>
          </a:prstGeom>
          <a:noFill/>
          <a:ln/>
        </p:spPr>
        <p:txBody>
          <a:bodyPr wrap="square" lIns="0" tIns="0" rIns="0" bIns="0" rtlCol="0" anchor="ctr"/>
          <a:lstStyle/>
          <a:p>
            <a:pPr indent="0" marL="0">
              <a:buNone/>
            </a:pPr>
            <a:r>
              <a:rPr lang="en-US" sz="1300" b="1" dirty="0">
                <a:solidFill>
                  <a:srgbClr val="5EEAD4"/>
                </a:solidFill>
              </a:rPr>
              <a:t>AWS</a:t>
            </a:r>
            <a:endParaRPr lang="en-US" sz="1300" dirty="0"/>
          </a:p>
        </p:txBody>
      </p:sp>
      <p:sp>
        <p:nvSpPr>
          <p:cNvPr id="7" name="Text 5"/>
          <p:cNvSpPr txBox="1"/>
          <p:nvPr/>
        </p:nvSpPr>
        <p:spPr>
          <a:xfrm>
            <a:off x="685800" y="2706624"/>
            <a:ext cx="3291840" cy="3154680"/>
          </a:xfrm>
          <a:prstGeom prst="rect">
            <a:avLst/>
          </a:prstGeom>
          <a:noFill/>
          <a:ln/>
        </p:spPr>
        <p:txBody>
          <a:bodyPr wrap="square" lIns="0" tIns="0" rIns="0" bIns="0" rtlCol="0" anchor="t"/>
          <a:lstStyle/>
          <a:p>
            <a:pPr indent="0" marL="0">
              <a:buNone/>
            </a:pPr>
            <a:r>
              <a:rPr lang="en-US" sz="1500" dirty="0">
                <a:solidFill>
                  <a:srgbClr val="E2E8F0"/>
                </a:solidFill>
              </a:rPr>
              <a:t>VPC is regional.</a:t>
            </a:r>
            <a:endParaRPr lang="en-US" sz="1500" dirty="0"/>
          </a:p>
          <a:p>
            <a:pPr indent="0" marL="0">
              <a:buNone/>
            </a:pPr>
            <a:endParaRPr lang="en-US" sz="1500" dirty="0"/>
          </a:p>
          <a:p>
            <a:pPr indent="0" marL="0">
              <a:buNone/>
            </a:pPr>
            <a:r>
              <a:rPr lang="en-US" sz="1500" dirty="0">
                <a:solidFill>
                  <a:srgbClr val="E2E8F0"/>
                </a:solidFill>
              </a:rPr>
              <a:t>Default VPC is already there with public subnets.</a:t>
            </a:r>
            <a:endParaRPr lang="en-US" sz="1500" dirty="0"/>
          </a:p>
        </p:txBody>
      </p:sp>
      <p:sp>
        <p:nvSpPr>
          <p:cNvPr id="8" name="Shape 6"/>
          <p:cNvSpPr/>
          <p:nvPr/>
        </p:nvSpPr>
        <p:spPr>
          <a:xfrm>
            <a:off x="4343400" y="2286000"/>
            <a:ext cx="3657600" cy="3703320"/>
          </a:xfrm>
          <a:prstGeom prst="roundRect">
            <a:avLst>
              <a:gd name="adj" fmla="val 2000"/>
            </a:avLst>
          </a:prstGeom>
          <a:solidFill>
            <a:srgbClr val="0F766E"/>
          </a:solidFill>
          <a:ln/>
        </p:spPr>
      </p:sp>
      <p:sp>
        <p:nvSpPr>
          <p:cNvPr id="9" name="Text 7"/>
          <p:cNvSpPr txBox="1"/>
          <p:nvPr/>
        </p:nvSpPr>
        <p:spPr>
          <a:xfrm>
            <a:off x="4526280" y="2395728"/>
            <a:ext cx="3291840" cy="292608"/>
          </a:xfrm>
          <a:prstGeom prst="rect">
            <a:avLst/>
          </a:prstGeom>
          <a:noFill/>
          <a:ln/>
        </p:spPr>
        <p:txBody>
          <a:bodyPr wrap="square" lIns="0" tIns="0" rIns="0" bIns="0" rtlCol="0" anchor="ctr"/>
          <a:lstStyle/>
          <a:p>
            <a:pPr indent="0" marL="0">
              <a:buNone/>
            </a:pPr>
            <a:r>
              <a:rPr lang="en-US" sz="1300" b="1" dirty="0">
                <a:solidFill>
                  <a:srgbClr val="CCFBF1"/>
                </a:solidFill>
              </a:rPr>
              <a:t>Azure</a:t>
            </a:r>
            <a:endParaRPr lang="en-US" sz="1300" dirty="0"/>
          </a:p>
        </p:txBody>
      </p:sp>
      <p:sp>
        <p:nvSpPr>
          <p:cNvPr id="10" name="Text 8"/>
          <p:cNvSpPr txBox="1"/>
          <p:nvPr/>
        </p:nvSpPr>
        <p:spPr>
          <a:xfrm>
            <a:off x="4526280" y="2706624"/>
            <a:ext cx="3291840" cy="3154680"/>
          </a:xfrm>
          <a:prstGeom prst="rect">
            <a:avLst/>
          </a:prstGeom>
          <a:noFill/>
          <a:ln/>
        </p:spPr>
        <p:txBody>
          <a:bodyPr wrap="square" lIns="0" tIns="0" rIns="0" bIns="0" rtlCol="0" anchor="t"/>
          <a:lstStyle/>
          <a:p>
            <a:pPr indent="0" marL="0">
              <a:buNone/>
            </a:pPr>
            <a:r>
              <a:rPr lang="en-US" sz="1500" dirty="0">
                <a:solidFill>
                  <a:srgbClr val="F8FAFC"/>
                </a:solidFill>
              </a:rPr>
              <a:t>Virtual Network (VNet).</a:t>
            </a:r>
            <a:endParaRPr lang="en-US" sz="1500" dirty="0"/>
          </a:p>
          <a:p>
            <a:pPr indent="0" marL="0">
              <a:buNone/>
            </a:pPr>
            <a:endParaRPr lang="en-US" sz="1500" dirty="0"/>
          </a:p>
          <a:p>
            <a:pPr indent="0" marL="0">
              <a:buNone/>
            </a:pPr>
            <a:r>
              <a:rPr lang="en-US" sz="1500" dirty="0">
                <a:solidFill>
                  <a:srgbClr val="F8FAFC"/>
                </a:solidFill>
              </a:rPr>
              <a:t>Same idea: private CIDR in one region.</a:t>
            </a:r>
            <a:endParaRPr lang="en-US" sz="1500" dirty="0"/>
          </a:p>
        </p:txBody>
      </p:sp>
      <p:sp>
        <p:nvSpPr>
          <p:cNvPr id="11" name="Shape 9"/>
          <p:cNvSpPr/>
          <p:nvPr/>
        </p:nvSpPr>
        <p:spPr>
          <a:xfrm>
            <a:off x="8183880" y="2286000"/>
            <a:ext cx="3474720" cy="3703320"/>
          </a:xfrm>
          <a:prstGeom prst="roundRect">
            <a:avLst>
              <a:gd name="adj" fmla="val 2105"/>
            </a:avLst>
          </a:prstGeom>
          <a:solidFill>
            <a:srgbClr val="155E75"/>
          </a:solidFill>
          <a:ln/>
        </p:spPr>
      </p:sp>
      <p:sp>
        <p:nvSpPr>
          <p:cNvPr id="12" name="Text 10"/>
          <p:cNvSpPr txBox="1"/>
          <p:nvPr/>
        </p:nvSpPr>
        <p:spPr>
          <a:xfrm>
            <a:off x="8366760" y="2395728"/>
            <a:ext cx="3108960" cy="292608"/>
          </a:xfrm>
          <a:prstGeom prst="rect">
            <a:avLst/>
          </a:prstGeom>
          <a:noFill/>
          <a:ln/>
        </p:spPr>
        <p:txBody>
          <a:bodyPr wrap="square" lIns="0" tIns="0" rIns="0" bIns="0" rtlCol="0" anchor="ctr"/>
          <a:lstStyle/>
          <a:p>
            <a:pPr indent="0" marL="0">
              <a:buNone/>
            </a:pPr>
            <a:r>
              <a:rPr lang="en-US" sz="1300" b="1" dirty="0">
                <a:solidFill>
                  <a:srgbClr val="A5F3FC"/>
                </a:solidFill>
              </a:rPr>
              <a:t>GCP</a:t>
            </a:r>
            <a:endParaRPr lang="en-US" sz="1300" dirty="0"/>
          </a:p>
        </p:txBody>
      </p:sp>
      <p:sp>
        <p:nvSpPr>
          <p:cNvPr id="13" name="Text 11"/>
          <p:cNvSpPr txBox="1"/>
          <p:nvPr/>
        </p:nvSpPr>
        <p:spPr>
          <a:xfrm>
            <a:off x="8366760" y="2706624"/>
            <a:ext cx="3108960" cy="3154680"/>
          </a:xfrm>
          <a:prstGeom prst="rect">
            <a:avLst/>
          </a:prstGeom>
          <a:noFill/>
          <a:ln/>
        </p:spPr>
        <p:txBody>
          <a:bodyPr wrap="square" lIns="0" tIns="0" rIns="0" bIns="0" rtlCol="0" anchor="t"/>
          <a:lstStyle/>
          <a:p>
            <a:pPr indent="0" marL="0">
              <a:buNone/>
            </a:pPr>
            <a:r>
              <a:rPr lang="en-US" sz="1500" dirty="0">
                <a:solidFill>
                  <a:srgbClr val="F8FAFC"/>
                </a:solidFill>
              </a:rPr>
              <a:t>VPC can be global.</a:t>
            </a:r>
            <a:endParaRPr lang="en-US" sz="1500" dirty="0"/>
          </a:p>
          <a:p>
            <a:pPr indent="0" marL="0">
              <a:buNone/>
            </a:pPr>
            <a:endParaRPr lang="en-US" sz="1500" dirty="0"/>
          </a:p>
          <a:p>
            <a:pPr indent="0" marL="0">
              <a:buNone/>
            </a:pPr>
            <a:r>
              <a:rPr lang="en-US" sz="1500" dirty="0">
                <a:solidFill>
                  <a:srgbClr val="F8FAFC"/>
                </a:solidFill>
              </a:rPr>
              <a:t>Subnets are regional. Still one private IP space.</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Region and Availability Zone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Where a subnet lives</a:t>
            </a:r>
            <a:endParaRPr lang="en-US" sz="1100" dirty="0"/>
          </a:p>
        </p:txBody>
      </p:sp>
      <p:sp>
        <p:nvSpPr>
          <p:cNvPr id="4" name="Text 2"/>
          <p:cNvSpPr txBox="1"/>
          <p:nvPr/>
        </p:nvSpPr>
        <p:spPr>
          <a:xfrm>
            <a:off x="502920" y="1024128"/>
            <a:ext cx="11155680" cy="1143000"/>
          </a:xfrm>
          <a:prstGeom prst="rect">
            <a:avLst/>
          </a:prstGeom>
          <a:noFill/>
          <a:ln/>
        </p:spPr>
        <p:txBody>
          <a:bodyPr wrap="square" lIns="0" tIns="0" rIns="0" bIns="0" rtlCol="0" anchor="t"/>
          <a:lstStyle/>
          <a:p>
            <a:pPr indent="0" marL="0">
              <a:buNone/>
            </a:pPr>
            <a:r>
              <a:rPr lang="en-US" sz="1600" dirty="0">
                <a:solidFill>
                  <a:srgbClr val="334155"/>
                </a:solidFill>
              </a:rPr>
              <a:t>A Region is a geography (Mumbai, Virginia). An Availability Zone (AZ) is a separate data centre inside that Region. Pick one Region and stay there so you do not pay for surprise traffic between Regions.</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73968" cy="914400"/>
        </p:xfrm>
        <a:graphic>
          <a:graphicData uri="http://schemas.openxmlformats.org/drawingml/2006/table">
            <a:tbl>
              <a:tblPr/>
              <a:tblGrid>
                <a:gridCol w="2377440"/>
                <a:gridCol w="3931920"/>
                <a:gridCol w="486460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Cloud</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Network scope</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Subnet lives 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AWS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VPC is regional</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One subnet = one AZ</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Azure</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VNet is regional</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Subnet is in the VNet (spans AZs)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GCP</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VPC can be global</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Subnet is regional</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715000"/>
            <a:ext cx="11155680" cy="594360"/>
          </a:xfrm>
          <a:prstGeom prst="rect">
            <a:avLst/>
          </a:prstGeom>
          <a:noFill/>
          <a:ln/>
        </p:spPr>
        <p:txBody>
          <a:bodyPr wrap="square" lIns="0" tIns="0" rIns="0" bIns="0" rtlCol="0" anchor="t"/>
          <a:lstStyle/>
          <a:p>
            <a:pPr indent="0" marL="0">
              <a:buNone/>
            </a:pPr>
            <a:r>
              <a:rPr lang="en-US" sz="1600" dirty="0">
                <a:solidFill>
                  <a:srgbClr val="334155"/>
                </a:solidFill>
              </a:rPr>
              <a:t>Interview: “If I want two AZs for high availability on AWS, I need two subnets.” In class we still launch only one micro.</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Subnet: public vs private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Subnet</a:t>
            </a:r>
            <a:endParaRPr lang="en-US" sz="1100" dirty="0"/>
          </a:p>
        </p:txBody>
      </p:sp>
      <p:sp>
        <p:nvSpPr>
          <p:cNvPr id="4" name="Text 2"/>
          <p:cNvSpPr txBox="1"/>
          <p:nvPr/>
        </p:nvSpPr>
        <p:spPr>
          <a:xfrm>
            <a:off x="502920" y="1024128"/>
            <a:ext cx="11155680" cy="822960"/>
          </a:xfrm>
          <a:prstGeom prst="rect">
            <a:avLst/>
          </a:prstGeom>
          <a:noFill/>
          <a:ln/>
        </p:spPr>
        <p:txBody>
          <a:bodyPr wrap="square" lIns="0" tIns="0" rIns="0" bIns="0" rtlCol="0" anchor="t"/>
          <a:lstStyle/>
          <a:p>
            <a:pPr indent="0" marL="0">
              <a:buNone/>
            </a:pPr>
            <a:r>
              <a:rPr lang="en-US" sz="1600" dirty="0">
                <a:solidFill>
                  <a:srgbClr val="334155"/>
                </a:solidFill>
              </a:rPr>
              <a:t>A subnet is a CIDR slice of the VPC. Public vs private is decided by the route table, not by the number 10.0.1 vs 10.0.2.</a:t>
            </a:r>
            <a:endParaRPr lang="en-US" sz="1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11173968" cy="914400"/>
        </p:xfrm>
        <a:graphic>
          <a:graphicData uri="http://schemas.openxmlformats.org/drawingml/2006/table">
            <a:tbl>
              <a:tblPr/>
              <a:tblGrid>
                <a:gridCol w="3200400"/>
                <a:gridCol w="3977640"/>
                <a:gridCol w="3995928"/>
              </a:tblGrid>
              <a:tr h="0">
                <a:tc>
                  <a:txBody>
                    <a:bodyPr/>
                    <a:lstStyle/>
                    <a:p>
                      <a:pPr algn="l" indent="0" marL="0">
                        <a:buNone/>
                      </a:pP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Public subnet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Private subnet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Route 0.0.0.0/0</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Internet Gateway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NAT Gateway (or nowhere)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VM public IP?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Usually yes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Internet can start a connection in?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If the security group allows the port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Not directly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VM can call the internet?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 via IGW</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Only if NAT exists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This course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One micro lives here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We explain it. We do not build NAT.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Route table: who is the next hop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Routes</a:t>
            </a:r>
            <a:endParaRPr lang="en-US" sz="1100" dirty="0"/>
          </a:p>
        </p:txBody>
      </p:sp>
      <p:sp>
        <p:nvSpPr>
          <p:cNvPr id="4" name="Text 2"/>
          <p:cNvSpPr txBox="1"/>
          <p:nvPr/>
        </p:nvSpPr>
        <p:spPr>
          <a:xfrm>
            <a:off x="502920" y="1024128"/>
            <a:ext cx="11155680" cy="960120"/>
          </a:xfrm>
          <a:prstGeom prst="rect">
            <a:avLst/>
          </a:prstGeom>
          <a:noFill/>
          <a:ln/>
        </p:spPr>
        <p:txBody>
          <a:bodyPr wrap="square" lIns="0" tIns="0" rIns="0" bIns="0" rtlCol="0" anchor="t"/>
          <a:lstStyle/>
          <a:p>
            <a:pPr indent="0" marL="0">
              <a:buNone/>
            </a:pPr>
            <a:r>
              <a:rPr lang="en-US" sz="1600" dirty="0">
                <a:solidFill>
                  <a:srgbClr val="334155"/>
                </a:solidFill>
              </a:rPr>
              <a:t>Every subnet has a route table. It is a list of where traffic goes next. Local traffic stays in the VPC. 0.0.0.0/0 means “everything else.”</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11173968" cy="914400"/>
        </p:xfrm>
        <a:graphic>
          <a:graphicData uri="http://schemas.openxmlformats.org/drawingml/2006/table">
            <a:tbl>
              <a:tblPr/>
              <a:tblGrid>
                <a:gridCol w="3108960"/>
                <a:gridCol w="3840480"/>
                <a:gridCol w="422452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hop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10.0.0.0/16</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local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Stay inside this VPC</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Internet Gateway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This subnet is public</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NAT Gateway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This subnet is private, outbound only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pl-… (S3 prefix)</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vpce-… (gateway endpoint)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Go to S3 privately, not via IGW</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Internet Gateway vs NAT Gateway</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Gateways</a:t>
            </a:r>
            <a:endParaRPr lang="en-US" sz="1100" dirty="0"/>
          </a:p>
        </p:txBody>
      </p:sp>
      <p:sp>
        <p:nvSpPr>
          <p:cNvPr id="4" name="Shape 2"/>
          <p:cNvSpPr/>
          <p:nvPr/>
        </p:nvSpPr>
        <p:spPr>
          <a:xfrm>
            <a:off x="502920" y="1097280"/>
            <a:ext cx="5532120" cy="4937760"/>
          </a:xfrm>
          <a:prstGeom prst="roundRect">
            <a:avLst>
              <a:gd name="adj" fmla="val 1481"/>
            </a:avLst>
          </a:prstGeom>
          <a:solidFill>
            <a:srgbClr val="ECFDF5"/>
          </a:solidFill>
          <a:ln/>
        </p:spPr>
      </p:sp>
      <p:sp>
        <p:nvSpPr>
          <p:cNvPr id="5" name="Text 3"/>
          <p:cNvSpPr txBox="1"/>
          <p:nvPr/>
        </p:nvSpPr>
        <p:spPr>
          <a:xfrm>
            <a:off x="685800" y="1207008"/>
            <a:ext cx="5166360" cy="292608"/>
          </a:xfrm>
          <a:prstGeom prst="rect">
            <a:avLst/>
          </a:prstGeom>
          <a:noFill/>
          <a:ln/>
        </p:spPr>
        <p:txBody>
          <a:bodyPr wrap="square" lIns="0" tIns="0" rIns="0" bIns="0" rtlCol="0" anchor="ctr"/>
          <a:lstStyle/>
          <a:p>
            <a:pPr indent="0" marL="0">
              <a:buNone/>
            </a:pPr>
            <a:r>
              <a:rPr lang="en-US" sz="1300" b="1" dirty="0">
                <a:solidFill>
                  <a:srgbClr val="0F766E"/>
                </a:solidFill>
              </a:rPr>
              <a:t>Internet Gateway</a:t>
            </a:r>
            <a:endParaRPr lang="en-US" sz="1300" dirty="0"/>
          </a:p>
        </p:txBody>
      </p:sp>
      <p:sp>
        <p:nvSpPr>
          <p:cNvPr id="6" name="Text 4"/>
          <p:cNvSpPr txBox="1"/>
          <p:nvPr/>
        </p:nvSpPr>
        <p:spPr>
          <a:xfrm>
            <a:off x="685800" y="1517904"/>
            <a:ext cx="5166360" cy="4389120"/>
          </a:xfrm>
          <a:prstGeom prst="rect">
            <a:avLst/>
          </a:prstGeom>
          <a:noFill/>
          <a:ln/>
        </p:spPr>
        <p:txBody>
          <a:bodyPr wrap="square" lIns="0" tIns="0" rIns="0" bIns="0" rtlCol="0" anchor="t"/>
          <a:lstStyle/>
          <a:p>
            <a:pPr indent="0" marL="0">
              <a:buNone/>
            </a:pPr>
            <a:r>
              <a:rPr lang="en-US" sz="1500" dirty="0">
                <a:solidFill>
                  <a:srgbClr val="334155"/>
                </a:solidFill>
              </a:rPr>
              <a:t>Door on the VPC.</a:t>
            </a:r>
            <a:endParaRPr lang="en-US" sz="1500" dirty="0"/>
          </a:p>
          <a:p>
            <a:pPr indent="0" marL="0">
              <a:buNone/>
            </a:pPr>
            <a:endParaRPr lang="en-US" sz="1500" dirty="0"/>
          </a:p>
          <a:p>
            <a:pPr indent="0" marL="0">
              <a:buNone/>
            </a:pPr>
            <a:r>
              <a:rPr lang="en-US" sz="1500" dirty="0">
                <a:solidFill>
                  <a:srgbClr val="334155"/>
                </a:solidFill>
              </a:rPr>
              <a:t>Public subnet + public IP + IGW = the VM can be reached from the internet if the security group allows the port.</a:t>
            </a:r>
            <a:endParaRPr lang="en-US" sz="1500" dirty="0"/>
          </a:p>
          <a:p>
            <a:pPr indent="0" marL="0">
              <a:buNone/>
            </a:pPr>
            <a:endParaRPr lang="en-US" sz="1500" dirty="0"/>
          </a:p>
          <a:p>
            <a:pPr indent="0" marL="0">
              <a:buNone/>
            </a:pPr>
            <a:r>
              <a:rPr lang="en-US" sz="1500" dirty="0">
                <a:solidFill>
                  <a:srgbClr val="334155"/>
                </a:solidFill>
              </a:rPr>
              <a:t>IGW itself is not billed like NAT.</a:t>
            </a:r>
            <a:endParaRPr lang="en-US" sz="1500" dirty="0"/>
          </a:p>
          <a:p>
            <a:pPr indent="0" marL="0">
              <a:buNone/>
            </a:pPr>
            <a:endParaRPr lang="en-US" sz="1500" dirty="0"/>
          </a:p>
          <a:p>
            <a:pPr indent="0" marL="0">
              <a:buNone/>
            </a:pPr>
            <a:r>
              <a:rPr lang="en-US" sz="1500" dirty="0">
                <a:solidFill>
                  <a:srgbClr val="334155"/>
                </a:solidFill>
              </a:rPr>
              <a:t>Lecture 4 uses this path.</a:t>
            </a:r>
            <a:endParaRPr lang="en-US" sz="1500" dirty="0"/>
          </a:p>
        </p:txBody>
      </p:sp>
      <p:sp>
        <p:nvSpPr>
          <p:cNvPr id="7" name="Shape 5"/>
          <p:cNvSpPr/>
          <p:nvPr/>
        </p:nvSpPr>
        <p:spPr>
          <a:xfrm>
            <a:off x="6217920" y="1097280"/>
            <a:ext cx="5440680" cy="4937760"/>
          </a:xfrm>
          <a:prstGeom prst="roundRect">
            <a:avLst>
              <a:gd name="adj" fmla="val 1481"/>
            </a:avLst>
          </a:prstGeom>
          <a:solidFill>
            <a:srgbClr val="FEF3C7"/>
          </a:solidFill>
          <a:ln/>
        </p:spPr>
      </p:sp>
      <p:sp>
        <p:nvSpPr>
          <p:cNvPr id="8" name="Text 6"/>
          <p:cNvSpPr txBox="1"/>
          <p:nvPr/>
        </p:nvSpPr>
        <p:spPr>
          <a:xfrm>
            <a:off x="6400800" y="1207008"/>
            <a:ext cx="5074920" cy="292608"/>
          </a:xfrm>
          <a:prstGeom prst="rect">
            <a:avLst/>
          </a:prstGeom>
          <a:noFill/>
          <a:ln/>
        </p:spPr>
        <p:txBody>
          <a:bodyPr wrap="square" lIns="0" tIns="0" rIns="0" bIns="0" rtlCol="0" anchor="ctr"/>
          <a:lstStyle/>
          <a:p>
            <a:pPr indent="0" marL="0">
              <a:buNone/>
            </a:pPr>
            <a:r>
              <a:rPr lang="en-US" sz="1300" b="1" dirty="0">
                <a:solidFill>
                  <a:srgbClr val="B45309"/>
                </a:solidFill>
              </a:rPr>
              <a:t>NAT Gateway</a:t>
            </a:r>
            <a:endParaRPr lang="en-US" sz="1300" dirty="0"/>
          </a:p>
        </p:txBody>
      </p:sp>
      <p:sp>
        <p:nvSpPr>
          <p:cNvPr id="9" name="Text 7"/>
          <p:cNvSpPr txBox="1"/>
          <p:nvPr/>
        </p:nvSpPr>
        <p:spPr>
          <a:xfrm>
            <a:off x="6400800" y="1517904"/>
            <a:ext cx="5074920" cy="4389120"/>
          </a:xfrm>
          <a:prstGeom prst="rect">
            <a:avLst/>
          </a:prstGeom>
          <a:noFill/>
          <a:ln/>
        </p:spPr>
        <p:txBody>
          <a:bodyPr wrap="square" lIns="0" tIns="0" rIns="0" bIns="0" rtlCol="0" anchor="t"/>
          <a:lstStyle/>
          <a:p>
            <a:pPr indent="0" marL="0">
              <a:buNone/>
            </a:pPr>
            <a:r>
              <a:rPr lang="en-US" sz="1500" dirty="0">
                <a:solidFill>
                  <a:srgbClr val="334155"/>
                </a:solidFill>
              </a:rPr>
              <a:t>Lets a private subnet call out (yum, APIs, GitHub) without being reachable in.</a:t>
            </a:r>
            <a:endParaRPr lang="en-US" sz="1500" dirty="0"/>
          </a:p>
          <a:p>
            <a:pPr indent="0" marL="0">
              <a:buNone/>
            </a:pPr>
            <a:endParaRPr lang="en-US" sz="1500" dirty="0"/>
          </a:p>
          <a:p>
            <a:pPr indent="0" marL="0">
              <a:buNone/>
            </a:pPr>
            <a:r>
              <a:rPr lang="en-US" sz="1500" dirty="0">
                <a:solidFill>
                  <a:srgbClr val="334155"/>
                </a:solidFill>
              </a:rPr>
              <a:t>Billed by the hour and by data, even if idle.</a:t>
            </a:r>
            <a:endParaRPr lang="en-US" sz="1500" dirty="0"/>
          </a:p>
          <a:p>
            <a:pPr indent="0" marL="0">
              <a:buNone/>
            </a:pPr>
            <a:endParaRPr lang="en-US" sz="1500" dirty="0"/>
          </a:p>
          <a:p>
            <a:pPr indent="0" marL="0">
              <a:buNone/>
            </a:pPr>
            <a:r>
              <a:rPr lang="en-US" sz="1500" dirty="0">
                <a:solidFill>
                  <a:srgbClr val="334155"/>
                </a:solidFill>
              </a:rPr>
              <a:t>Know it for interviews.</a:t>
            </a:r>
            <a:endParaRPr lang="en-US" sz="1500" dirty="0"/>
          </a:p>
          <a:p>
            <a:pPr indent="0" marL="0">
              <a:buNone/>
            </a:pPr>
            <a:endParaRPr lang="en-US" sz="1500" dirty="0"/>
          </a:p>
          <a:p>
            <a:pPr indent="0" marL="0">
              <a:buNone/>
            </a:pPr>
            <a:r>
              <a:rPr lang="en-US" sz="1500" dirty="0">
                <a:solidFill>
                  <a:srgbClr val="334155"/>
                </a:solidFill>
              </a:rPr>
              <a:t>Do not create it in this course.</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Why this course uses a public subnet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Cost</a:t>
            </a:r>
            <a:endParaRPr lang="en-US" sz="1100" dirty="0"/>
          </a:p>
        </p:txBody>
      </p:sp>
      <p:sp>
        <p:nvSpPr>
          <p:cNvPr id="4" name="Text 2"/>
          <p:cNvSpPr txBox="1"/>
          <p:nvPr/>
        </p:nvSpPr>
        <p:spPr>
          <a:xfrm>
            <a:off x="502920" y="1024128"/>
            <a:ext cx="11155680" cy="1280160"/>
          </a:xfrm>
          <a:prstGeom prst="rect">
            <a:avLst/>
          </a:prstGeom>
          <a:noFill/>
          <a:ln/>
        </p:spPr>
        <p:txBody>
          <a:bodyPr wrap="square" lIns="0" tIns="0" rIns="0" bIns="0" rtlCol="0" anchor="t"/>
          <a:lstStyle/>
          <a:p>
            <a:pPr indent="0" marL="0">
              <a:buNone/>
            </a:pPr>
            <a:r>
              <a:rPr lang="en-US" sz="1600" dirty="0">
                <a:solidFill>
                  <a:srgbClr val="334155"/>
                </a:solidFill>
              </a:rPr>
              <a:t>A private subnet is “more hidden,” but then the VM cannot install packages unless you add NAT. NAT is the usual extra bill that surprises beginners. We lock the door (security group: SSH from My IP only) instead of hiding the house behind NAT.</a:t>
            </a:r>
            <a:endParaRPr lang="en-US" sz="1600" dirty="0"/>
          </a:p>
        </p:txBody>
      </p:sp>
      <p:sp>
        <p:nvSpPr>
          <p:cNvPr id="5" name="Shape 3"/>
          <p:cNvSpPr/>
          <p:nvPr/>
        </p:nvSpPr>
        <p:spPr>
          <a:xfrm>
            <a:off x="502920" y="2468880"/>
            <a:ext cx="11155680" cy="3566160"/>
          </a:xfrm>
          <a:prstGeom prst="roundRect">
            <a:avLst>
              <a:gd name="adj" fmla="val 2051"/>
            </a:avLst>
          </a:prstGeom>
          <a:solidFill>
            <a:srgbClr val="0F172A"/>
          </a:solidFill>
          <a:ln/>
        </p:spPr>
      </p:sp>
      <p:sp>
        <p:nvSpPr>
          <p:cNvPr id="6" name="Text 4"/>
          <p:cNvSpPr txBox="1"/>
          <p:nvPr/>
        </p:nvSpPr>
        <p:spPr>
          <a:xfrm>
            <a:off x="685800" y="2578608"/>
            <a:ext cx="10789920" cy="292608"/>
          </a:xfrm>
          <a:prstGeom prst="rect">
            <a:avLst/>
          </a:prstGeom>
          <a:noFill/>
          <a:ln/>
        </p:spPr>
        <p:txBody>
          <a:bodyPr wrap="square" lIns="0" tIns="0" rIns="0" bIns="0" rtlCol="0" anchor="ctr"/>
          <a:lstStyle/>
          <a:p>
            <a:pPr indent="0" marL="0">
              <a:buNone/>
            </a:pPr>
            <a:r>
              <a:rPr lang="en-US" sz="1300" b="1" dirty="0">
                <a:solidFill>
                  <a:srgbClr val="5EEAD4"/>
                </a:solidFill>
              </a:rPr>
              <a:t>Free Tier picture</a:t>
            </a:r>
            <a:endParaRPr lang="en-US" sz="1300" dirty="0"/>
          </a:p>
        </p:txBody>
      </p:sp>
      <p:sp>
        <p:nvSpPr>
          <p:cNvPr id="7" name="Text 5"/>
          <p:cNvSpPr txBox="1"/>
          <p:nvPr/>
        </p:nvSpPr>
        <p:spPr>
          <a:xfrm>
            <a:off x="685800" y="2889504"/>
            <a:ext cx="10789920" cy="3017520"/>
          </a:xfrm>
          <a:prstGeom prst="rect">
            <a:avLst/>
          </a:prstGeom>
          <a:noFill/>
          <a:ln/>
        </p:spPr>
        <p:txBody>
          <a:bodyPr wrap="square" lIns="0" tIns="0" rIns="0" bIns="0" rtlCol="0" anchor="t"/>
          <a:lstStyle/>
          <a:p>
            <a:pPr indent="0" marL="0">
              <a:buNone/>
            </a:pPr>
            <a:r>
              <a:rPr lang="en-US" sz="1500" dirty="0">
                <a:solidFill>
                  <a:srgbClr val="E2E8F0"/>
                </a:solidFill>
              </a:rPr>
              <a:t>Internet → Internet Gateway → public subnet 10.0.1.0/24 → one t3.micro with a public IP</a:t>
            </a:r>
            <a:endParaRPr lang="en-US" sz="1500" dirty="0"/>
          </a:p>
          <a:p>
            <a:pPr indent="0" marL="0">
              <a:buNone/>
            </a:pPr>
            <a:r>
              <a:rPr lang="en-US" sz="1500" dirty="0">
                <a:solidFill>
                  <a:srgbClr val="E2E8F0"/>
                </a:solidFill>
              </a:rPr>
              <a:t>Security group: port 22 from My IP. Never 0.0.0.0/0 on SSH.</a:t>
            </a:r>
            <a:endParaRPr lang="en-US" sz="1500" dirty="0"/>
          </a:p>
          <a:p>
            <a:pPr indent="0" marL="0">
              <a:buNone/>
            </a:pPr>
            <a:endParaRPr lang="en-US" sz="1500" dirty="0"/>
          </a:p>
          <a:p>
            <a:pPr indent="0" marL="0">
              <a:buNone/>
            </a:pPr>
            <a:r>
              <a:rPr lang="en-US" sz="1500" dirty="0">
                <a:solidFill>
                  <a:srgbClr val="E2E8F0"/>
                </a:solidFill>
              </a:rPr>
              <a:t>That is enough to practise. Lecture 4 clicks this and then STOPS the VM.</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Public IP vs Elastic / sticky IP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Cloud addresses</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051560"/>
          <a:ext cx="11173968" cy="914400"/>
        </p:xfrm>
        <a:graphic>
          <a:graphicData uri="http://schemas.openxmlformats.org/drawingml/2006/table">
            <a:tbl>
              <a:tblPr/>
              <a:tblGrid>
                <a:gridCol w="2834640"/>
                <a:gridCol w="2697480"/>
                <a:gridCol w="2788920"/>
                <a:gridCol w="2852928"/>
              </a:tblGrid>
              <a:tr h="0">
                <a:tc>
                  <a:txBody>
                    <a:bodyPr/>
                    <a:lstStyle/>
                    <a:p>
                      <a:pPr algn="l" indent="0" marL="0">
                        <a:buNone/>
                      </a:pP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Private IP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Public IP (auto)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Elastic / reserved public IP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Who can route to 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Only the VPC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The internet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The internet, and it stays yours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When the VM stops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Kept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Often released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You keep it (spare unused can still be billed)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This course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Always there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Auto-assign on the micro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Do not allocate a spare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5" name="Text 2"/>
          <p:cNvSpPr txBox="1"/>
          <p:nvPr/>
        </p:nvSpPr>
        <p:spPr>
          <a:xfrm>
            <a:off x="502920" y="5669280"/>
            <a:ext cx="11155680" cy="640080"/>
          </a:xfrm>
          <a:prstGeom prst="rect">
            <a:avLst/>
          </a:prstGeom>
          <a:noFill/>
          <a:ln/>
        </p:spPr>
        <p:txBody>
          <a:bodyPr wrap="square" lIns="0" tIns="0" rIns="0" bIns="0" rtlCol="0" anchor="t"/>
          <a:lstStyle/>
          <a:p>
            <a:pPr indent="0" marL="0">
              <a:buNone/>
            </a:pPr>
            <a:r>
              <a:rPr lang="en-US" sz="1600" dirty="0">
                <a:solidFill>
                  <a:srgbClr val="334155"/>
                </a:solidFill>
              </a:rPr>
              <a:t>Azure says Public IP. GCP says External IP. Same idea as Elastic IP: a sticky address. 0.0.0.0/0 is the whole internet — never open SSH to it.</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Security group vs NACL</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Firewalls</a:t>
            </a:r>
            <a:endParaRPr lang="en-US" sz="1100" dirty="0"/>
          </a:p>
        </p:txBody>
      </p:sp>
      <p:sp>
        <p:nvSpPr>
          <p:cNvPr id="4" name="Text 2"/>
          <p:cNvSpPr txBox="1"/>
          <p:nvPr/>
        </p:nvSpPr>
        <p:spPr>
          <a:xfrm>
            <a:off x="502920" y="1024128"/>
            <a:ext cx="11155680" cy="1051560"/>
          </a:xfrm>
          <a:prstGeom prst="rect">
            <a:avLst/>
          </a:prstGeom>
          <a:noFill/>
          <a:ln/>
        </p:spPr>
        <p:txBody>
          <a:bodyPr wrap="square" lIns="0" tIns="0" rIns="0" bIns="0" rtlCol="0" anchor="t"/>
          <a:lstStyle/>
          <a:p>
            <a:pPr indent="0" marL="0">
              <a:buNone/>
            </a:pPr>
            <a:r>
              <a:rPr lang="en-US" sz="1600" dirty="0">
                <a:solidFill>
                  <a:srgbClr val="334155"/>
                </a:solidFill>
              </a:rPr>
              <a:t>Ingress = traffic in. Egress = traffic out. A security group remembers the conversation: allow SSH in, and the reply is allowed out automatically. A NACL does not: you must allow both directions yourself.</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2240280"/>
          <a:ext cx="11173968" cy="914400"/>
        </p:xfrm>
        <a:graphic>
          <a:graphicData uri="http://schemas.openxmlformats.org/drawingml/2006/table">
            <a:tbl>
              <a:tblPr/>
              <a:tblGrid>
                <a:gridCol w="2286000"/>
                <a:gridCol w="4937760"/>
                <a:gridCol w="3950208"/>
              </a:tblGrid>
              <a:tr h="0">
                <a:tc>
                  <a:txBody>
                    <a:bodyPr/>
                    <a:lstStyle/>
                    <a:p>
                      <a:pPr algn="l" indent="0" marL="0">
                        <a:buNone/>
                      </a:pP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Security group / NSG / VPC firewall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NACL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Sits 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 VM / NIC</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 subnet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Remembers the conversation?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Default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Deny in unless you add a rule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Allow (default NACL on AWS)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This course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This is the one we design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Know the name. Do not build with 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VPC endpoint / PrivateLink: AWS without the internet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Endpoints</a:t>
            </a:r>
            <a:endParaRPr lang="en-US" sz="1100" dirty="0"/>
          </a:p>
        </p:txBody>
      </p:sp>
      <p:sp>
        <p:nvSpPr>
          <p:cNvPr id="4" name="Text 2"/>
          <p:cNvSpPr txBox="1"/>
          <p:nvPr/>
        </p:nvSpPr>
        <p:spPr>
          <a:xfrm>
            <a:off x="502920" y="1024128"/>
            <a:ext cx="11155680" cy="1097280"/>
          </a:xfrm>
          <a:prstGeom prst="rect">
            <a:avLst/>
          </a:prstGeom>
          <a:noFill/>
          <a:ln/>
        </p:spPr>
        <p:txBody>
          <a:bodyPr wrap="square" lIns="0" tIns="0" rIns="0" bIns="0" rtlCol="0" anchor="t"/>
          <a:lstStyle/>
          <a:p>
            <a:pPr indent="0" marL="0">
              <a:buNone/>
            </a:pPr>
            <a:r>
              <a:rPr lang="en-US" sz="1600" dirty="0">
                <a:solidFill>
                  <a:srgbClr val="334155"/>
                </a:solidFill>
              </a:rPr>
              <a:t>Sometimes a private subnet needs S3 or Secrets Manager without NAT and without a public IP. A VPC endpoint is a private door from your VPC into an AWS service (or into someone else’s service).</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286000"/>
          <a:ext cx="11173968" cy="914400"/>
        </p:xfrm>
        <a:graphic>
          <a:graphicData uri="http://schemas.openxmlformats.org/drawingml/2006/table">
            <a:tbl>
              <a:tblPr/>
              <a:tblGrid>
                <a:gridCol w="3200400"/>
                <a:gridCol w="4023360"/>
                <a:gridCol w="395020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Kind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How it looks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Typical use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Gateway endpoint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route in the route table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S3, DynamoDB (AWS)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Interface endpoint (PrivateLink)</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private network card in your subnet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Most other AWS APIs, or a SaaS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Azure Private Endpoint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private IP for a cloud service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Storage, Key Vault, privately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GCP Private Service Connect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Private IP in your VPC to a service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Same idea</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715000"/>
            <a:ext cx="11155680" cy="594360"/>
          </a:xfrm>
          <a:prstGeom prst="rect">
            <a:avLst/>
          </a:prstGeom>
          <a:noFill/>
          <a:ln/>
        </p:spPr>
        <p:txBody>
          <a:bodyPr wrap="square" lIns="0" tIns="0" rIns="0" bIns="0" rtlCol="0" anchor="t"/>
          <a:lstStyle/>
          <a:p>
            <a:pPr indent="0" marL="0">
              <a:buNone/>
            </a:pPr>
            <a:r>
              <a:rPr lang="en-US" sz="1600" dirty="0">
                <a:solidFill>
                  <a:srgbClr val="334155"/>
                </a:solidFill>
              </a:rPr>
              <a:t>We do not create endpoints in this course. If an interview says PrivateLink, say: “private path to a service, no public internet.”</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Flow logs: a diary of allow and deny</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Flow logs</a:t>
            </a:r>
            <a:endParaRPr lang="en-US" sz="1100" dirty="0"/>
          </a:p>
        </p:txBody>
      </p:sp>
      <p:sp>
        <p:nvSpPr>
          <p:cNvPr id="4" name="Text 2"/>
          <p:cNvSpPr txBox="1"/>
          <p:nvPr/>
        </p:nvSpPr>
        <p:spPr>
          <a:xfrm>
            <a:off x="502920" y="1024128"/>
            <a:ext cx="11155680" cy="1143000"/>
          </a:xfrm>
          <a:prstGeom prst="rect">
            <a:avLst/>
          </a:prstGeom>
          <a:noFill/>
          <a:ln/>
        </p:spPr>
        <p:txBody>
          <a:bodyPr wrap="square" lIns="0" tIns="0" rIns="0" bIns="0" rtlCol="0" anchor="t"/>
          <a:lstStyle/>
          <a:p>
            <a:pPr indent="0" marL="0">
              <a:buNone/>
            </a:pPr>
            <a:r>
              <a:rPr lang="en-US" sz="1600" dirty="0">
                <a:solidFill>
                  <a:srgbClr val="334155"/>
                </a:solidFill>
              </a:rPr>
              <a:t>When a connection times out, you often cannot see why. Flow logs record who talked to whom, which port, and whether the firewall accepted or rejected. They are for debugging, not for carrying traffic.</a:t>
            </a:r>
            <a:endParaRPr lang="en-US" sz="1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73968" cy="914400"/>
        </p:xfrm>
        <a:graphic>
          <a:graphicData uri="http://schemas.openxmlformats.org/drawingml/2006/table">
            <a:tbl>
              <a:tblPr/>
              <a:tblGrid>
                <a:gridCol w="2194560"/>
                <a:gridCol w="3017520"/>
                <a:gridCol w="596188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Cloud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read them when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AWS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VPC Flow Logs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SSH times out and you suspect the security group or NACL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Azure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NSG flow logs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Same question on a VNet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GCP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VPC Flow Logs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Same question on a GCP VPC</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715000"/>
            <a:ext cx="11155680" cy="594360"/>
          </a:xfrm>
          <a:prstGeom prst="rect">
            <a:avLst/>
          </a:prstGeom>
          <a:noFill/>
          <a:ln/>
        </p:spPr>
        <p:txBody>
          <a:bodyPr wrap="square" lIns="0" tIns="0" rIns="0" bIns="0" rtlCol="0" anchor="t"/>
          <a:lstStyle/>
          <a:p>
            <a:pPr indent="0" marL="0">
              <a:buNone/>
            </a:pPr>
            <a:r>
              <a:rPr lang="en-US" sz="1600" dirty="0">
                <a:solidFill>
                  <a:srgbClr val="334155"/>
                </a:solidFill>
              </a:rPr>
              <a:t>ACCEPT vs REJECT in the log is the useful bit. We do not enable them in class (they write to storage and can cost a little).</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WAF is not a security group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WAF</a:t>
            </a:r>
            <a:endParaRPr lang="en-US" sz="1100" dirty="0"/>
          </a:p>
        </p:txBody>
      </p:sp>
      <p:sp>
        <p:nvSpPr>
          <p:cNvPr id="4" name="Shape 2"/>
          <p:cNvSpPr/>
          <p:nvPr/>
        </p:nvSpPr>
        <p:spPr>
          <a:xfrm>
            <a:off x="502920" y="1097280"/>
            <a:ext cx="5532120" cy="4937760"/>
          </a:xfrm>
          <a:prstGeom prst="roundRect">
            <a:avLst>
              <a:gd name="adj" fmla="val 1481"/>
            </a:avLst>
          </a:prstGeom>
          <a:solidFill>
            <a:srgbClr val="ECFDF5"/>
          </a:solidFill>
          <a:ln/>
        </p:spPr>
      </p:sp>
      <p:sp>
        <p:nvSpPr>
          <p:cNvPr id="5" name="Text 3"/>
          <p:cNvSpPr txBox="1"/>
          <p:nvPr/>
        </p:nvSpPr>
        <p:spPr>
          <a:xfrm>
            <a:off x="685800" y="1207008"/>
            <a:ext cx="5166360" cy="292608"/>
          </a:xfrm>
          <a:prstGeom prst="rect">
            <a:avLst/>
          </a:prstGeom>
          <a:noFill/>
          <a:ln/>
        </p:spPr>
        <p:txBody>
          <a:bodyPr wrap="square" lIns="0" tIns="0" rIns="0" bIns="0" rtlCol="0" anchor="ctr"/>
          <a:lstStyle/>
          <a:p>
            <a:pPr indent="0" marL="0">
              <a:buNone/>
            </a:pPr>
            <a:r>
              <a:rPr lang="en-US" sz="1300" b="1" dirty="0">
                <a:solidFill>
                  <a:srgbClr val="0F766E"/>
                </a:solidFill>
              </a:rPr>
              <a:t>Security group / NSG</a:t>
            </a:r>
            <a:endParaRPr lang="en-US" sz="1300" dirty="0"/>
          </a:p>
        </p:txBody>
      </p:sp>
      <p:sp>
        <p:nvSpPr>
          <p:cNvPr id="6" name="Text 4"/>
          <p:cNvSpPr txBox="1"/>
          <p:nvPr/>
        </p:nvSpPr>
        <p:spPr>
          <a:xfrm>
            <a:off x="685800" y="1517904"/>
            <a:ext cx="5166360" cy="4389120"/>
          </a:xfrm>
          <a:prstGeom prst="rect">
            <a:avLst/>
          </a:prstGeom>
          <a:noFill/>
          <a:ln/>
        </p:spPr>
        <p:txBody>
          <a:bodyPr wrap="square" lIns="0" tIns="0" rIns="0" bIns="0" rtlCol="0" anchor="t"/>
          <a:lstStyle/>
          <a:p>
            <a:pPr indent="0" marL="0">
              <a:buNone/>
            </a:pPr>
            <a:r>
              <a:rPr lang="en-US" sz="1500" dirty="0">
                <a:solidFill>
                  <a:srgbClr val="334155"/>
                </a:solidFill>
              </a:rPr>
              <a:t>Looks at IP and port.</a:t>
            </a:r>
            <a:endParaRPr lang="en-US" sz="1500" dirty="0"/>
          </a:p>
          <a:p>
            <a:pPr indent="0" marL="0">
              <a:buNone/>
            </a:pPr>
            <a:endParaRPr lang="en-US" sz="1500" dirty="0"/>
          </a:p>
          <a:p>
            <a:pPr indent="0" marL="0">
              <a:buNone/>
            </a:pPr>
            <a:r>
              <a:rPr lang="en-US" sz="1500" dirty="0">
                <a:solidFill>
                  <a:srgbClr val="334155"/>
                </a:solidFill>
              </a:rPr>
              <a:t>“May 203.0.113.10 talk to port 443?”</a:t>
            </a:r>
            <a:endParaRPr lang="en-US" sz="1500" dirty="0"/>
          </a:p>
          <a:p>
            <a:pPr indent="0" marL="0">
              <a:buNone/>
            </a:pPr>
            <a:endParaRPr lang="en-US" sz="1500" dirty="0"/>
          </a:p>
          <a:p>
            <a:pPr indent="0" marL="0">
              <a:buNone/>
            </a:pPr>
            <a:r>
              <a:rPr lang="en-US" sz="1500" dirty="0">
                <a:solidFill>
                  <a:srgbClr val="334155"/>
                </a:solidFill>
              </a:rPr>
              <a:t>Knows nothing about SQL injection in the HTTP body.</a:t>
            </a:r>
            <a:endParaRPr lang="en-US" sz="1500" dirty="0"/>
          </a:p>
          <a:p>
            <a:pPr indent="0" marL="0">
              <a:buNone/>
            </a:pPr>
            <a:endParaRPr lang="en-US" sz="1500" dirty="0"/>
          </a:p>
          <a:p>
            <a:pPr indent="0" marL="0">
              <a:buNone/>
            </a:pPr>
            <a:r>
              <a:rPr lang="en-US" sz="1500" dirty="0">
                <a:solidFill>
                  <a:srgbClr val="334155"/>
                </a:solidFill>
              </a:rPr>
              <a:t>This is the one we use in class.</a:t>
            </a:r>
            <a:endParaRPr lang="en-US" sz="1500" dirty="0"/>
          </a:p>
        </p:txBody>
      </p:sp>
      <p:sp>
        <p:nvSpPr>
          <p:cNvPr id="7" name="Shape 5"/>
          <p:cNvSpPr/>
          <p:nvPr/>
        </p:nvSpPr>
        <p:spPr>
          <a:xfrm>
            <a:off x="6217920" y="1097280"/>
            <a:ext cx="5440680" cy="4937760"/>
          </a:xfrm>
          <a:prstGeom prst="roundRect">
            <a:avLst>
              <a:gd name="adj" fmla="val 1481"/>
            </a:avLst>
          </a:prstGeom>
          <a:solidFill>
            <a:srgbClr val="FEF3C7"/>
          </a:solidFill>
          <a:ln/>
        </p:spPr>
      </p:sp>
      <p:sp>
        <p:nvSpPr>
          <p:cNvPr id="8" name="Text 6"/>
          <p:cNvSpPr txBox="1"/>
          <p:nvPr/>
        </p:nvSpPr>
        <p:spPr>
          <a:xfrm>
            <a:off x="6400800" y="1207008"/>
            <a:ext cx="5074920" cy="292608"/>
          </a:xfrm>
          <a:prstGeom prst="rect">
            <a:avLst/>
          </a:prstGeom>
          <a:noFill/>
          <a:ln/>
        </p:spPr>
        <p:txBody>
          <a:bodyPr wrap="square" lIns="0" tIns="0" rIns="0" bIns="0" rtlCol="0" anchor="ctr"/>
          <a:lstStyle/>
          <a:p>
            <a:pPr indent="0" marL="0">
              <a:buNone/>
            </a:pPr>
            <a:r>
              <a:rPr lang="en-US" sz="1300" b="1" dirty="0">
                <a:solidFill>
                  <a:srgbClr val="B45309"/>
                </a:solidFill>
              </a:rPr>
              <a:t>WAF (Web Application Firewall)</a:t>
            </a:r>
            <a:endParaRPr lang="en-US" sz="1300" dirty="0"/>
          </a:p>
        </p:txBody>
      </p:sp>
      <p:sp>
        <p:nvSpPr>
          <p:cNvPr id="9" name="Text 7"/>
          <p:cNvSpPr txBox="1"/>
          <p:nvPr/>
        </p:nvSpPr>
        <p:spPr>
          <a:xfrm>
            <a:off x="6400800" y="1517904"/>
            <a:ext cx="5074920" cy="4389120"/>
          </a:xfrm>
          <a:prstGeom prst="rect">
            <a:avLst/>
          </a:prstGeom>
          <a:noFill/>
          <a:ln/>
        </p:spPr>
        <p:txBody>
          <a:bodyPr wrap="square" lIns="0" tIns="0" rIns="0" bIns="0" rtlCol="0" anchor="t"/>
          <a:lstStyle/>
          <a:p>
            <a:pPr indent="0" marL="0">
              <a:buNone/>
            </a:pPr>
            <a:r>
              <a:rPr lang="en-US" sz="1500" dirty="0">
                <a:solidFill>
                  <a:srgbClr val="334155"/>
                </a:solidFill>
              </a:rPr>
              <a:t>Looks at the HTTP request.</a:t>
            </a:r>
            <a:endParaRPr lang="en-US" sz="1500" dirty="0"/>
          </a:p>
          <a:p>
            <a:pPr indent="0" marL="0">
              <a:buNone/>
            </a:pPr>
            <a:endParaRPr lang="en-US" sz="1500" dirty="0"/>
          </a:p>
          <a:p>
            <a:pPr indent="0" marL="0">
              <a:buNone/>
            </a:pPr>
            <a:r>
              <a:rPr lang="en-US" sz="1500" dirty="0">
                <a:solidFill>
                  <a:srgbClr val="334155"/>
                </a:solidFill>
              </a:rPr>
              <a:t>“Is this GET trying SQL injection or XSS?”</a:t>
            </a:r>
            <a:endParaRPr lang="en-US" sz="1500" dirty="0"/>
          </a:p>
          <a:p>
            <a:pPr indent="0" marL="0">
              <a:buNone/>
            </a:pPr>
            <a:endParaRPr lang="en-US" sz="1500" dirty="0"/>
          </a:p>
          <a:p>
            <a:pPr indent="0" marL="0">
              <a:buNone/>
            </a:pPr>
            <a:r>
              <a:rPr lang="en-US" sz="1500" dirty="0">
                <a:solidFill>
                  <a:srgbClr val="334155"/>
                </a:solidFill>
              </a:rPr>
              <a:t>AWS WAF, Azure WAF, Google Cloud Armor.</a:t>
            </a:r>
            <a:endParaRPr lang="en-US" sz="1500" dirty="0"/>
          </a:p>
          <a:p>
            <a:pPr indent="0" marL="0">
              <a:buNone/>
            </a:pPr>
            <a:endParaRPr lang="en-US" sz="1500" dirty="0"/>
          </a:p>
          <a:p>
            <a:pPr indent="0" marL="0">
              <a:buNone/>
            </a:pPr>
            <a:r>
              <a:rPr lang="en-US" sz="1500" dirty="0">
                <a:solidFill>
                  <a:srgbClr val="334155"/>
                </a:solidFill>
              </a:rPr>
              <a:t>Usually sits on a load balancer. Billed. Names only.</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Load balancer and cloud DNS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In front of the app</a:t>
            </a:r>
            <a:endParaRPr lang="en-US" sz="11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051560"/>
          <a:ext cx="11173968" cy="914400"/>
        </p:xfrm>
        <a:graphic>
          <a:graphicData uri="http://schemas.openxmlformats.org/drawingml/2006/table">
            <a:tbl>
              <a:tblPr/>
              <a:tblGrid>
                <a:gridCol w="3200400"/>
                <a:gridCol w="4754880"/>
                <a:gridCol w="321868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Thing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Job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This course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Reverse proxy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nginx (or similar) forwards to the app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Name 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Application load balancer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HTTP/HTTPS, path rules, many VMs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Skip creating; billed (ALB / App Gateway)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Network load balancer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Raw ports, very fast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AWS NLB — interview name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Cloud DNS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example.com → LB or VM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Route 53 / Azure DNS / Cloud DNS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5" name="Text 2"/>
          <p:cNvSpPr txBox="1"/>
          <p:nvPr/>
        </p:nvSpPr>
        <p:spPr>
          <a:xfrm>
            <a:off x="502920" y="5669280"/>
            <a:ext cx="11155680" cy="640080"/>
          </a:xfrm>
          <a:prstGeom prst="rect">
            <a:avLst/>
          </a:prstGeom>
          <a:noFill/>
          <a:ln/>
        </p:spPr>
        <p:txBody>
          <a:bodyPr wrap="square" lIns="0" tIns="0" rIns="0" bIns="0" rtlCol="0" anchor="t"/>
          <a:lstStyle/>
          <a:p>
            <a:pPr indent="0" marL="0">
              <a:buNone/>
            </a:pPr>
            <a:r>
              <a:rPr lang="en-US" sz="1600" dirty="0">
                <a:solidFill>
                  <a:srgbClr val="334155"/>
                </a:solidFill>
              </a:rPr>
              <a:t>A load balancer also does health checks: if one VM fails /health, it stops sending it traffic. That is why lecture 2 had GET /health.</a:t>
            </a:r>
            <a:endParaRPr lang="en-US" sz="1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Connecting networks (names only)</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Extra doors</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024128"/>
          <a:ext cx="11173968" cy="914400"/>
        </p:xfrm>
        <a:graphic>
          <a:graphicData uri="http://schemas.openxmlformats.org/drawingml/2006/table">
            <a:tbl>
              <a:tblPr/>
              <a:tblGrid>
                <a:gridCol w="4389120"/>
                <a:gridCol w="678484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Thing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When you hear it at work</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VPC / VNet peering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Two cloud networks talk privately (same or different accounts)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Site-to-site VPN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Office network to the VPC, encrypted over the internet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Client VPN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laptop joins the VPC (not the same as site-to-site)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Direct Connect / ExpressRoute / Interconnect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Private fibre from office to cloud — not a lab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Bastion / jump host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locked public VM used only to reach private VMs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Transit Gateway / Virtual WAN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hub for many VPCs — skip for beginners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Draw this picture (no lab — just understand it)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Picture</a:t>
            </a:r>
            <a:endParaRPr lang="en-US" sz="1100" dirty="0"/>
          </a:p>
        </p:txBody>
      </p:sp>
      <p:sp>
        <p:nvSpPr>
          <p:cNvPr id="4" name="Shape 2"/>
          <p:cNvSpPr/>
          <p:nvPr/>
        </p:nvSpPr>
        <p:spPr>
          <a:xfrm>
            <a:off x="502920" y="1051560"/>
            <a:ext cx="11155680" cy="4983480"/>
          </a:xfrm>
          <a:prstGeom prst="roundRect">
            <a:avLst>
              <a:gd name="adj" fmla="val 1468"/>
            </a:avLst>
          </a:prstGeom>
          <a:solidFill>
            <a:srgbClr val="0F172A"/>
          </a:solidFill>
          <a:ln/>
        </p:spPr>
      </p:sp>
      <p:sp>
        <p:nvSpPr>
          <p:cNvPr id="5" name="Text 3"/>
          <p:cNvSpPr txBox="1"/>
          <p:nvPr/>
        </p:nvSpPr>
        <p:spPr>
          <a:xfrm>
            <a:off x="685800" y="1161288"/>
            <a:ext cx="10789920" cy="292608"/>
          </a:xfrm>
          <a:prstGeom prst="rect">
            <a:avLst/>
          </a:prstGeom>
          <a:noFill/>
          <a:ln/>
        </p:spPr>
        <p:txBody>
          <a:bodyPr wrap="square" lIns="0" tIns="0" rIns="0" bIns="0" rtlCol="0" anchor="ctr"/>
          <a:lstStyle/>
          <a:p>
            <a:pPr indent="0" marL="0">
              <a:buNone/>
            </a:pPr>
            <a:r>
              <a:rPr lang="en-US" sz="1300" b="1" dirty="0">
                <a:solidFill>
                  <a:srgbClr val="5EEAD4"/>
                </a:solidFill>
              </a:rPr>
              <a:t>Internet → IGW → VPC 10.0.0.0/16</a:t>
            </a:r>
            <a:endParaRPr lang="en-US" sz="1300" dirty="0"/>
          </a:p>
        </p:txBody>
      </p:sp>
      <p:sp>
        <p:nvSpPr>
          <p:cNvPr id="6" name="Text 4"/>
          <p:cNvSpPr txBox="1"/>
          <p:nvPr/>
        </p:nvSpPr>
        <p:spPr>
          <a:xfrm>
            <a:off x="685800" y="1472184"/>
            <a:ext cx="10789920" cy="4434840"/>
          </a:xfrm>
          <a:prstGeom prst="rect">
            <a:avLst/>
          </a:prstGeom>
          <a:noFill/>
          <a:ln/>
        </p:spPr>
        <p:txBody>
          <a:bodyPr wrap="square" lIns="0" tIns="0" rIns="0" bIns="0" rtlCol="0" anchor="t"/>
          <a:lstStyle/>
          <a:p>
            <a:pPr indent="0" marL="0">
              <a:buNone/>
            </a:pPr>
            <a:r>
              <a:rPr lang="en-US" sz="1500" dirty="0">
                <a:solidFill>
                  <a:srgbClr val="E2E8F0"/>
                </a:solidFill>
              </a:rPr>
              <a:t>Public subnet 10.0.1.0/24  →  one VM + public IP  →  security group (SSH from My IP only)</a:t>
            </a:r>
            <a:endParaRPr lang="en-US" sz="1500" dirty="0"/>
          </a:p>
          <a:p>
            <a:pPr indent="0" marL="0">
              <a:buNone/>
            </a:pPr>
            <a:endParaRPr lang="en-US" sz="1500" dirty="0"/>
          </a:p>
          <a:p>
            <a:pPr indent="0" marL="0">
              <a:buNone/>
            </a:pPr>
            <a:r>
              <a:rPr lang="en-US" sz="1500" dirty="0">
                <a:solidFill>
                  <a:srgbClr val="E2E8F0"/>
                </a:solidFill>
              </a:rPr>
              <a:t>Private subnet 10.0.2.0/24  →  no public IP  →  would need NAT to call out  →  we do not create NAT</a:t>
            </a:r>
            <a:endParaRPr lang="en-US" sz="1500" dirty="0"/>
          </a:p>
          <a:p>
            <a:pPr indent="0" marL="0">
              <a:buNone/>
            </a:pPr>
            <a:endParaRPr lang="en-US" sz="1500" dirty="0"/>
          </a:p>
          <a:p>
            <a:pPr indent="0" marL="0">
              <a:buNone/>
            </a:pPr>
            <a:r>
              <a:rPr lang="en-US" sz="1500" dirty="0">
                <a:solidFill>
                  <a:srgbClr val="E2E8F0"/>
                </a:solidFill>
              </a:rPr>
              <a:t>Optional later ideas (not built): VPC endpoint to S3, flow logs for debug, WAF on a load balancer.</a:t>
            </a:r>
            <a:endParaRPr lang="en-US" sz="1500" dirty="0"/>
          </a:p>
          <a:p>
            <a:pPr indent="0" marL="0">
              <a:buNone/>
            </a:pPr>
            <a:endParaRPr lang="en-US" sz="1500" dirty="0"/>
          </a:p>
          <a:p>
            <a:pPr indent="0" marL="0">
              <a:buNone/>
            </a:pPr>
            <a:r>
              <a:rPr lang="en-US" sz="1500" dirty="0">
                <a:solidFill>
                  <a:srgbClr val="E2E8F0"/>
                </a:solidFill>
              </a:rPr>
              <a:t>Lecture 4: billing alarm, then click the public half on AWS, then STOP the VM.</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Say these in your own words</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If you can explain the example, you understood the slide.</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DNS, IP, port — spoken answers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Interview 1</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3291840"/>
                <a:gridCol w="788212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Say this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Path of a URL?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DNS turns the name into an IP. Then that computer, then a port, then HTTP. HTTPS means the path is encrypted.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What is DNS?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The phone book: example.com becomes a number. If DNS fails I never reach HTTP.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What is an IP?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The address of a computer. 127.0.0.1 is this laptop.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Public vs private IP?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Public can be reached from the internet. Private (10.x, 192.168.x) stays inside the network or VPC.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What is a port?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numbered door on an IP. 443 is HTTPS. 22 is SSH. 8080 was our class API.</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Refused vs timeout vs 403?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Refused = closed door. Timeout = silence. 403 = HTTP said no.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Cloud networking — spoken answers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Interview 2</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11173968" cy="914400"/>
        </p:xfrm>
        <a:graphic>
          <a:graphicData uri="http://schemas.openxmlformats.org/drawingml/2006/table">
            <a:tbl>
              <a:tblPr/>
              <a:tblGrid>
                <a:gridCol w="3291840"/>
                <a:gridCol w="7882128"/>
              </a:tblGrid>
              <a:tr h="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Say this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What is a VPC?</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Isolated network. AWS/GCP: VPC. Azure: VNet. CIDR e.g. 10.0.0.0/16.</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Public vs private subnet?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Public has 0.0.0.0/0 to an IGW. Private needs NAT to call out. Public vs private is the route, not the number.</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IGW vs NAT?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IGW is the door for public subnets. NAT is billed outbound for private subnets.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SG vs NACL?</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SG is the firewall on the VM and remembers the conversation. NACL is on the subnet and does not.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What is PrivateLink?</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A private path from the VPC to a service, without the public internet.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SG vs WAF?</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SG is IP and port. WAF reads the HTTP and blocks attacks like SQL injection.</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Why public subnet here?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NAT is billed. One public IP + security group locked to My IP.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02920" y="256032"/>
            <a:ext cx="11155680" cy="640080"/>
          </a:xfrm>
          <a:prstGeom prst="rect">
            <a:avLst/>
          </a:prstGeom>
          <a:noFill/>
          <a:ln/>
        </p:spPr>
        <p:txBody>
          <a:bodyPr wrap="square" lIns="0" tIns="0" rIns="0" bIns="0" rtlCol="0"/>
          <a:lstStyle/>
          <a:p>
            <a:pPr indent="0" marL="0">
              <a:buNone/>
            </a:pPr>
            <a:r>
              <a:rPr lang="en-US" sz="2600" b="1" dirty="0">
                <a:solidFill>
                  <a:schemeClr val="tx1"/>
                </a:solidFill>
              </a:rPr>
              <a:t>Before Lecture 4</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3  ·  Next</a:t>
            </a:r>
            <a:endParaRPr lang="en-US" sz="1100" dirty="0"/>
          </a:p>
        </p:txBody>
      </p:sp>
      <p:sp>
        <p:nvSpPr>
          <p:cNvPr id="4" name="Shape 2"/>
          <p:cNvSpPr/>
          <p:nvPr/>
        </p:nvSpPr>
        <p:spPr>
          <a:xfrm>
            <a:off x="502920" y="1097280"/>
            <a:ext cx="11155680" cy="4937760"/>
          </a:xfrm>
          <a:prstGeom prst="roundRect">
            <a:avLst>
              <a:gd name="adj" fmla="val 1481"/>
            </a:avLst>
          </a:prstGeom>
          <a:solidFill>
            <a:srgbClr val="ECFDF5"/>
          </a:solidFill>
          <a:ln/>
        </p:spPr>
      </p:sp>
      <p:sp>
        <p:nvSpPr>
          <p:cNvPr id="5" name="Text 3"/>
          <p:cNvSpPr txBox="1"/>
          <p:nvPr/>
        </p:nvSpPr>
        <p:spPr>
          <a:xfrm>
            <a:off x="685800" y="1207008"/>
            <a:ext cx="10789920" cy="292608"/>
          </a:xfrm>
          <a:prstGeom prst="rect">
            <a:avLst/>
          </a:prstGeom>
          <a:noFill/>
          <a:ln/>
        </p:spPr>
        <p:txBody>
          <a:bodyPr wrap="square" lIns="0" tIns="0" rIns="0" bIns="0" rtlCol="0" anchor="ctr"/>
          <a:lstStyle/>
          <a:p>
            <a:pPr indent="0" marL="0">
              <a:buNone/>
            </a:pPr>
            <a:r>
              <a:rPr lang="en-US" sz="1300" b="1" dirty="0">
                <a:solidFill>
                  <a:srgbClr val="0F766E"/>
                </a:solidFill>
              </a:rPr>
              <a:t>Be able to explain the picture out loud</a:t>
            </a:r>
            <a:endParaRPr lang="en-US" sz="1300" dirty="0"/>
          </a:p>
        </p:txBody>
      </p:sp>
      <p:sp>
        <p:nvSpPr>
          <p:cNvPr id="6" name="Text 4"/>
          <p:cNvSpPr txBox="1"/>
          <p:nvPr/>
        </p:nvSpPr>
        <p:spPr>
          <a:xfrm>
            <a:off x="685800" y="1517904"/>
            <a:ext cx="10789920" cy="4389120"/>
          </a:xfrm>
          <a:prstGeom prst="rect">
            <a:avLst/>
          </a:prstGeom>
          <a:noFill/>
          <a:ln/>
        </p:spPr>
        <p:txBody>
          <a:bodyPr wrap="square" lIns="0" tIns="0" rIns="0" bIns="0" rtlCol="0" anchor="t"/>
          <a:lstStyle/>
          <a:p>
            <a:pPr indent="0" marL="0">
              <a:buNone/>
            </a:pPr>
            <a:r>
              <a:rPr lang="en-US" sz="1500" dirty="0">
                <a:solidFill>
                  <a:srgbClr val="334155"/>
                </a:solidFill>
              </a:rPr>
              <a:t>Internet → IGW → public subnet → one VM + public IP + security group.</a:t>
            </a:r>
            <a:endParaRPr lang="en-US" sz="1500" dirty="0"/>
          </a:p>
          <a:p>
            <a:pPr indent="0" marL="0">
              <a:buNone/>
            </a:pPr>
            <a:r>
              <a:rPr lang="en-US" sz="1500" dirty="0">
                <a:solidFill>
                  <a:srgbClr val="334155"/>
                </a:solidFill>
              </a:rPr>
              <a:t>Private subnet would need NAT. We will not create NAT.</a:t>
            </a:r>
            <a:endParaRPr lang="en-US" sz="1500" dirty="0"/>
          </a:p>
          <a:p>
            <a:pPr indent="0" marL="0">
              <a:buNone/>
            </a:pPr>
            <a:endParaRPr lang="en-US" sz="1500" dirty="0"/>
          </a:p>
          <a:p>
            <a:pPr indent="0" marL="0">
              <a:buNone/>
            </a:pPr>
            <a:r>
              <a:rPr lang="en-US" sz="1500" dirty="0">
                <a:solidFill>
                  <a:srgbClr val="334155"/>
                </a:solidFill>
              </a:rPr>
              <a:t>Lecture 4 is AWS clicks: billing alarm first, then one micro in a public subnet, then STOP it.</a:t>
            </a:r>
            <a:endParaRPr lang="en-US" sz="1500" dirty="0"/>
          </a:p>
          <a:p>
            <a:pPr indent="0" marL="0">
              <a:buNone/>
            </a:pPr>
            <a:endParaRPr lang="en-US" sz="1500" dirty="0"/>
          </a:p>
          <a:p>
            <a:pPr indent="0" marL="0">
              <a:buNone/>
            </a:pPr>
            <a:r>
              <a:rPr lang="en-US" sz="1500" dirty="0">
                <a:solidFill>
                  <a:srgbClr val="334155"/>
                </a:solidFill>
              </a:rPr>
              <a:t>Bring an AWS account. Do not create a NAT Gateway even if a wizard offers one.</a:t>
            </a:r>
            <a:endParaRPr lang="en-US" sz="1500" dirty="0"/>
          </a:p>
          <a:p>
            <a:pPr indent="0" marL="0">
              <a:buNone/>
            </a:pPr>
            <a:r>
              <a:rPr lang="en-US" sz="1500" dirty="0">
                <a:solidFill>
                  <a:srgbClr val="334155"/>
                </a:solidFill>
              </a:rPr>
              <a:t>There is no homework command to run. Re-read any slide that still feels new.</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640080" y="1234440"/>
            <a:ext cx="3566160" cy="365760"/>
          </a:xfrm>
          <a:prstGeom prst="roundRect">
            <a:avLst>
              <a:gd name="adj" fmla="val 15000"/>
            </a:avLst>
          </a:prstGeom>
          <a:solidFill>
            <a:srgbClr val="0F766E"/>
          </a:solidFill>
          <a:ln/>
        </p:spPr>
      </p:sp>
      <p:sp>
        <p:nvSpPr>
          <p:cNvPr id="3" name="Text 1"/>
          <p:cNvSpPr txBox="1"/>
          <p:nvPr/>
        </p:nvSpPr>
        <p:spPr>
          <a:xfrm>
            <a:off x="640080" y="1234440"/>
            <a:ext cx="3566160" cy="365760"/>
          </a:xfrm>
          <a:prstGeom prst="rect">
            <a:avLst/>
          </a:prstGeom>
          <a:noFill/>
          <a:ln/>
        </p:spPr>
        <p:txBody>
          <a:bodyPr wrap="square" lIns="0" tIns="0" rIns="0" bIns="0" rtlCol="0" anchor="ctr"/>
          <a:lstStyle/>
          <a:p>
            <a:pPr algn="ctr" indent="0" marL="0">
              <a:buNone/>
            </a:pPr>
            <a:r>
              <a:rPr lang="en-US" sz="1100" b="1" dirty="0">
                <a:solidFill>
                  <a:srgbClr val="FFFFFF"/>
                </a:solidFill>
              </a:rPr>
              <a:t>END OF LECTURE 3</a:t>
            </a:r>
            <a:endParaRPr lang="en-US" sz="1100" dirty="0"/>
          </a:p>
        </p:txBody>
      </p:sp>
      <p:sp>
        <p:nvSpPr>
          <p:cNvPr id="4" name="Text 0"/>
          <p:cNvSpPr/>
          <p:nvPr>
            <p:ph idx="100" type="title" hasCustomPrompt="1"/>
          </p:nvPr>
        </p:nvSpPr>
        <p:spPr>
          <a:xfrm>
            <a:off x="640080" y="1828800"/>
            <a:ext cx="10881360" cy="1371600"/>
          </a:xfrm>
          <a:prstGeom prst="rect">
            <a:avLst/>
          </a:prstGeom>
          <a:noFill/>
          <a:ln/>
        </p:spPr>
        <p:txBody>
          <a:bodyPr wrap="square" lIns="0" tIns="0" rIns="0" bIns="0" rtlCol="0" anchor="b"/>
          <a:lstStyle/>
          <a:p>
            <a:pPr indent="0" marL="0">
              <a:buNone/>
            </a:pPr>
            <a:r>
              <a:rPr lang="en-US" sz="3400" b="1" dirty="0">
                <a:solidFill>
                  <a:schemeClr val="bg1"/>
                </a:solidFill>
              </a:rPr>
              <a:t>Name the step that failed</a:t>
            </a:r>
            <a:endParaRPr lang="en-US" sz="3400" dirty="0"/>
          </a:p>
        </p:txBody>
      </p:sp>
      <p:sp>
        <p:nvSpPr>
          <p:cNvPr id="5" name="Text 0"/>
          <p:cNvSpPr/>
          <p:nvPr>
            <p:ph idx="101" type="body" hasCustomPrompt="1"/>
          </p:nvPr>
        </p:nvSpPr>
        <p:spPr>
          <a:xfrm>
            <a:off x="640080" y="3291840"/>
            <a:ext cx="10515600" cy="1554480"/>
          </a:xfrm>
          <a:prstGeom prst="rect">
            <a:avLst/>
          </a:prstGeom>
          <a:noFill/>
          <a:ln/>
        </p:spPr>
        <p:txBody>
          <a:bodyPr wrap="square" lIns="0" tIns="0" rIns="0" bIns="0" rtlCol="0"/>
          <a:lstStyle/>
          <a:p>
            <a:pPr indent="0" marL="0">
              <a:buNone/>
            </a:pPr>
            <a:r>
              <a:rPr lang="en-US" sz="1800" dirty="0">
                <a:solidFill>
                  <a:srgbClr val="94A3B8"/>
                </a:solidFill>
              </a:rPr>
              <a:t>DNS, IP, port, or HTTP.</a:t>
            </a:r>
            <a:endParaRPr lang="en-US" sz="1800" dirty="0"/>
          </a:p>
          <a:p>
            <a:pPr indent="0" marL="0">
              <a:buNone/>
            </a:pPr>
            <a:r>
              <a:rPr lang="en-US" sz="1800" dirty="0">
                <a:solidFill>
                  <a:srgbClr val="94A3B8"/>
                </a:solidFill>
              </a:rPr>
              <a:t>Then the same boxes in the cloud.</a:t>
            </a:r>
            <a:endParaRPr lang="en-US" sz="1800" dirty="0"/>
          </a:p>
          <a:p>
            <a:pPr indent="0" marL="0">
              <a:buNone/>
            </a:pPr>
            <a:r>
              <a:rPr lang="en-US" sz="1800" dirty="0">
                <a:solidFill>
                  <a:srgbClr val="94A3B8"/>
                </a:solidFill>
              </a:rPr>
              <a:t>Lecture 4 is the AWS clicks.</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Ops Teal">
  <a:themeElements>
    <a:clrScheme name="Ops Teal">
      <a:dk1>
        <a:srgbClr val="0F172A"/>
      </a:dk1>
      <a:lt1>
        <a:srgbClr val="F8FAFC"/>
      </a:lt1>
      <a:dk2>
        <a:srgbClr val="334155"/>
      </a:dk2>
      <a:lt2>
        <a:srgbClr val="E2E8F0"/>
      </a:lt2>
      <a:accent1>
        <a:srgbClr val="0F766E"/>
      </a:accent1>
      <a:accent2>
        <a:srgbClr val="B45309"/>
      </a:accent2>
      <a:accent3>
        <a:srgbClr val="155E75"/>
      </a:accent3>
      <a:accent4>
        <a:srgbClr val="64748B"/>
      </a:accent4>
      <a:accent5>
        <a:srgbClr val="0D9488"/>
      </a:accent5>
      <a:accent6>
        <a:srgbClr val="1E293B"/>
      </a:accent6>
      <a:hlink>
        <a:srgbClr val="0F766E"/>
      </a:hlink>
      <a:folHlink>
        <a:srgbClr val="115E59"/>
      </a:folHlink>
    </a:clrScheme>
    <a:fontScheme name="Op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3: Networking</dc:title>
  <dc:subject>Student-readable lecture. DNS, IP, ports, then the same picture in the cloud.</dc:subject>
  <dc:creator>DevOps Foundation Course</dc:creator>
  <cp:lastModifiedBy>DevOps Foundation Course</cp:lastModifiedBy>
  <cp:revision>1</cp:revision>
  <dcterms:created xsi:type="dcterms:W3CDTF">2026-10-30T17:13:50Z</dcterms:created>
  <dcterms:modified xsi:type="dcterms:W3CDTF">2026-10-30T17:13:50Z</dcterms:modified>
</cp:coreProperties>
</file>