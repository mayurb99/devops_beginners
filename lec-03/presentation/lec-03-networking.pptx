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4fecd85-8913-8fcb-d6d7-f598ede7b414}">
          <p14:sldIdLst>
            <p14:sldId id="256"/>
            <p14:sldId id="257"/>
            <p14:sldId id="258"/>
          </p14:sldIdLst>
        </p14:section>
        <p14:section name="The path" id="{2d95cee5-6c7b-81cd-7bd4-89b99d21d1de}">
          <p14:sldIdLst>
            <p14:sldId id="259"/>
            <p14:sldId id="260"/>
            <p14:sldId id="261"/>
            <p14:sldId id="262"/>
            <p14:sldId id="263"/>
          </p14:sldIdLst>
        </p14:section>
        <p14:section name="Cloud network" id="{ba5e8780-a143-c562-2bca-e3ae54e28a91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Failures" id="{7f425fca-afcb-6bb9-b807-869d01d43c5d}">
          <p14:sldIdLst>
            <p14:sldId id="277"/>
            <p14:sldId id="278"/>
          </p14:sldIdLst>
        </p14:section>
        <p14:section name="Lab" id="{6a5ac280-f458-0def-fb74-b9bd11f99866}">
          <p14:sldIdLst>
            <p14:sldId id="279"/>
            <p14:sldId id="280"/>
          </p14:sldIdLst>
        </p14:section>
        <p14:section name="Interview and close" id="{91881539-a9a1-3b2d-340d-662627b17b8f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Subtitle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Section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Section note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Title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356616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LECTURE 03  ·  75 MINUTES  ·  READ THIS DECK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Networking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Module 1: Foundations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Laptop networking, then the same cloud picture on AWS, Azure, and GCP.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will and will not 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Scope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You will learn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path: DNS → IP → TCP port → TLS → HTTP.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VPC / VNet, CIDR, subnet, route table.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Internet Gateway vs NAT.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Security group / NSG / firewall.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Refused vs timeout vs 403.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Same picture on AWS, Azure, GCP.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Not today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Creating resources in the AWS console.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NAT Gateway, load balancer, EC2 (lecture 4 is the clicks).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VPN, Direct Connect, Transit Gateway as a lab.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Spending money.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75 minutes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Timing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67848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path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→ IP → port → TLS → HTTP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10–40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network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VPC, subnet, IGW, NAT, SG — all clouds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40–50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vs timeout vs 403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-v, then draw the VPC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70–75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Spoken answers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 URL is a journey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If you can name the step that failed, you can debug.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Five steps, always in this order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Path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840480"/>
                <a:gridCol w="5138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DNS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IP is this name?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→ 93.184.216.34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computer?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 is this laptop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TCP + 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door?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 for HTTPS, 8080 for notes-api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TLS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pipe encrypted?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the URL is https://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HTTP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Method, path, status?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/health → 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Lecture 2 started at step 5. Today we look at 1–4. 404 means step 5 worked. Connection refused means you never got to step 5.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DNS turns a name into an 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DNS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Humans type names. Computers connect to numbers. DNS is the phone book.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5532120" cy="3931920"/>
          </a:xfrm>
          <a:prstGeom prst="roundRect">
            <a:avLst>
              <a:gd name="adj" fmla="val 186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1214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Name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32304"/>
            <a:ext cx="5166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example.com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curl looks this up first.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If DNS fails, nothing else runs.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127.0.0.1 skips DNS: it already is an IP.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ECFD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1214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Number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432304"/>
            <a:ext cx="5074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An IPv4 address looks like 192.0.2.1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One machine can have more than one IP.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AWS later: public IP and private IP on the same EC2.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port is a door on that 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Ports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4133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 job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use it?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SSH, log into a Linux box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4, locked to My IP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now; often redirects to 443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internet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class notes-api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Two programs on one computer cannot both own the same port. If notes-api is on 8080, curl to 9 is a different door.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TCP connects. TLS encrypts.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TCP and TLS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TCP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handshake: can I talk to that IP and port?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Success: Connected to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Refused: that door is closed.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Timeout: silence (often a firewall drop).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TLS (HTTPS)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Only after TCP works.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It encrypts HTTP so people on the network cannot read the JSON or the API key.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Lecture 2: HTTPS is the same GET/POST, safer pipe.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same network on every cloud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Learn the picture. Names change. Lecture 4 clicks AWS.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Same boxes, three nameplates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All clouds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173968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2926080"/>
                <a:gridCol w="25786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private network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 (VNet)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of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Door to the internet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/ default route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subnet outbound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NAT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on the VM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firewall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public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in the 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NLB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 / App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Load Balancing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CIDR is how we write a block of IPs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CIDR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The number after the slash is how big the block is. Smaller slash number = more addresses. You do not need to memorise binary. Remember two examples.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5532120" cy="3794760"/>
          </a:xfrm>
          <a:prstGeom prst="roundRect">
            <a:avLst>
              <a:gd name="adj" fmla="val 1928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VPC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15184"/>
            <a:ext cx="5166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10.0.0.0/16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A large private range. Thousands of addresses.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This is the whole house.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ECFD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30428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Subnet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615184"/>
            <a:ext cx="50749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10.0.1.0/24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smaller slice inside the VPC.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This is one room. Public or private is decided by the route, not by the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VPC / VNet is your isolated network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VPC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Nothing in the internet can see inside unless you open a door. You choose the CIDR. Default VPC is a starter house AWS already built.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3957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AWS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06624"/>
            <a:ext cx="3291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VPC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Default VPC is fine for class.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3957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FBF1"/>
                </a:solidFill>
              </a:rPr>
              <a:t>Azure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706624"/>
            <a:ext cx="3291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Virtual Network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(VNet)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Same idea.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2286000"/>
            <a:ext cx="3474720" cy="3703320"/>
          </a:xfrm>
          <a:prstGeom prst="roundRect">
            <a:avLst>
              <a:gd name="adj" fmla="val 2105"/>
            </a:avLst>
          </a:prstGeom>
          <a:solidFill>
            <a:srgbClr val="155E7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3957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F3FC"/>
                </a:solidFill>
              </a:rPr>
              <a:t>GCP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706624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VPC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Can be global; subnets are regional.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Region and Availability Zone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Where a subnet lives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A Region is a geography (Mumbai, Virginia). An Availability Zone (AZ) is a data centre inside that Region. Pick one Region and stay there.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48840"/>
          <a:ext cx="11173968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8646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lives 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is regional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subnet = one 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VNet is regional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is in the VNet (not one AZ)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can be 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is regional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Interview line: “If I want two AZs for high availability, I need two public subnets in AWS.” We still launch only one micro in class.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Subnet: public vs private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Subnet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40416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subnet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subnet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to Internet Gateway?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public IP?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internet start a connection in?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SG allows the 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(not directly)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VM call the internet?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via IGW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NAT exists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course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micro lives 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draw it. We skip NAT.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Route table: who is the next hop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Routes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Every subnet has a route table. Local traffic stays in the VPC. The default route 0.0.0.0/0 means “everything else.”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73968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315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hop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 inside this VPC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0.0.0.0/0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subnet is public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0.0.0.0/0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subnet is private, outbound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Internet Gateway vs NAT Gateway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Gateways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Internet Gateway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Door on the VPC.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Public subnet + public IP + IGW = the VM can be reached from the internet (if the security group allows it).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IGW itself is not billed like NAT.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use this.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NAT Gateway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Lets a private subnet call out (yum, APIs) without being reachable in.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Billed by the hour and by data, even if idle.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Know it for interviews.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Do not create it in this course.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Public IP vs Elastic / sticky 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Addresses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07208"/>
                <a:gridCol w="2807208"/>
                <a:gridCol w="2816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/ reserved public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route to it?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internet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VPC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internet, and it stays yours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VM stops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released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keep it (can be billed if unused)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course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Auto-assign on the micro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there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allocate a spare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127.0.0.1 is this laptop. 10.x / 192.168.x are private. 0.0.0.0/0 is the whole internet — never open SSH to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Security group vs NACL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Firewalls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73968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846320"/>
                <a:gridCol w="39502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group (NSG / VPC firewall)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Sits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VM / NIC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subnet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allow in, reply is allowed 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you must allow both ways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 in unless you add a rule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(default NACL)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is the one we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the name; do not build with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Load balancer, proxy, cloud DNS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In front of the app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937760"/>
                <a:gridCol w="31272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 proxy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(or similar) forwards to the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public name, many healthy VMs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creating; billed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vs NLB (AWS)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= HTTP. NLB = TCP / raw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names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53 / Azure DNS / Cloud DNS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→ LB or 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Connecting networks (names only)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Extra doors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73968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19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you hear it at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/ VNet peering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networks in the cloud talk privately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or laptop to the VPC over the internet, encrypted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 / ExpressRoute / Interconnect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fibre from office to cloud — not a lab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/ jump host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locked public VM used to reach private VMs — we skip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hub for many VPCs — skip for beginners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If you can draw VPC, subnet, IGW, NAT, and SG, you are ready for junior DevOps interviews on networking.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Draw this (lab H)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Picture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4983480"/>
          </a:xfrm>
          <a:prstGeom prst="roundRect">
            <a:avLst>
              <a:gd name="adj" fmla="val 1468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612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Internet → IGW → VPC 10.0.0.0/16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472184"/>
            <a:ext cx="1078992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Public subnet 10.0.1.0/24  →  one VM + public IP  →  security group (SSH from My IP only)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Private subnet 10.0.2.0/24  →  no public IP  →  would need NAT to call out  →  we do not create NAT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Lecture 4: we click the public half on AWS and STOP the VM.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Name the failure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This is the whole skill for today.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Refused vs timeout vs 403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Failures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11680"/>
                <a:gridCol w="3383280"/>
                <a:gridCol w="3310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HTTP start?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refused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listening on that 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:9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Timed 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/ filter / dead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192.0.2.1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understood you, said 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httpbin.org/status/403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2 /does-not-exist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or wrong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2 /notes/secret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Never treat refused as 404. 404 means you had a conversation. Refused means nobody picked 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Lab: curl -v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File: lec-03/codebase/networking-lab-instructions.txt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you type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Lab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120640"/>
                <a:gridCol w="40416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should see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local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-v http://127.0.0.1:8080/health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Connected, HTTP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+ TLS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-v https://example.com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Resolve, :443, SSL,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-v http://127.0.0.1:9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refused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-v --max-time 5 http://192.0.2.1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Timed 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-i https://httpbin.org/status/403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403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H — draw the VPC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IGW, public / private, SG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Interview lines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Say these in your own words.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Short spoken answers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Interview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173968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9735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 this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of a URL?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DNS, IP, TCP port, TLS if HTTPS, then HTTP.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a VPC?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 network. AWS/GCP: VPC. Azure: VNet. CIDR e.g. 10.0.0.0/16.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vs private subnet?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has a route to IGW. Private needs NAT to call out.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IGW vs NAT?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IGW is the door for public subnets. NAT is billed outbound for private.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 vs NACL?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 is stateful on the VM. NACL is stateless on the subnet.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vs timeout vs 403?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= closed door. Timeout = silence. 403 = HTTP said 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public subnet here?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is billed. One public IP + security group locked to My IP.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Before Lecture 4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3  ·  Homework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115568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Write five lines from the lab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10789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Working local, example.com, refused, timeout, 403 — one sentence each.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Lecture 4 is AWS: billing alarm first, then one micro EC2 in a public subnet, then STOP it.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Bring an AWS account. Do not create a NAT Gateway even if a wizard offers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356616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END OF LECTURE 3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Name the step that failed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Laptop path, then the same VPC picture on every cloud.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Lecture 4 is the AWS clicks.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s Teal">
  <a:themeElements>
    <a:clrScheme name="Ops Teal">
      <a:dk1>
        <a:srgbClr val="0F172A"/>
      </a:dk1>
      <a:lt1>
        <a:srgbClr val="F8FAFC"/>
      </a:lt1>
      <a:dk2>
        <a:srgbClr val="334155"/>
      </a:dk2>
      <a:lt2>
        <a:srgbClr val="E2E8F0"/>
      </a:lt2>
      <a:accent1>
        <a:srgbClr val="0F766E"/>
      </a:accent1>
      <a:accent2>
        <a:srgbClr val="B45309"/>
      </a:accent2>
      <a:accent3>
        <a:srgbClr val="155E75"/>
      </a:accent3>
      <a:accent4>
        <a:srgbClr val="64748B"/>
      </a:accent4>
      <a:accent5>
        <a:srgbClr val="0D9488"/>
      </a:accent5>
      <a:accent6>
        <a:srgbClr val="1E293B"/>
      </a:accent6>
      <a:hlink>
        <a:srgbClr val="0F766E"/>
      </a:hlink>
      <a:folHlink>
        <a:srgbClr val="115E59"/>
      </a:folHlink>
    </a:clrScheme>
    <a:fontScheme name="Ops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Networking</dc:title>
  <dc:subject>Student-readable lecture. Path of a request, then VPC / subnet on every cloud.</dc:subject>
  <dc:creator>DevOps Foundation Course</dc:creator>
  <cp:lastModifiedBy>DevOps Foundation Course</cp:lastModifiedBy>
  <cp:revision>1</cp:revision>
  <dcterms:created xsi:type="dcterms:W3CDTF">2026-10-30T16:43:23Z</dcterms:created>
  <dcterms:modified xsi:type="dcterms:W3CDTF">2026-10-30T16:43:23Z</dcterms:modified>
</cp:coreProperties>
</file>