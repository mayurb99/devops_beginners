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E0E6105-2664-1335-B56C-A0353CC3D05D}">
          <p14:sldIdLst>
            <p14:sldId id="256"/>
            <p14:sldId id="257"/>
            <p14:sldId id="258"/>
            <p14:sldId id="259"/>
            <p14:sldId id="260"/>
          </p14:sldIdLst>
        </p14:section>
        <p14:section name="The problem" id="{EF4CEDDD-D4BF-775B-A201-5443E5FD6B37}">
          <p14:sldIdLst>
            <p14:sldId id="261"/>
            <p14:sldId id="262"/>
            <p14:sldId id="263"/>
            <p14:sldId id="264"/>
            <p14:sldId id="265"/>
            <p14:sldId id="266"/>
          </p14:sldIdLst>
        </p14:section>
        <p14:section name="How software reaches users" id="{5C1F6EA4-4D7C-AA3B-BF09-29768ECE16D9}">
          <p14:sldIdLst>
            <p14:sldId id="267"/>
            <p14:sldId id="268"/>
            <p14:sldId id="269"/>
            <p14:sldId id="270"/>
            <p14:sldId id="271"/>
            <p14:sldId id="272"/>
            <p14:sldId id="273"/>
            <p14:sldId id="274"/>
            <p14:sldId id="275"/>
          </p14:sldIdLst>
        </p14:section>
        <p14:section name="Linux" id="{245FC59A-C5F4-6F73-6EF0-16677A4282EB}">
          <p14:sldIdLst>
            <p14:sldId id="276"/>
            <p14:sldId id="277"/>
            <p14:sldId id="278"/>
            <p14:sldId id="279"/>
            <p14:sldId id="280"/>
            <p14:sldId id="281"/>
            <p14:sldId id="282"/>
            <p14:sldId id="283"/>
            <p14:sldId id="284"/>
            <p14:sldId id="285"/>
            <p14:sldId id="286"/>
            <p14:sldId id="287"/>
            <p14:sldId id="288"/>
          </p14:sldIdLst>
        </p14:section>
        <p14:section name="Lab" id="{48A53B11-7E7F-D966-E53D-6BCF09FFDAB3}">
          <p14:sldIdLst>
            <p14:sldId id="289"/>
            <p14:sldId id="290"/>
            <p14:sldId id="291"/>
            <p14:sldId id="292"/>
            <p14:sldId id="293"/>
          </p14:sldIdLst>
        </p14:section>
        <p14:section name="Job and interview" id="{4FC183A5-26AF-FD41-FE4E-3F352DD3236A}">
          <p14:sldIdLst>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9519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revise from this deck without the transcript.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45–60 minutes. Do not teach Git now.</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10881360" cy="1371600"/>
          </a:xfrm>
          <a:prstGeom prst="rect">
            <a:avLst/>
          </a:prstGeom>
          <a:noFill/>
          <a:ln/>
        </p:spPr>
        <p:txBody>
          <a:bodyPr wrap="square" rtlCol="0"/>
          <a:lstStyle>
            <a:lvl1pPr marL="0" indent="0">
              <a:buNone/>
              <a:defRPr lang="en-US" sz="3600" b="1" dirty="0">
                <a:solidFill>
                  <a:schemeClr val="bg1"/>
                </a:solidFill>
              </a:defRPr>
            </a:lvl1pPr>
          </a:lstStyle>
          <a:p>
            <a:pPr marL="0" indent="0">
              <a:buNone/>
            </a:pPr>
            <a:r>
              <a:rPr lang="en-US" sz="3600" b="1" dirty="0">
                <a:solidFill>
                  <a:schemeClr val="bg1"/>
                </a:solidFill>
              </a:rPr>
              <a:t>Title</a:t>
            </a:r>
            <a:endParaRPr lang="en-US" sz="3600" dirty="0"/>
          </a:p>
        </p:txBody>
      </p:sp>
      <p:sp>
        <p:nvSpPr>
          <p:cNvPr id="3" name="Text 0"/>
          <p:cNvSpPr>
            <a:spLocks noGrp="1"/>
          </p:cNvSpPr>
          <p:nvPr>
            <p:ph type="body" idx="101" hasCustomPrompt="1"/>
          </p:nvPr>
        </p:nvSpPr>
        <p:spPr>
          <a:xfrm>
            <a:off x="640080" y="3291840"/>
            <a:ext cx="10515600" cy="1463040"/>
          </a:xfrm>
          <a:prstGeom prst="rect">
            <a:avLst/>
          </a:prstGeom>
          <a:noFill/>
          <a:ln/>
        </p:spPr>
        <p:txBody>
          <a:bodyPr wrap="square" rtlCol="0"/>
          <a:lstStyle>
            <a:lvl1pPr marL="0" indent="0">
              <a:buNone/>
              <a:defRPr lang="en-US" sz="1800" dirty="0">
                <a:solidFill>
                  <a:srgbClr val="94A3B8"/>
                </a:solidFill>
              </a:defRPr>
            </a:lvl1pPr>
          </a:lstStyle>
          <a:p>
            <a:pPr marL="0" indent="0">
              <a:buNone/>
            </a:pPr>
            <a:r>
              <a:rPr lang="en-US" sz="1800" dirty="0">
                <a:solidFill>
                  <a:srgbClr val="94A3B8"/>
                </a:solidFill>
              </a:rPr>
              <a:t>Subtitle</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rtlCol="0"/>
          <a:lstStyle>
            <a:lvl1pPr marL="0" indent="0">
              <a:buNone/>
              <a:defRPr lang="en-US" sz="3200" b="1" dirty="0">
                <a:solidFill>
                  <a:schemeClr val="bg1"/>
                </a:solidFill>
              </a:defRPr>
            </a:lvl1pPr>
          </a:lstStyle>
          <a:p>
            <a:pPr marL="0" indent="0">
              <a:buNone/>
            </a:pPr>
            <a:r>
              <a:rPr lang="en-US" sz="3200" b="1" dirty="0">
                <a:solidFill>
                  <a:schemeClr val="bg1"/>
                </a:solidFill>
              </a:rPr>
              <a:t>Section</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rtlCol="0"/>
          <a:lstStyle>
            <a:lvl1pPr marL="0" indent="0">
              <a:buNone/>
              <a:defRPr lang="en-US" sz="1800" dirty="0">
                <a:solidFill>
                  <a:srgbClr val="94A3B8"/>
                </a:solidFill>
              </a:defRPr>
            </a:lvl1pPr>
          </a:lstStyle>
          <a:p>
            <a:pPr marL="0" indent="0">
              <a:buNone/>
            </a:pPr>
            <a:r>
              <a:rPr lang="en-US" sz="1800" dirty="0">
                <a:solidFill>
                  <a:srgbClr val="94A3B8"/>
                </a:solidFill>
              </a:rPr>
              <a:t>Section note</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rtlCol="0"/>
          <a:lstStyle>
            <a:lvl1pPr marL="0" indent="0">
              <a:buNone/>
              <a:defRPr lang="en-US" sz="2800" b="1" dirty="0">
                <a:solidFill>
                  <a:schemeClr val="tx1"/>
                </a:solidFill>
              </a:defRPr>
            </a:lvl1pPr>
          </a:lstStyle>
          <a:p>
            <a:pPr marL="0" indent="0">
              <a:buNone/>
            </a:pPr>
            <a:r>
              <a:rPr lang="en-US" sz="2800" b="1" dirty="0">
                <a:solidFill>
                  <a:schemeClr val="tx1"/>
                </a:solidFill>
              </a:rPr>
              <a:t>Title</a:t>
            </a:r>
            <a:endParaRPr lang="en-US" sz="2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1234440"/>
            <a:ext cx="3200400" cy="365760"/>
          </a:xfrm>
          <a:prstGeom prst="roundRect">
            <a:avLst>
              <a:gd name="adj" fmla="val 15000"/>
            </a:avLst>
          </a:prstGeom>
          <a:solidFill>
            <a:srgbClr val="0F766E"/>
          </a:solidFill>
          <a:ln/>
        </p:spPr>
        <p:txBody>
          <a:bodyPr/>
          <a:lstStyle/>
          <a:p>
            <a:endParaRPr lang="en-IN"/>
          </a:p>
        </p:txBody>
      </p:sp>
      <p:sp>
        <p:nvSpPr>
          <p:cNvPr id="3" name="Text 1"/>
          <p:cNvSpPr txBox="1"/>
          <p:nvPr/>
        </p:nvSpPr>
        <p:spPr>
          <a:xfrm>
            <a:off x="640080" y="1234440"/>
            <a:ext cx="3200400" cy="365760"/>
          </a:xfrm>
          <a:prstGeom prst="rect">
            <a:avLst/>
          </a:prstGeom>
          <a:noFill/>
          <a:ln/>
        </p:spPr>
        <p:txBody>
          <a:bodyPr wrap="square" lIns="0" tIns="0" rIns="0" bIns="0" rtlCol="0" anchor="ctr"/>
          <a:lstStyle/>
          <a:p>
            <a:pPr marL="0" indent="0" algn="ctr">
              <a:buNone/>
            </a:pPr>
            <a:r>
              <a:rPr lang="en-US" sz="1100" b="1" dirty="0">
                <a:solidFill>
                  <a:srgbClr val="FFFFFF"/>
                </a:solidFill>
              </a:rPr>
              <a:t>LECTURE 01  ·  75 MINUTES  ·  READ THIS DECK</a:t>
            </a:r>
            <a:endParaRPr lang="en-US" sz="1100" dirty="0"/>
          </a:p>
        </p:txBody>
      </p:sp>
      <p:sp>
        <p:nvSpPr>
          <p:cNvPr id="4" name="Text 0"/>
          <p:cNvSpPr>
            <a:spLocks noGrp="1"/>
          </p:cNvSpPr>
          <p:nvPr>
            <p:ph type="title" idx="100" hasCustomPrompt="1"/>
          </p:nvPr>
        </p:nvSpPr>
        <p:spPr>
          <a:xfrm>
            <a:off x="640080" y="1828800"/>
            <a:ext cx="10881360" cy="1371600"/>
          </a:xfrm>
          <a:prstGeom prst="rect">
            <a:avLst/>
          </a:prstGeom>
          <a:noFill/>
          <a:ln/>
        </p:spPr>
        <p:txBody>
          <a:bodyPr wrap="square" lIns="0" tIns="0" rIns="0" bIns="0" rtlCol="0" anchor="b"/>
          <a:lstStyle/>
          <a:p>
            <a:pPr marL="0" indent="0">
              <a:buNone/>
            </a:pPr>
            <a:r>
              <a:rPr lang="en-US" sz="3600" b="1" dirty="0">
                <a:solidFill>
                  <a:schemeClr val="bg1"/>
                </a:solidFill>
              </a:rPr>
              <a:t>Introduction to DevOps and Linux</a:t>
            </a:r>
            <a:endParaRPr lang="en-US" sz="3600" dirty="0"/>
          </a:p>
        </p:txBody>
      </p:sp>
      <p:sp>
        <p:nvSpPr>
          <p:cNvPr id="5" name="Text 0"/>
          <p:cNvSpPr>
            <a:spLocks noGrp="1"/>
          </p:cNvSpPr>
          <p:nvPr>
            <p:ph type="body" idx="101" hasCustomPrompt="1"/>
          </p:nvPr>
        </p:nvSpPr>
        <p:spPr>
          <a:xfrm>
            <a:off x="640080" y="3291840"/>
            <a:ext cx="10515600" cy="1463040"/>
          </a:xfrm>
          <a:prstGeom prst="rect">
            <a:avLst/>
          </a:prstGeom>
          <a:noFill/>
          <a:ln/>
        </p:spPr>
        <p:txBody>
          <a:bodyPr wrap="square" lIns="0" tIns="0" rIns="0" bIns="0" rtlCol="0"/>
          <a:lstStyle/>
          <a:p>
            <a:pPr marL="0" indent="0">
              <a:buNone/>
            </a:pPr>
            <a:r>
              <a:rPr lang="en-US" sz="1800" dirty="0">
                <a:solidFill>
                  <a:srgbClr val="94A3B8"/>
                </a:solidFill>
              </a:rPr>
              <a:t>Module 1: Foundations</a:t>
            </a:r>
            <a:endParaRPr lang="en-US" sz="1800" dirty="0"/>
          </a:p>
          <a:p>
            <a:pPr marL="0" indent="0">
              <a:buNone/>
            </a:pPr>
            <a:r>
              <a:rPr lang="en-US" sz="1800" dirty="0">
                <a:solidFill>
                  <a:srgbClr val="94A3B8"/>
                </a:solidFill>
              </a:rPr>
              <a:t>Read each slide slowly. Every new word is explained on the slide itself.</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How to use this presentation</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Read this first</a:t>
            </a:r>
            <a:endParaRPr lang="en-US" sz="1100" dirty="0"/>
          </a:p>
        </p:txBody>
      </p:sp>
      <p:sp>
        <p:nvSpPr>
          <p:cNvPr id="4" name="Text 2"/>
          <p:cNvSpPr txBox="1"/>
          <p:nvPr/>
        </p:nvSpPr>
        <p:spPr>
          <a:xfrm>
            <a:off x="502920" y="1024128"/>
            <a:ext cx="11155680" cy="1965960"/>
          </a:xfrm>
          <a:prstGeom prst="rect">
            <a:avLst/>
          </a:prstGeom>
          <a:noFill/>
          <a:ln/>
        </p:spPr>
        <p:txBody>
          <a:bodyPr wrap="square" lIns="0" tIns="0" rIns="0" bIns="0" rtlCol="0" anchor="t"/>
          <a:lstStyle/>
          <a:p>
            <a:pPr marL="0" indent="0">
              <a:buNone/>
            </a:pPr>
            <a:r>
              <a:rPr lang="en-US" sz="1600" dirty="0">
                <a:solidFill>
                  <a:srgbClr val="334155"/>
                </a:solidFill>
              </a:rPr>
              <a:t>This deck is written for a beginner. You do not need AWS, Git, or Docker today. Read the slides in order. When a word is new, the slide defines it in plain English, then gives an example.</a:t>
            </a:r>
            <a:endParaRPr lang="en-US" sz="1600" dirty="0"/>
          </a:p>
        </p:txBody>
      </p:sp>
      <p:sp>
        <p:nvSpPr>
          <p:cNvPr id="5" name="Shape 3"/>
          <p:cNvSpPr/>
          <p:nvPr/>
        </p:nvSpPr>
        <p:spPr>
          <a:xfrm>
            <a:off x="502920" y="3108960"/>
            <a:ext cx="5532120" cy="3108960"/>
          </a:xfrm>
          <a:prstGeom prst="roundRect">
            <a:avLst>
              <a:gd name="adj" fmla="val 2353"/>
            </a:avLst>
          </a:prstGeom>
          <a:solidFill>
            <a:srgbClr val="F1F5F9"/>
          </a:solidFill>
          <a:ln/>
        </p:spPr>
        <p:txBody>
          <a:bodyPr/>
          <a:lstStyle/>
          <a:p>
            <a:endParaRPr lang="en-IN"/>
          </a:p>
        </p:txBody>
      </p:sp>
      <p:sp>
        <p:nvSpPr>
          <p:cNvPr id="6" name="Text 4"/>
          <p:cNvSpPr txBox="1"/>
          <p:nvPr/>
        </p:nvSpPr>
        <p:spPr>
          <a:xfrm>
            <a:off x="685800" y="3236976"/>
            <a:ext cx="5166360" cy="310896"/>
          </a:xfrm>
          <a:prstGeom prst="rect">
            <a:avLst/>
          </a:prstGeom>
          <a:noFill/>
          <a:ln/>
        </p:spPr>
        <p:txBody>
          <a:bodyPr wrap="square" lIns="0" tIns="0" rIns="0" bIns="0" rtlCol="0" anchor="ctr"/>
          <a:lstStyle/>
          <a:p>
            <a:pPr marL="0" indent="0">
              <a:buNone/>
            </a:pPr>
            <a:r>
              <a:rPr lang="en-US" sz="1300" b="1" dirty="0">
                <a:solidFill>
                  <a:srgbClr val="0F766E"/>
                </a:solidFill>
              </a:rPr>
              <a:t>You will learn two things</a:t>
            </a:r>
            <a:endParaRPr lang="en-US" sz="1300" dirty="0"/>
          </a:p>
        </p:txBody>
      </p:sp>
      <p:sp>
        <p:nvSpPr>
          <p:cNvPr id="7" name="Text 5"/>
          <p:cNvSpPr txBox="1"/>
          <p:nvPr/>
        </p:nvSpPr>
        <p:spPr>
          <a:xfrm>
            <a:off x="685800" y="3566160"/>
            <a:ext cx="5166360" cy="2505456"/>
          </a:xfrm>
          <a:prstGeom prst="rect">
            <a:avLst/>
          </a:prstGeom>
          <a:noFill/>
          <a:ln/>
        </p:spPr>
        <p:txBody>
          <a:bodyPr wrap="square" lIns="0" tIns="0" rIns="0" bIns="0" rtlCol="0" anchor="t"/>
          <a:lstStyle/>
          <a:p>
            <a:pPr marL="0" indent="0">
              <a:buNone/>
            </a:pPr>
            <a:r>
              <a:rPr lang="en-US" sz="1500" dirty="0">
                <a:solidFill>
                  <a:srgbClr val="334155"/>
                </a:solidFill>
              </a:rPr>
              <a:t>1. How teams ship software without a Saturday-night panic. That idea is called DevOps.</a:t>
            </a:r>
            <a:endParaRPr lang="en-US" sz="1500" dirty="0"/>
          </a:p>
          <a:p>
            <a:pPr marL="0" indent="0">
              <a:buNone/>
            </a:pPr>
            <a:endParaRPr lang="en-US" sz="1500" dirty="0"/>
          </a:p>
          <a:p>
            <a:pPr marL="0" indent="0">
              <a:buNone/>
            </a:pPr>
            <a:r>
              <a:rPr lang="en-US" sz="1500" dirty="0">
                <a:solidFill>
                  <a:srgbClr val="334155"/>
                </a:solidFill>
              </a:rPr>
              <a:t>2. How to look at a Linux computer: who you are, which folder you are in, how to read a log file, and whether a program is running.</a:t>
            </a:r>
            <a:endParaRPr lang="en-US" sz="1500" dirty="0"/>
          </a:p>
        </p:txBody>
      </p:sp>
      <p:sp>
        <p:nvSpPr>
          <p:cNvPr id="8" name="Shape 6"/>
          <p:cNvSpPr/>
          <p:nvPr/>
        </p:nvSpPr>
        <p:spPr>
          <a:xfrm>
            <a:off x="6217920" y="3108960"/>
            <a:ext cx="5440680" cy="3108960"/>
          </a:xfrm>
          <a:prstGeom prst="roundRect">
            <a:avLst>
              <a:gd name="adj" fmla="val 2353"/>
            </a:avLst>
          </a:prstGeom>
          <a:solidFill>
            <a:srgbClr val="ECFDF5"/>
          </a:solidFill>
          <a:ln/>
        </p:spPr>
        <p:txBody>
          <a:bodyPr/>
          <a:lstStyle/>
          <a:p>
            <a:endParaRPr lang="en-IN"/>
          </a:p>
        </p:txBody>
      </p:sp>
      <p:sp>
        <p:nvSpPr>
          <p:cNvPr id="9" name="Text 7"/>
          <p:cNvSpPr txBox="1"/>
          <p:nvPr/>
        </p:nvSpPr>
        <p:spPr>
          <a:xfrm>
            <a:off x="6400800" y="3236976"/>
            <a:ext cx="5074920" cy="310896"/>
          </a:xfrm>
          <a:prstGeom prst="rect">
            <a:avLst/>
          </a:prstGeom>
          <a:noFill/>
          <a:ln/>
        </p:spPr>
        <p:txBody>
          <a:bodyPr wrap="square" lIns="0" tIns="0" rIns="0" bIns="0" rtlCol="0" anchor="ctr"/>
          <a:lstStyle/>
          <a:p>
            <a:pPr marL="0" indent="0">
              <a:buNone/>
            </a:pPr>
            <a:r>
              <a:rPr lang="en-US" sz="1300" b="1" dirty="0">
                <a:solidFill>
                  <a:srgbClr val="0F766E"/>
                </a:solidFill>
              </a:rPr>
              <a:t>You will not do today</a:t>
            </a:r>
            <a:endParaRPr lang="en-US" sz="1300" dirty="0"/>
          </a:p>
        </p:txBody>
      </p:sp>
      <p:sp>
        <p:nvSpPr>
          <p:cNvPr id="10" name="Text 8"/>
          <p:cNvSpPr txBox="1"/>
          <p:nvPr/>
        </p:nvSpPr>
        <p:spPr>
          <a:xfrm>
            <a:off x="6400800" y="3566160"/>
            <a:ext cx="5074920" cy="2505456"/>
          </a:xfrm>
          <a:prstGeom prst="rect">
            <a:avLst/>
          </a:prstGeom>
          <a:noFill/>
          <a:ln/>
        </p:spPr>
        <p:txBody>
          <a:bodyPr wrap="square" lIns="0" tIns="0" rIns="0" bIns="0" rtlCol="0" anchor="t"/>
          <a:lstStyle/>
          <a:p>
            <a:pPr marL="0" indent="0">
              <a:buNone/>
            </a:pPr>
            <a:r>
              <a:rPr lang="en-US" sz="1500" dirty="0">
                <a:solidFill>
                  <a:srgbClr val="334155"/>
                </a:solidFill>
              </a:rPr>
              <a:t>We will not open the AWS console. We will not spend money. We will not install Git, Docker, Kubernetes, or Terraform.</a:t>
            </a:r>
            <a:endParaRPr lang="en-US" sz="1500" dirty="0"/>
          </a:p>
          <a:p>
            <a:pPr marL="0" indent="0">
              <a:buNone/>
            </a:pPr>
            <a:endParaRPr lang="en-US" sz="1500" dirty="0"/>
          </a:p>
          <a:p>
            <a:pPr marL="0" indent="0">
              <a:buNone/>
            </a:pPr>
            <a:r>
              <a:rPr lang="en-US" sz="1500" dirty="0">
                <a:solidFill>
                  <a:srgbClr val="334155"/>
                </a:solidFill>
              </a:rPr>
              <a:t>Those come in later lectures. If you skip Linux now, those tools will feel like magic later.</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you will be able to do after 75 minutes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Learning outcomes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2026920"/>
        </p:xfrm>
        <a:graphic>
          <a:graphicData uri="http://schemas.openxmlformats.org/drawingml/2006/table">
            <a:tbl>
              <a:tblPr/>
              <a:tblGrid>
                <a:gridCol w="6400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7333488">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After this lecture you can…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That means in real words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Explain DevOps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Say it without naming Jenkins, AWS, or Docker.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Place a change on the SDLC</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Name where an idea sits: design, code, test, or operate.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Tell CI from the two CDs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Integration tests every commit. Delivery is ready. Deployment goes live.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Look at a Linux machine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Answer: who am I, where am I, is the disk full, is a program running?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Read a log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Open app.log, then grep ERROR to find failures.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Answer interview questions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Use your own words. Do not invent production experience.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How we will use 75 minutes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Plan</a:t>
            </a:r>
            <a:endParaRPr lang="en-US" sz="1100" dirty="0"/>
          </a:p>
        </p:txBody>
      </p:sp>
      <p:sp>
        <p:nvSpPr>
          <p:cNvPr id="4" name="Text 2"/>
          <p:cNvSpPr txBox="1"/>
          <p:nvPr/>
        </p:nvSpPr>
        <p:spPr>
          <a:xfrm>
            <a:off x="502920" y="1005840"/>
            <a:ext cx="11155680" cy="1234440"/>
          </a:xfrm>
          <a:prstGeom prst="rect">
            <a:avLst/>
          </a:prstGeom>
          <a:noFill/>
          <a:ln/>
        </p:spPr>
        <p:txBody>
          <a:bodyPr wrap="square" lIns="0" tIns="0" rIns="0" bIns="0" rtlCol="0" anchor="t"/>
          <a:lstStyle/>
          <a:p>
            <a:pPr marL="0" indent="0">
              <a:buNone/>
            </a:pPr>
            <a:r>
              <a:rPr lang="en-US" sz="1600" dirty="0">
                <a:solidFill>
                  <a:srgbClr val="334155"/>
                </a:solidFill>
              </a:rPr>
              <a:t>We talk first so the words have meaning. Then we use the terminal. The lab is not extra. The lab is the lesson. Watching someone else type is not the same as you typing grep ERROR.</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73968" cy="173736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4133088">
                  <a:extLst>
                    <a:ext uri="{9D8B030D-6E8A-4147-A177-3AD203B41FA5}">
                      <a16:colId xmlns:a16="http://schemas.microsoft.com/office/drawing/2014/main" val="20003"/>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Clock</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0–6 min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Welcome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Goals and why this job exists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So you know what “done” looks like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6–18 min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The wall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Developers vs operations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So DevOps is a problem, not a logo</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18–32 min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Delivery</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SDLC, the loop, CI and CD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So interview words have meaning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32–70 min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Linux lab</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One script: linux-basics.sh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So you can read a machine and a log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70–75 min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Close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Interview answers and homework</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So you can revise tonight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Why this lecture is in almost every job post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The job</a:t>
            </a:r>
            <a:endParaRPr lang="en-US" sz="1100" dirty="0"/>
          </a:p>
        </p:txBody>
      </p:sp>
      <p:sp>
        <p:nvSpPr>
          <p:cNvPr id="4" name="Text 2"/>
          <p:cNvSpPr txBox="1"/>
          <p:nvPr/>
        </p:nvSpPr>
        <p:spPr>
          <a:xfrm>
            <a:off x="502920" y="1005840"/>
            <a:ext cx="11155680" cy="1554480"/>
          </a:xfrm>
          <a:prstGeom prst="rect">
            <a:avLst/>
          </a:prstGeom>
          <a:noFill/>
          <a:ln/>
        </p:spPr>
        <p:txBody>
          <a:bodyPr wrap="square" lIns="0" tIns="0" rIns="0" bIns="0" rtlCol="0" anchor="t"/>
          <a:lstStyle/>
          <a:p>
            <a:pPr marL="0" indent="0">
              <a:buNone/>
            </a:pPr>
            <a:r>
              <a:rPr lang="en-US" sz="1600" dirty="0">
                <a:solidFill>
                  <a:srgbClr val="334155"/>
                </a:solidFill>
              </a:rPr>
              <a:t>A DevOps engineer (or Cloud / Platform engineer) is paid to make shipping software boring: frequent, visible, and easy to undo. Job ads write “CI/CD”, “Linux”, “AWS”, “Azure”. Today we learn the meaning of the first two words. Cloud product names come later.</a:t>
            </a:r>
            <a:endParaRPr lang="en-US" sz="1600" dirty="0"/>
          </a:p>
        </p:txBody>
      </p:sp>
      <p:sp>
        <p:nvSpPr>
          <p:cNvPr id="5" name="Shape 3"/>
          <p:cNvSpPr/>
          <p:nvPr/>
        </p:nvSpPr>
        <p:spPr>
          <a:xfrm>
            <a:off x="502920" y="2697480"/>
            <a:ext cx="11155680" cy="3520440"/>
          </a:xfrm>
          <a:prstGeom prst="roundRect">
            <a:avLst>
              <a:gd name="adj" fmla="val 2078"/>
            </a:avLst>
          </a:prstGeom>
          <a:solidFill>
            <a:srgbClr val="0F766E"/>
          </a:solidFill>
          <a:ln/>
        </p:spPr>
        <p:txBody>
          <a:bodyPr/>
          <a:lstStyle/>
          <a:p>
            <a:endParaRPr lang="en-IN"/>
          </a:p>
        </p:txBody>
      </p:sp>
      <p:sp>
        <p:nvSpPr>
          <p:cNvPr id="6" name="Text 4"/>
          <p:cNvSpPr txBox="1"/>
          <p:nvPr/>
        </p:nvSpPr>
        <p:spPr>
          <a:xfrm>
            <a:off x="685800" y="2825496"/>
            <a:ext cx="10789920" cy="310896"/>
          </a:xfrm>
          <a:prstGeom prst="rect">
            <a:avLst/>
          </a:prstGeom>
          <a:noFill/>
          <a:ln/>
        </p:spPr>
        <p:txBody>
          <a:bodyPr wrap="square" lIns="0" tIns="0" rIns="0" bIns="0" rtlCol="0" anchor="ctr"/>
          <a:lstStyle/>
          <a:p>
            <a:pPr marL="0" indent="0">
              <a:buNone/>
            </a:pPr>
            <a:r>
              <a:rPr lang="en-US" sz="1300" b="1" dirty="0">
                <a:solidFill>
                  <a:srgbClr val="FFFFFF"/>
                </a:solidFill>
              </a:rPr>
              <a:t>Workplace picture</a:t>
            </a:r>
            <a:endParaRPr lang="en-US" sz="1300" dirty="0"/>
          </a:p>
        </p:txBody>
      </p:sp>
      <p:sp>
        <p:nvSpPr>
          <p:cNvPr id="7" name="Text 5"/>
          <p:cNvSpPr txBox="1"/>
          <p:nvPr/>
        </p:nvSpPr>
        <p:spPr>
          <a:xfrm>
            <a:off x="685800" y="3154680"/>
            <a:ext cx="10789920" cy="2916936"/>
          </a:xfrm>
          <a:prstGeom prst="rect">
            <a:avLst/>
          </a:prstGeom>
          <a:noFill/>
          <a:ln/>
        </p:spPr>
        <p:txBody>
          <a:bodyPr wrap="square" lIns="0" tIns="0" rIns="0" bIns="0" rtlCol="0" anchor="t"/>
          <a:lstStyle/>
          <a:p>
            <a:pPr marL="0" indent="0">
              <a:buNone/>
            </a:pPr>
            <a:r>
              <a:rPr lang="en-US" sz="1500" dirty="0">
                <a:solidFill>
                  <a:srgbClr val="CCFBF1"/>
                </a:solidFill>
              </a:rPr>
              <a:t>A team wants two releases a week. Only one person knows how to deploy. That person is on leave. The code is finished, but nothing can go live.</a:t>
            </a:r>
            <a:endParaRPr lang="en-US" sz="1500" dirty="0"/>
          </a:p>
          <a:p>
            <a:pPr marL="0" indent="0">
              <a:buNone/>
            </a:pPr>
            <a:endParaRPr lang="en-US" sz="1500" dirty="0"/>
          </a:p>
          <a:p>
            <a:pPr marL="0" indent="0">
              <a:buNone/>
            </a:pPr>
            <a:r>
              <a:rPr lang="en-US" sz="1500" dirty="0">
                <a:solidFill>
                  <a:srgbClr val="CCFBF1"/>
                </a:solidFill>
              </a:rPr>
              <a:t>That is a DevOps problem, not a coding problem. If a release needs a hero, the system is weak.</a:t>
            </a:r>
            <a:endParaRPr lang="en-US" sz="1500" dirty="0"/>
          </a:p>
          <a:p>
            <a:pPr marL="0" indent="0">
              <a:buNone/>
            </a:pPr>
            <a:endParaRPr lang="en-US" sz="1500" dirty="0"/>
          </a:p>
          <a:p>
            <a:pPr marL="0" indent="0">
              <a:buNone/>
            </a:pPr>
            <a:r>
              <a:rPr lang="en-US" sz="1500" dirty="0">
                <a:solidFill>
                  <a:srgbClr val="CCFBF1"/>
                </a:solidFill>
              </a:rPr>
              <a:t>After this course you should be able to explain the path from “we changed a file” to “it is running, and we can see if it failed”.</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The problem DevOps solves</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Two rooms, one zip file, and a Saturday night</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The old wall: developers versus operations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Why DevOps exists</a:t>
            </a:r>
            <a:endParaRPr lang="en-US" sz="1100" dirty="0"/>
          </a:p>
        </p:txBody>
      </p:sp>
      <p:sp>
        <p:nvSpPr>
          <p:cNvPr id="4" name="Shape 2"/>
          <p:cNvSpPr/>
          <p:nvPr/>
        </p:nvSpPr>
        <p:spPr>
          <a:xfrm>
            <a:off x="502920" y="1024128"/>
            <a:ext cx="5532120" cy="5212080"/>
          </a:xfrm>
          <a:prstGeom prst="roundRect">
            <a:avLst>
              <a:gd name="adj" fmla="val 1404"/>
            </a:avLst>
          </a:prstGeom>
          <a:solidFill>
            <a:srgbClr val="1E293B"/>
          </a:solidFill>
          <a:ln/>
        </p:spPr>
        <p:txBody>
          <a:bodyPr/>
          <a:lstStyle/>
          <a:p>
            <a:endParaRPr lang="en-IN"/>
          </a:p>
        </p:txBody>
      </p:sp>
      <p:sp>
        <p:nvSpPr>
          <p:cNvPr id="5" name="Text 3"/>
          <p:cNvSpPr txBox="1"/>
          <p:nvPr/>
        </p:nvSpPr>
        <p:spPr>
          <a:xfrm>
            <a:off x="685800" y="1152144"/>
            <a:ext cx="5166360" cy="310896"/>
          </a:xfrm>
          <a:prstGeom prst="rect">
            <a:avLst/>
          </a:prstGeom>
          <a:noFill/>
          <a:ln/>
        </p:spPr>
        <p:txBody>
          <a:bodyPr wrap="square" lIns="0" tIns="0" rIns="0" bIns="0" rtlCol="0" anchor="ctr"/>
          <a:lstStyle/>
          <a:p>
            <a:pPr marL="0" indent="0">
              <a:buNone/>
            </a:pPr>
            <a:r>
              <a:rPr lang="en-US" sz="1300" b="1" dirty="0">
                <a:solidFill>
                  <a:srgbClr val="FFFFFF"/>
                </a:solidFill>
              </a:rPr>
              <a:t>Developers (Dev)</a:t>
            </a:r>
            <a:endParaRPr lang="en-US" sz="1300" dirty="0"/>
          </a:p>
        </p:txBody>
      </p:sp>
      <p:sp>
        <p:nvSpPr>
          <p:cNvPr id="6" name="Text 4"/>
          <p:cNvSpPr txBox="1"/>
          <p:nvPr/>
        </p:nvSpPr>
        <p:spPr>
          <a:xfrm>
            <a:off x="685800" y="1481328"/>
            <a:ext cx="5166360" cy="4608576"/>
          </a:xfrm>
          <a:prstGeom prst="rect">
            <a:avLst/>
          </a:prstGeom>
          <a:noFill/>
          <a:ln/>
        </p:spPr>
        <p:txBody>
          <a:bodyPr wrap="square" lIns="0" tIns="0" rIns="0" bIns="0" rtlCol="0" anchor="t"/>
          <a:lstStyle/>
          <a:p>
            <a:pPr marL="0" indent="0">
              <a:buNone/>
            </a:pPr>
            <a:r>
              <a:rPr lang="en-US" sz="1500" dirty="0">
                <a:solidFill>
                  <a:srgbClr val="CBD5E1"/>
                </a:solidFill>
              </a:rPr>
              <a:t>They write features. Their success used to be: “we shipped code”.</a:t>
            </a:r>
            <a:endParaRPr lang="en-US" sz="1500" dirty="0"/>
          </a:p>
          <a:p>
            <a:pPr marL="0" indent="0">
              <a:buNone/>
            </a:pPr>
            <a:endParaRPr lang="en-US" sz="1500" dirty="0"/>
          </a:p>
          <a:p>
            <a:pPr marL="0" indent="0">
              <a:buNone/>
            </a:pPr>
            <a:r>
              <a:rPr lang="en-US" sz="1500" dirty="0">
                <a:solidFill>
                  <a:srgbClr val="CBD5E1"/>
                </a:solidFill>
              </a:rPr>
              <a:t>They often said: “It worked on my machine.”</a:t>
            </a:r>
            <a:endParaRPr lang="en-US" sz="1500" dirty="0"/>
          </a:p>
          <a:p>
            <a:pPr marL="0" indent="0">
              <a:buNone/>
            </a:pPr>
            <a:endParaRPr lang="en-US" sz="1500" dirty="0"/>
          </a:p>
          <a:p>
            <a:pPr marL="0" indent="0">
              <a:buNone/>
            </a:pPr>
            <a:r>
              <a:rPr lang="en-US" sz="1500" dirty="0">
                <a:solidFill>
                  <a:srgbClr val="CBD5E1"/>
                </a:solidFill>
              </a:rPr>
              <a:t>That sentence is famous because their laptop is not the server. Different folder, different settings, different operating system — and the program behaves differently.</a:t>
            </a:r>
            <a:endParaRPr lang="en-US" sz="1500" dirty="0"/>
          </a:p>
        </p:txBody>
      </p:sp>
      <p:sp>
        <p:nvSpPr>
          <p:cNvPr id="7" name="Shape 5"/>
          <p:cNvSpPr/>
          <p:nvPr/>
        </p:nvSpPr>
        <p:spPr>
          <a:xfrm>
            <a:off x="6217920" y="1024128"/>
            <a:ext cx="5440680" cy="5212080"/>
          </a:xfrm>
          <a:prstGeom prst="roundRect">
            <a:avLst>
              <a:gd name="adj" fmla="val 1404"/>
            </a:avLst>
          </a:prstGeom>
          <a:solidFill>
            <a:srgbClr val="0F766E"/>
          </a:solidFill>
          <a:ln/>
        </p:spPr>
        <p:txBody>
          <a:bodyPr/>
          <a:lstStyle/>
          <a:p>
            <a:endParaRPr lang="en-IN"/>
          </a:p>
        </p:txBody>
      </p:sp>
      <p:sp>
        <p:nvSpPr>
          <p:cNvPr id="8" name="Text 6"/>
          <p:cNvSpPr txBox="1"/>
          <p:nvPr/>
        </p:nvSpPr>
        <p:spPr>
          <a:xfrm>
            <a:off x="6400800" y="1152144"/>
            <a:ext cx="5074920" cy="310896"/>
          </a:xfrm>
          <a:prstGeom prst="rect">
            <a:avLst/>
          </a:prstGeom>
          <a:noFill/>
          <a:ln/>
        </p:spPr>
        <p:txBody>
          <a:bodyPr wrap="square" lIns="0" tIns="0" rIns="0" bIns="0" rtlCol="0" anchor="ctr"/>
          <a:lstStyle/>
          <a:p>
            <a:pPr marL="0" indent="0">
              <a:buNone/>
            </a:pPr>
            <a:r>
              <a:rPr lang="en-US" sz="1300" b="1" dirty="0">
                <a:solidFill>
                  <a:srgbClr val="FFFFFF"/>
                </a:solidFill>
              </a:rPr>
              <a:t>Operations (Ops)</a:t>
            </a:r>
            <a:endParaRPr lang="en-US" sz="1300" dirty="0"/>
          </a:p>
        </p:txBody>
      </p:sp>
      <p:sp>
        <p:nvSpPr>
          <p:cNvPr id="9" name="Text 7"/>
          <p:cNvSpPr txBox="1"/>
          <p:nvPr/>
        </p:nvSpPr>
        <p:spPr>
          <a:xfrm>
            <a:off x="6400800" y="1481328"/>
            <a:ext cx="5074920" cy="4608576"/>
          </a:xfrm>
          <a:prstGeom prst="rect">
            <a:avLst/>
          </a:prstGeom>
          <a:noFill/>
          <a:ln/>
        </p:spPr>
        <p:txBody>
          <a:bodyPr wrap="square" lIns="0" tIns="0" rIns="0" bIns="0" rtlCol="0" anchor="t"/>
          <a:lstStyle/>
          <a:p>
            <a:pPr marL="0" indent="0">
              <a:buNone/>
            </a:pPr>
            <a:r>
              <a:rPr lang="en-US" sz="1500" dirty="0">
                <a:solidFill>
                  <a:srgbClr val="CCFBF1"/>
                </a:solidFill>
              </a:rPr>
              <a:t>They keep servers alive. Their success used to be: “nothing broke tonight”.</a:t>
            </a:r>
            <a:endParaRPr lang="en-US" sz="1500" dirty="0"/>
          </a:p>
          <a:p>
            <a:pPr marL="0" indent="0">
              <a:buNone/>
            </a:pPr>
            <a:endParaRPr lang="en-US" sz="1500" dirty="0"/>
          </a:p>
          <a:p>
            <a:pPr marL="0" indent="0">
              <a:buNone/>
            </a:pPr>
            <a:r>
              <a:rPr lang="en-US" sz="1500" dirty="0">
                <a:solidFill>
                  <a:srgbClr val="CCFBF1"/>
                </a:solidFill>
              </a:rPr>
              <a:t>They often said: “You gave us bad code.”</a:t>
            </a:r>
            <a:endParaRPr lang="en-US" sz="1500" dirty="0"/>
          </a:p>
          <a:p>
            <a:pPr marL="0" indent="0">
              <a:buNone/>
            </a:pPr>
            <a:endParaRPr lang="en-US" sz="1500" dirty="0"/>
          </a:p>
          <a:p>
            <a:pPr marL="0" indent="0">
              <a:buNone/>
            </a:pPr>
            <a:r>
              <a:rPr lang="en-US" sz="1500" dirty="0">
                <a:solidFill>
                  <a:srgbClr val="CCFBF1"/>
                </a:solidFill>
              </a:rPr>
              <a:t>Operations means running the system after it is installed: restarts, logs, disk space, who is allowed to read a file, backups. It is care for a running machine, not writing a new feature.</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went wrong when the two rooms never met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Why DevOps exists</a:t>
            </a:r>
            <a:endParaRPr lang="en-US" sz="1100" dirty="0"/>
          </a:p>
        </p:txBody>
      </p:sp>
      <p:sp>
        <p:nvSpPr>
          <p:cNvPr id="4" name="Text 2"/>
          <p:cNvSpPr txBox="1"/>
          <p:nvPr/>
        </p:nvSpPr>
        <p:spPr>
          <a:xfrm>
            <a:off x="502920" y="1005840"/>
            <a:ext cx="11155680" cy="1554480"/>
          </a:xfrm>
          <a:prstGeom prst="rect">
            <a:avLst/>
          </a:prstGeom>
          <a:noFill/>
          <a:ln/>
        </p:spPr>
        <p:txBody>
          <a:bodyPr wrap="square" lIns="0" tIns="0" rIns="0" bIns="0" rtlCol="0" anchor="t"/>
          <a:lstStyle/>
          <a:p>
            <a:pPr marL="0" indent="0">
              <a:buNone/>
            </a:pPr>
            <a:r>
              <a:rPr lang="en-US" sz="1600" dirty="0">
                <a:solidFill>
                  <a:srgbClr val="334155"/>
                </a:solidFill>
              </a:rPr>
              <a:t>They met on a Saturday night with a zip file and a checklist. Releases were rare and scary. When production broke, each side blamed the other. Nobody owned the whole path from “we wrote this” to “users can use it”.</a:t>
            </a:r>
            <a:endParaRPr lang="en-US" sz="1600" dirty="0"/>
          </a:p>
        </p:txBody>
      </p:sp>
      <p:sp>
        <p:nvSpPr>
          <p:cNvPr id="5" name="Shape 3"/>
          <p:cNvSpPr/>
          <p:nvPr/>
        </p:nvSpPr>
        <p:spPr>
          <a:xfrm>
            <a:off x="502920" y="2697480"/>
            <a:ext cx="11155680" cy="3520440"/>
          </a:xfrm>
          <a:prstGeom prst="roundRect">
            <a:avLst>
              <a:gd name="adj" fmla="val 2078"/>
            </a:avLst>
          </a:prstGeom>
          <a:solidFill>
            <a:srgbClr val="F1F5F9"/>
          </a:solidFill>
          <a:ln/>
        </p:spPr>
        <p:txBody>
          <a:bodyPr/>
          <a:lstStyle/>
          <a:p>
            <a:endParaRPr lang="en-IN"/>
          </a:p>
        </p:txBody>
      </p:sp>
      <p:sp>
        <p:nvSpPr>
          <p:cNvPr id="6" name="Text 4"/>
          <p:cNvSpPr txBox="1"/>
          <p:nvPr/>
        </p:nvSpPr>
        <p:spPr>
          <a:xfrm>
            <a:off x="685800" y="2825496"/>
            <a:ext cx="10789920" cy="310896"/>
          </a:xfrm>
          <a:prstGeom prst="rect">
            <a:avLst/>
          </a:prstGeom>
          <a:noFill/>
          <a:ln/>
        </p:spPr>
        <p:txBody>
          <a:bodyPr wrap="square" lIns="0" tIns="0" rIns="0" bIns="0" rtlCol="0" anchor="ctr"/>
          <a:lstStyle/>
          <a:p>
            <a:pPr marL="0" indent="0">
              <a:buNone/>
            </a:pPr>
            <a:r>
              <a:rPr lang="en-US" sz="1300" b="1" dirty="0">
                <a:solidFill>
                  <a:srgbClr val="0F766E"/>
                </a:solidFill>
              </a:rPr>
              <a:t>Restaurant analogy</a:t>
            </a:r>
            <a:endParaRPr lang="en-US" sz="1300" dirty="0"/>
          </a:p>
        </p:txBody>
      </p:sp>
      <p:sp>
        <p:nvSpPr>
          <p:cNvPr id="7" name="Text 5"/>
          <p:cNvSpPr txBox="1"/>
          <p:nvPr/>
        </p:nvSpPr>
        <p:spPr>
          <a:xfrm>
            <a:off x="685800" y="3154680"/>
            <a:ext cx="10789920" cy="2916936"/>
          </a:xfrm>
          <a:prstGeom prst="rect">
            <a:avLst/>
          </a:prstGeom>
          <a:noFill/>
          <a:ln/>
        </p:spPr>
        <p:txBody>
          <a:bodyPr wrap="square" lIns="0" tIns="0" rIns="0" bIns="0" rtlCol="0" anchor="t"/>
          <a:lstStyle/>
          <a:p>
            <a:pPr marL="0" indent="0">
              <a:buNone/>
            </a:pPr>
            <a:r>
              <a:rPr lang="en-US" sz="1500" dirty="0">
                <a:solidFill>
                  <a:srgbClr val="334155"/>
                </a:solidFill>
              </a:rPr>
              <a:t>Imagine a restaurant where chefs never enter the dining room and waiters never enter the kitchen. The chefs optimise for new dishes. The waiters optimise for no complaints. Guest experience cannot win.</a:t>
            </a:r>
            <a:endParaRPr lang="en-US" sz="1500" dirty="0"/>
          </a:p>
          <a:p>
            <a:pPr marL="0" indent="0">
              <a:buNone/>
            </a:pPr>
            <a:endParaRPr lang="en-US" sz="1500" dirty="0"/>
          </a:p>
          <a:p>
            <a:pPr marL="0" indent="0">
              <a:buNone/>
            </a:pPr>
            <a:r>
              <a:rPr lang="en-US" sz="1500" dirty="0">
                <a:solidFill>
                  <a:srgbClr val="334155"/>
                </a:solidFill>
              </a:rPr>
              <a:t>DevOps is the idea that the people who cook and the people who serve share one result: a working meal, every day, without a hero.</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A Monday morning at 9:10</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A story you will meet at work</a:t>
            </a:r>
            <a:endParaRPr lang="en-US" sz="1100" dirty="0"/>
          </a:p>
        </p:txBody>
      </p:sp>
      <p:sp>
        <p:nvSpPr>
          <p:cNvPr id="4" name="Text 2"/>
          <p:cNvSpPr txBox="1"/>
          <p:nvPr/>
        </p:nvSpPr>
        <p:spPr>
          <a:xfrm>
            <a:off x="502920" y="1005840"/>
            <a:ext cx="11155680" cy="1691640"/>
          </a:xfrm>
          <a:prstGeom prst="rect">
            <a:avLst/>
          </a:prstGeom>
          <a:noFill/>
          <a:ln/>
        </p:spPr>
        <p:txBody>
          <a:bodyPr wrap="square" lIns="0" tIns="0" rIns="0" bIns="0" rtlCol="0" anchor="t"/>
          <a:lstStyle/>
          <a:p>
            <a:pPr marL="0" indent="0">
              <a:buNone/>
            </a:pPr>
            <a:r>
              <a:rPr lang="en-US" sz="1600" dirty="0">
                <a:solidFill>
                  <a:srgbClr val="334155"/>
                </a:solidFill>
              </a:rPr>
              <a:t>Users cannot log in. Developers are in a stand-up meeting. Operations is looking at a red dashboard. Nobody knows which version is live. The last person who deployed used a laptop that is now wiped. The log file is empty because the disk was 100% full and nobody noticed.</a:t>
            </a:r>
            <a:endParaRPr lang="en-US" sz="1600" dirty="0"/>
          </a:p>
        </p:txBody>
      </p:sp>
      <p:sp>
        <p:nvSpPr>
          <p:cNvPr id="5" name="Shape 3"/>
          <p:cNvSpPr/>
          <p:nvPr/>
        </p:nvSpPr>
        <p:spPr>
          <a:xfrm>
            <a:off x="502920" y="2834640"/>
            <a:ext cx="11155680" cy="3383280"/>
          </a:xfrm>
          <a:prstGeom prst="roundRect">
            <a:avLst>
              <a:gd name="adj" fmla="val 2162"/>
            </a:avLst>
          </a:prstGeom>
          <a:solidFill>
            <a:srgbClr val="FEF3C7"/>
          </a:solidFill>
          <a:ln/>
        </p:spPr>
        <p:txBody>
          <a:bodyPr/>
          <a:lstStyle/>
          <a:p>
            <a:endParaRPr lang="en-IN"/>
          </a:p>
        </p:txBody>
      </p:sp>
      <p:sp>
        <p:nvSpPr>
          <p:cNvPr id="6" name="Text 4"/>
          <p:cNvSpPr txBox="1"/>
          <p:nvPr/>
        </p:nvSpPr>
        <p:spPr>
          <a:xfrm>
            <a:off x="685800" y="2962656"/>
            <a:ext cx="10789920" cy="310896"/>
          </a:xfrm>
          <a:prstGeom prst="rect">
            <a:avLst/>
          </a:prstGeom>
          <a:noFill/>
          <a:ln/>
        </p:spPr>
        <p:txBody>
          <a:bodyPr wrap="square" lIns="0" tIns="0" rIns="0" bIns="0" rtlCol="0" anchor="ctr"/>
          <a:lstStyle/>
          <a:p>
            <a:pPr marL="0" indent="0">
              <a:buNone/>
            </a:pPr>
            <a:r>
              <a:rPr lang="en-US" sz="1300" b="1" dirty="0">
                <a:solidFill>
                  <a:srgbClr val="B45309"/>
                </a:solidFill>
              </a:rPr>
              <a:t>What would you want to know first?</a:t>
            </a:r>
            <a:endParaRPr lang="en-US" sz="1300" dirty="0"/>
          </a:p>
        </p:txBody>
      </p:sp>
      <p:sp>
        <p:nvSpPr>
          <p:cNvPr id="7" name="Text 5"/>
          <p:cNvSpPr txBox="1"/>
          <p:nvPr/>
        </p:nvSpPr>
        <p:spPr>
          <a:xfrm>
            <a:off x="685800" y="3291840"/>
            <a:ext cx="10789920" cy="2779776"/>
          </a:xfrm>
          <a:prstGeom prst="rect">
            <a:avLst/>
          </a:prstGeom>
          <a:noFill/>
          <a:ln/>
        </p:spPr>
        <p:txBody>
          <a:bodyPr wrap="square" lIns="0" tIns="0" rIns="0" bIns="0" rtlCol="0" anchor="t"/>
          <a:lstStyle/>
          <a:p>
            <a:pPr marL="0" indent="0">
              <a:buNone/>
            </a:pPr>
            <a:r>
              <a:rPr lang="en-US" sz="1500" dirty="0">
                <a:solidFill>
                  <a:srgbClr val="334155"/>
                </a:solidFill>
              </a:rPr>
              <a:t>Not the Python code. First: is the program even running? Is the disk full? What does the log say?</a:t>
            </a:r>
            <a:endParaRPr lang="en-US" sz="1500" dirty="0"/>
          </a:p>
          <a:p>
            <a:pPr marL="0" indent="0">
              <a:buNone/>
            </a:pPr>
            <a:endParaRPr lang="en-US" sz="1500" dirty="0"/>
          </a:p>
          <a:p>
            <a:pPr marL="0" indent="0">
              <a:buNone/>
            </a:pPr>
            <a:r>
              <a:rPr lang="en-US" sz="1500" dirty="0">
                <a:solidFill>
                  <a:srgbClr val="334155"/>
                </a:solidFill>
              </a:rPr>
              <a:t>That order — process, disk, logs, then code — is how juniors stop guessing. We will practise the log part today with grep ERROR.</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DevOps is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Definition</a:t>
            </a:r>
            <a:endParaRPr lang="en-US" sz="1100" dirty="0"/>
          </a:p>
        </p:txBody>
      </p:sp>
      <p:sp>
        <p:nvSpPr>
          <p:cNvPr id="4" name="Text 2"/>
          <p:cNvSpPr txBox="1"/>
          <p:nvPr/>
        </p:nvSpPr>
        <p:spPr>
          <a:xfrm>
            <a:off x="502920" y="1005840"/>
            <a:ext cx="11155680" cy="1691640"/>
          </a:xfrm>
          <a:prstGeom prst="rect">
            <a:avLst/>
          </a:prstGeom>
          <a:noFill/>
          <a:ln/>
        </p:spPr>
        <p:txBody>
          <a:bodyPr wrap="square" lIns="0" tIns="0" rIns="0" bIns="0" rtlCol="0" anchor="t"/>
          <a:lstStyle/>
          <a:p>
            <a:pPr marL="0" indent="0">
              <a:buNone/>
            </a:pPr>
            <a:r>
              <a:rPr lang="en-US" sz="1600" dirty="0">
                <a:solidFill>
                  <a:srgbClr val="334155"/>
                </a:solidFill>
              </a:rPr>
              <a:t>DevOps is a way of working. The people who build the software also share responsibility for shipping it and keeping it healthy. It is culture (we own the result together) plus practices (small releases, automated tests) plus tools (which encode those practices).</a:t>
            </a:r>
            <a:endParaRPr lang="en-US" sz="1600" dirty="0"/>
          </a:p>
        </p:txBody>
      </p:sp>
      <p:sp>
        <p:nvSpPr>
          <p:cNvPr id="5" name="Shape 3"/>
          <p:cNvSpPr/>
          <p:nvPr/>
        </p:nvSpPr>
        <p:spPr>
          <a:xfrm>
            <a:off x="502920" y="2834640"/>
            <a:ext cx="11155680" cy="3383280"/>
          </a:xfrm>
          <a:prstGeom prst="roundRect">
            <a:avLst>
              <a:gd name="adj" fmla="val 2162"/>
            </a:avLst>
          </a:prstGeom>
          <a:solidFill>
            <a:srgbClr val="ECFDF5"/>
          </a:solidFill>
          <a:ln/>
        </p:spPr>
        <p:txBody>
          <a:bodyPr/>
          <a:lstStyle/>
          <a:p>
            <a:endParaRPr lang="en-IN"/>
          </a:p>
        </p:txBody>
      </p:sp>
      <p:sp>
        <p:nvSpPr>
          <p:cNvPr id="6" name="Text 4"/>
          <p:cNvSpPr txBox="1"/>
          <p:nvPr/>
        </p:nvSpPr>
        <p:spPr>
          <a:xfrm>
            <a:off x="685800" y="2962656"/>
            <a:ext cx="10789920" cy="310896"/>
          </a:xfrm>
          <a:prstGeom prst="rect">
            <a:avLst/>
          </a:prstGeom>
          <a:noFill/>
          <a:ln/>
        </p:spPr>
        <p:txBody>
          <a:bodyPr wrap="square" lIns="0" tIns="0" rIns="0" bIns="0" rtlCol="0" anchor="ctr"/>
          <a:lstStyle/>
          <a:p>
            <a:pPr marL="0" indent="0">
              <a:buNone/>
            </a:pPr>
            <a:r>
              <a:rPr lang="en-US" sz="1300" b="1" dirty="0">
                <a:solidFill>
                  <a:srgbClr val="0F766E"/>
                </a:solidFill>
              </a:rPr>
              <a:t>Interview sentence — learn this</a:t>
            </a:r>
            <a:endParaRPr lang="en-US" sz="1300" dirty="0"/>
          </a:p>
        </p:txBody>
      </p:sp>
      <p:sp>
        <p:nvSpPr>
          <p:cNvPr id="7" name="Text 5"/>
          <p:cNvSpPr txBox="1"/>
          <p:nvPr/>
        </p:nvSpPr>
        <p:spPr>
          <a:xfrm>
            <a:off x="685800" y="3291840"/>
            <a:ext cx="10789920" cy="2779776"/>
          </a:xfrm>
          <a:prstGeom prst="rect">
            <a:avLst/>
          </a:prstGeom>
          <a:noFill/>
          <a:ln/>
        </p:spPr>
        <p:txBody>
          <a:bodyPr wrap="square" lIns="0" tIns="0" rIns="0" bIns="0" rtlCol="0" anchor="t"/>
          <a:lstStyle/>
          <a:p>
            <a:pPr marL="0" indent="0">
              <a:buNone/>
            </a:pPr>
            <a:r>
              <a:rPr lang="en-US" sz="1500" dirty="0">
                <a:solidFill>
                  <a:srgbClr val="334155"/>
                </a:solidFill>
              </a:rPr>
              <a:t>“DevOps means we treat build, release, and run as one loop, not two teams throwing work over a wall.”</a:t>
            </a:r>
            <a:endParaRPr lang="en-US" sz="1500" dirty="0"/>
          </a:p>
          <a:p>
            <a:pPr marL="0" indent="0">
              <a:buNone/>
            </a:pPr>
            <a:endParaRPr lang="en-US" sz="1500" dirty="0"/>
          </a:p>
          <a:p>
            <a:pPr marL="0" indent="0">
              <a:buNone/>
            </a:pPr>
            <a:r>
              <a:rPr lang="en-US" sz="1500" dirty="0">
                <a:solidFill>
                  <a:srgbClr val="334155"/>
                </a:solidFill>
              </a:rPr>
              <a:t>Say it in your own words. Do not say “DevOps is Jenkins”. Jenkins is one tool that can help. The idea is bigger than any tool.</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DevOps is not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Common traps</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2164080"/>
        </p:xfrm>
        <a:graphic>
          <a:graphicData uri="http://schemas.openxmlformats.org/drawingml/2006/table">
            <a:tbl>
              <a:tblPr/>
              <a:tblGrid>
                <a:gridCol w="4023360">
                  <a:extLst>
                    <a:ext uri="{9D8B030D-6E8A-4147-A177-3AD203B41FA5}">
                      <a16:colId xmlns:a16="http://schemas.microsoft.com/office/drawing/2014/main" val="20000"/>
                    </a:ext>
                  </a:extLst>
                </a:gridCol>
                <a:gridCol w="715060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People sometimes say…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The truth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“DevOps is a tool.”</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 Installing Jenkins or GitHub Actions does not make a team DevOps. Tools support the loop; they are not the loop.</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“DevOps is AWS.”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 You can practise DevOps on one laptop. You can also run a chaotic, fully manual operation inside a huge cloud account.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“DevOps means developers do night shifts unpaid.”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 The point is shared ownership and better systems, so releases are small and reversible.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“I must memorise every AWS service.”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 You must know the loop and Linux. Cloud names are mapped onto that loop, lecture by lecture.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How software actually reaches users</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SDLC, the DevOps loop, then CI versus the two CDs</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Software Development Life Cycle (SDLC)</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SDLC</a:t>
            </a:r>
            <a:endParaRPr lang="en-US" sz="1100" dirty="0"/>
          </a:p>
        </p:txBody>
      </p:sp>
      <p:sp>
        <p:nvSpPr>
          <p:cNvPr id="4" name="Text 2"/>
          <p:cNvSpPr txBox="1"/>
          <p:nvPr/>
        </p:nvSpPr>
        <p:spPr>
          <a:xfrm>
            <a:off x="502920" y="1005840"/>
            <a:ext cx="11155680" cy="1554480"/>
          </a:xfrm>
          <a:prstGeom prst="rect">
            <a:avLst/>
          </a:prstGeom>
          <a:noFill/>
          <a:ln/>
        </p:spPr>
        <p:txBody>
          <a:bodyPr wrap="square" lIns="0" tIns="0" rIns="0" bIns="0" rtlCol="0" anchor="t"/>
          <a:lstStyle/>
          <a:p>
            <a:pPr marL="0" indent="0">
              <a:buNone/>
            </a:pPr>
            <a:r>
              <a:rPr lang="en-US" sz="1600" dirty="0">
                <a:solidFill>
                  <a:srgbClr val="334155"/>
                </a:solidFill>
              </a:rPr>
              <a:t>SDLC is the path of a change from idea to running software and back: understand the need, design, implement, test, deploy, operate, then learn. Older “waterfall” projects treated these as long phases. Most product teams now repeat them in small cycles.</a:t>
            </a:r>
            <a:endParaRPr lang="en-US" sz="1600" dirty="0"/>
          </a:p>
        </p:txBody>
      </p:sp>
      <p:sp>
        <p:nvSpPr>
          <p:cNvPr id="5" name="Shape 3"/>
          <p:cNvSpPr/>
          <p:nvPr/>
        </p:nvSpPr>
        <p:spPr>
          <a:xfrm>
            <a:off x="502920" y="2697480"/>
            <a:ext cx="11155680" cy="3520440"/>
          </a:xfrm>
          <a:prstGeom prst="roundRect">
            <a:avLst>
              <a:gd name="adj" fmla="val 2078"/>
            </a:avLst>
          </a:prstGeom>
          <a:solidFill>
            <a:srgbClr val="F1F5F9"/>
          </a:solidFill>
          <a:ln/>
        </p:spPr>
        <p:txBody>
          <a:bodyPr/>
          <a:lstStyle/>
          <a:p>
            <a:endParaRPr lang="en-IN"/>
          </a:p>
        </p:txBody>
      </p:sp>
      <p:sp>
        <p:nvSpPr>
          <p:cNvPr id="6" name="Text 4"/>
          <p:cNvSpPr txBox="1"/>
          <p:nvPr/>
        </p:nvSpPr>
        <p:spPr>
          <a:xfrm>
            <a:off x="685800" y="2825496"/>
            <a:ext cx="10789920" cy="310896"/>
          </a:xfrm>
          <a:prstGeom prst="rect">
            <a:avLst/>
          </a:prstGeom>
          <a:noFill/>
          <a:ln/>
        </p:spPr>
        <p:txBody>
          <a:bodyPr wrap="square" lIns="0" tIns="0" rIns="0" bIns="0" rtlCol="0" anchor="ctr"/>
          <a:lstStyle/>
          <a:p>
            <a:pPr marL="0" indent="0">
              <a:buNone/>
            </a:pPr>
            <a:r>
              <a:rPr lang="en-US" sz="1300" b="1" dirty="0">
                <a:solidFill>
                  <a:srgbClr val="0F766E"/>
                </a:solidFill>
              </a:rPr>
              <a:t>DevOps does not throw SDLC away</a:t>
            </a:r>
            <a:endParaRPr lang="en-US" sz="1300" dirty="0"/>
          </a:p>
        </p:txBody>
      </p:sp>
      <p:sp>
        <p:nvSpPr>
          <p:cNvPr id="7" name="Text 5"/>
          <p:cNvSpPr txBox="1"/>
          <p:nvPr/>
        </p:nvSpPr>
        <p:spPr>
          <a:xfrm>
            <a:off x="685800" y="3154680"/>
            <a:ext cx="10789920" cy="2916936"/>
          </a:xfrm>
          <a:prstGeom prst="rect">
            <a:avLst/>
          </a:prstGeom>
          <a:noFill/>
          <a:ln/>
        </p:spPr>
        <p:txBody>
          <a:bodyPr wrap="square" lIns="0" tIns="0" rIns="0" bIns="0" rtlCol="0" anchor="t"/>
          <a:lstStyle/>
          <a:p>
            <a:pPr marL="0" indent="0">
              <a:buNone/>
            </a:pPr>
            <a:r>
              <a:rPr lang="en-US" sz="1500" dirty="0">
                <a:solidFill>
                  <a:srgbClr val="334155"/>
                </a:solidFill>
              </a:rPr>
              <a:t>DevOps insists that deploy and operate are part of the same team’s week, not a separate six-month project called “go live”.</a:t>
            </a:r>
            <a:endParaRPr lang="en-US" sz="1500" dirty="0"/>
          </a:p>
          <a:p>
            <a:pPr marL="0" indent="0">
              <a:buNone/>
            </a:pPr>
            <a:endParaRPr lang="en-US" sz="1500" dirty="0"/>
          </a:p>
          <a:p>
            <a:pPr marL="0" indent="0">
              <a:buNone/>
            </a:pPr>
            <a:r>
              <a:rPr lang="en-US" sz="1500" dirty="0">
                <a:solidFill>
                  <a:srgbClr val="334155"/>
                </a:solidFill>
              </a:rPr>
              <a:t>Where does “writing Python” sit? Implementation.</a:t>
            </a:r>
            <a:endParaRPr lang="en-US" sz="1500" dirty="0"/>
          </a:p>
          <a:p>
            <a:pPr marL="0" indent="0">
              <a:buNone/>
            </a:pPr>
            <a:r>
              <a:rPr lang="en-US" sz="1500" dirty="0">
                <a:solidFill>
                  <a:srgbClr val="334155"/>
                </a:solidFill>
              </a:rPr>
              <a:t>Where does “reading logs at 2 a.m.” sit? Operate.</a:t>
            </a:r>
            <a:endParaRPr lang="en-US" sz="1500" dirty="0"/>
          </a:p>
          <a:p>
            <a:pPr marL="0" indent="0">
              <a:buNone/>
            </a:pPr>
            <a:endParaRPr lang="en-US" sz="1500" dirty="0"/>
          </a:p>
          <a:p>
            <a:pPr marL="0" indent="0">
              <a:buNone/>
            </a:pPr>
            <a:r>
              <a:rPr lang="en-US" sz="1500" dirty="0">
                <a:solidFill>
                  <a:srgbClr val="334155"/>
                </a:solidFill>
              </a:rPr>
              <a:t>If you only write code and never operate, you only did half of the life cycle.</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The eight stages of the DevOps loop</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The loop</a:t>
            </a:r>
            <a:endParaRPr lang="en-US" sz="1100" dirty="0"/>
          </a:p>
        </p:txBody>
      </p:sp>
      <p:sp>
        <p:nvSpPr>
          <p:cNvPr id="4" name="Text 2"/>
          <p:cNvSpPr txBox="1"/>
          <p:nvPr/>
        </p:nvSpPr>
        <p:spPr>
          <a:xfrm>
            <a:off x="502920" y="987552"/>
            <a:ext cx="11155680" cy="1097280"/>
          </a:xfrm>
          <a:prstGeom prst="rect">
            <a:avLst/>
          </a:prstGeom>
          <a:noFill/>
          <a:ln/>
        </p:spPr>
        <p:txBody>
          <a:bodyPr wrap="square" lIns="0" tIns="0" rIns="0" bIns="0" rtlCol="0" anchor="t"/>
          <a:lstStyle/>
          <a:p>
            <a:pPr marL="0" indent="0">
              <a:buNone/>
            </a:pPr>
            <a:r>
              <a:rPr lang="en-US" sz="1600" dirty="0">
                <a:solidFill>
                  <a:srgbClr val="334155"/>
                </a:solidFill>
              </a:rPr>
              <a:t>Write these eight words: plan → code → build → test → release → deploy → operate → monitor. Then it feeds plan again. If you stop at deploy, you shipped a black box. You do not know if users succeed.</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2121408"/>
          <a:ext cx="11173968" cy="2468880"/>
        </p:xfrm>
        <a:graphic>
          <a:graphicData uri="http://schemas.openxmlformats.org/drawingml/2006/table">
            <a:tbl>
              <a:tblPr/>
              <a:tblGrid>
                <a:gridCol w="1645920">
                  <a:extLst>
                    <a:ext uri="{9D8B030D-6E8A-4147-A177-3AD203B41FA5}">
                      <a16:colId xmlns:a16="http://schemas.microsoft.com/office/drawing/2014/main" val="20000"/>
                    </a:ext>
                  </a:extLst>
                </a:gridCol>
                <a:gridCol w="6766560">
                  <a:extLst>
                    <a:ext uri="{9D8B030D-6E8A-4147-A177-3AD203B41FA5}">
                      <a16:colId xmlns:a16="http://schemas.microsoft.com/office/drawing/2014/main" val="20001"/>
                    </a:ext>
                  </a:extLst>
                </a:gridCol>
                <a:gridCol w="2761488">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Plain meaning</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Plan</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What are we changing, and how will we know it worked?</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Idea only</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Code</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The change lives in a repository.</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Lecture 2 (Git)</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Build</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Turn code into a package you can install.</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Later</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A machine proves we did not break the basics.</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Idea: CI</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Release</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This version is allowed to go out.</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Idea: Delivery</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Deploy</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It is actually running somewhere.</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Later lectures</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Operate</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Start, stop, disk, logs, processes.</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Yes — Linux lab</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r h="0">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Monitor</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Are users succeeding?</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200" dirty="0">
                          <a:solidFill>
                            <a:srgbClr val="0F172A"/>
                          </a:solidFill>
                          <a:latin typeface="Calibri" pitchFamily="34" charset="0"/>
                          <a:ea typeface="Calibri" pitchFamily="34" charset="-122"/>
                          <a:cs typeface="Calibri" pitchFamily="34" charset="-120"/>
                        </a:rPr>
                        <a:t>Today: read a log</a:t>
                      </a:r>
                      <a:endParaRPr lang="en-US" sz="12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Continuous Integration (CI)</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CI</a:t>
            </a:r>
            <a:endParaRPr lang="en-US" sz="1100" dirty="0"/>
          </a:p>
        </p:txBody>
      </p:sp>
      <p:sp>
        <p:nvSpPr>
          <p:cNvPr id="4" name="Text 2"/>
          <p:cNvSpPr txBox="1"/>
          <p:nvPr/>
        </p:nvSpPr>
        <p:spPr>
          <a:xfrm>
            <a:off x="502920" y="1005840"/>
            <a:ext cx="11155680" cy="1417320"/>
          </a:xfrm>
          <a:prstGeom prst="rect">
            <a:avLst/>
          </a:prstGeom>
          <a:noFill/>
          <a:ln/>
        </p:spPr>
        <p:txBody>
          <a:bodyPr wrap="square" lIns="0" tIns="0" rIns="0" bIns="0" rtlCol="0" anchor="t"/>
          <a:lstStyle/>
          <a:p>
            <a:pPr marL="0" indent="0">
              <a:buNone/>
            </a:pPr>
            <a:r>
              <a:rPr lang="en-US" sz="1600" dirty="0">
                <a:solidFill>
                  <a:srgbClr val="334155"/>
                </a:solidFill>
              </a:rPr>
              <a:t>Continuous Integration means: every time someone saves a change (a commit), a machine builds the project and runs tests. You do not wait until Friday to discover the project does not even compile.</a:t>
            </a:r>
            <a:endParaRPr lang="en-US" sz="1600" dirty="0"/>
          </a:p>
        </p:txBody>
      </p:sp>
      <p:sp>
        <p:nvSpPr>
          <p:cNvPr id="5" name="Shape 3"/>
          <p:cNvSpPr/>
          <p:nvPr/>
        </p:nvSpPr>
        <p:spPr>
          <a:xfrm>
            <a:off x="502920" y="2560320"/>
            <a:ext cx="5532120" cy="3657600"/>
          </a:xfrm>
          <a:prstGeom prst="roundRect">
            <a:avLst>
              <a:gd name="adj" fmla="val 2000"/>
            </a:avLst>
          </a:prstGeom>
          <a:solidFill>
            <a:srgbClr val="ECFDF5"/>
          </a:solidFill>
          <a:ln/>
        </p:spPr>
        <p:txBody>
          <a:bodyPr/>
          <a:lstStyle/>
          <a:p>
            <a:endParaRPr lang="en-IN"/>
          </a:p>
        </p:txBody>
      </p:sp>
      <p:sp>
        <p:nvSpPr>
          <p:cNvPr id="6" name="Text 4"/>
          <p:cNvSpPr txBox="1"/>
          <p:nvPr/>
        </p:nvSpPr>
        <p:spPr>
          <a:xfrm>
            <a:off x="685800" y="2688336"/>
            <a:ext cx="5166360" cy="310896"/>
          </a:xfrm>
          <a:prstGeom prst="rect">
            <a:avLst/>
          </a:prstGeom>
          <a:noFill/>
          <a:ln/>
        </p:spPr>
        <p:txBody>
          <a:bodyPr wrap="square" lIns="0" tIns="0" rIns="0" bIns="0" rtlCol="0" anchor="ctr"/>
          <a:lstStyle/>
          <a:p>
            <a:pPr marL="0" indent="0">
              <a:buNone/>
            </a:pPr>
            <a:r>
              <a:rPr lang="en-US" sz="1300" b="1" dirty="0">
                <a:solidFill>
                  <a:srgbClr val="0F766E"/>
                </a:solidFill>
              </a:rPr>
              <a:t>Everyday analogy</a:t>
            </a:r>
            <a:endParaRPr lang="en-US" sz="1300" dirty="0"/>
          </a:p>
        </p:txBody>
      </p:sp>
      <p:sp>
        <p:nvSpPr>
          <p:cNvPr id="7" name="Text 5"/>
          <p:cNvSpPr txBox="1"/>
          <p:nvPr/>
        </p:nvSpPr>
        <p:spPr>
          <a:xfrm>
            <a:off x="685800" y="3017520"/>
            <a:ext cx="5166360" cy="3054096"/>
          </a:xfrm>
          <a:prstGeom prst="rect">
            <a:avLst/>
          </a:prstGeom>
          <a:noFill/>
          <a:ln/>
        </p:spPr>
        <p:txBody>
          <a:bodyPr wrap="square" lIns="0" tIns="0" rIns="0" bIns="0" rtlCol="0" anchor="t"/>
          <a:lstStyle/>
          <a:p>
            <a:pPr marL="0" indent="0">
              <a:buNone/>
            </a:pPr>
            <a:r>
              <a:rPr lang="en-US" sz="1500" dirty="0">
                <a:solidFill>
                  <a:srgbClr val="334155"/>
                </a:solidFill>
              </a:rPr>
              <a:t>CI is the spellchecker that runs while you type. It does not post the letter. It only tells you the words are valid.</a:t>
            </a:r>
            <a:endParaRPr lang="en-US" sz="1500" dirty="0"/>
          </a:p>
          <a:p>
            <a:pPr marL="0" indent="0">
              <a:buNone/>
            </a:pPr>
            <a:endParaRPr lang="en-US" sz="1500" dirty="0"/>
          </a:p>
          <a:p>
            <a:pPr marL="0" indent="0">
              <a:buNone/>
            </a:pPr>
            <a:r>
              <a:rPr lang="en-US" sz="1500" dirty="0">
                <a:solidFill>
                  <a:srgbClr val="334155"/>
                </a:solidFill>
              </a:rPr>
              <a:t>Tests on your own laptop are useful. They are not CI. CI is automated and runs on every commit, for everyone on the team.</a:t>
            </a:r>
            <a:endParaRPr lang="en-US" sz="1500" dirty="0"/>
          </a:p>
        </p:txBody>
      </p:sp>
      <p:sp>
        <p:nvSpPr>
          <p:cNvPr id="8" name="Shape 6"/>
          <p:cNvSpPr/>
          <p:nvPr/>
        </p:nvSpPr>
        <p:spPr>
          <a:xfrm>
            <a:off x="6217920" y="2560320"/>
            <a:ext cx="5440680" cy="3657600"/>
          </a:xfrm>
          <a:prstGeom prst="roundRect">
            <a:avLst>
              <a:gd name="adj" fmla="val 2000"/>
            </a:avLst>
          </a:prstGeom>
          <a:solidFill>
            <a:srgbClr val="F1F5F9"/>
          </a:solidFill>
          <a:ln/>
        </p:spPr>
        <p:txBody>
          <a:bodyPr/>
          <a:lstStyle/>
          <a:p>
            <a:endParaRPr lang="en-IN"/>
          </a:p>
        </p:txBody>
      </p:sp>
      <p:sp>
        <p:nvSpPr>
          <p:cNvPr id="9" name="Text 7"/>
          <p:cNvSpPr txBox="1"/>
          <p:nvPr/>
        </p:nvSpPr>
        <p:spPr>
          <a:xfrm>
            <a:off x="6400800" y="2688336"/>
            <a:ext cx="5074920" cy="310896"/>
          </a:xfrm>
          <a:prstGeom prst="rect">
            <a:avLst/>
          </a:prstGeom>
          <a:noFill/>
          <a:ln/>
        </p:spPr>
        <p:txBody>
          <a:bodyPr wrap="square" lIns="0" tIns="0" rIns="0" bIns="0" rtlCol="0" anchor="ctr"/>
          <a:lstStyle/>
          <a:p>
            <a:pPr marL="0" indent="0">
              <a:buNone/>
            </a:pPr>
            <a:r>
              <a:rPr lang="en-US" sz="1300" b="1" dirty="0">
                <a:solidFill>
                  <a:srgbClr val="0F172A"/>
                </a:solidFill>
              </a:rPr>
              <a:t>Interview trap</a:t>
            </a:r>
            <a:endParaRPr lang="en-US" sz="1300" dirty="0"/>
          </a:p>
        </p:txBody>
      </p:sp>
      <p:sp>
        <p:nvSpPr>
          <p:cNvPr id="10" name="Text 8"/>
          <p:cNvSpPr txBox="1"/>
          <p:nvPr/>
        </p:nvSpPr>
        <p:spPr>
          <a:xfrm>
            <a:off x="6400800" y="3017520"/>
            <a:ext cx="5074920" cy="3054096"/>
          </a:xfrm>
          <a:prstGeom prst="rect">
            <a:avLst/>
          </a:prstGeom>
          <a:noFill/>
          <a:ln/>
        </p:spPr>
        <p:txBody>
          <a:bodyPr wrap="square" lIns="0" tIns="0" rIns="0" bIns="0" rtlCol="0" anchor="t"/>
          <a:lstStyle/>
          <a:p>
            <a:pPr marL="0" indent="0">
              <a:buNone/>
            </a:pPr>
            <a:r>
              <a:rPr lang="en-US" sz="1500" dirty="0">
                <a:solidFill>
                  <a:srgbClr val="334155"/>
                </a:solidFill>
              </a:rPr>
              <a:t>Do not say “I did CI” if you only ran tests by hand on your laptop.</a:t>
            </a:r>
            <a:endParaRPr lang="en-US" sz="1500" dirty="0"/>
          </a:p>
          <a:p>
            <a:pPr marL="0" indent="0">
              <a:buNone/>
            </a:pPr>
            <a:endParaRPr lang="en-US" sz="1500" dirty="0"/>
          </a:p>
          <a:p>
            <a:pPr marL="0" indent="0">
              <a:buNone/>
            </a:pPr>
            <a:r>
              <a:rPr lang="en-US" sz="1500" dirty="0">
                <a:solidFill>
                  <a:srgbClr val="334155"/>
                </a:solidFill>
              </a:rPr>
              <a:t>Say: “CI is a machine that builds and tests every commit so we find breaks early.”</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Continuous Delivery versus Continuous Deployment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The two CDs</a:t>
            </a:r>
            <a:endParaRPr lang="en-US" sz="1100" dirty="0"/>
          </a:p>
        </p:txBody>
      </p:sp>
      <p:sp>
        <p:nvSpPr>
          <p:cNvPr id="4" name="Shape 2"/>
          <p:cNvSpPr/>
          <p:nvPr/>
        </p:nvSpPr>
        <p:spPr>
          <a:xfrm>
            <a:off x="502920" y="1024128"/>
            <a:ext cx="5532120" cy="5212080"/>
          </a:xfrm>
          <a:prstGeom prst="roundRect">
            <a:avLst>
              <a:gd name="adj" fmla="val 1404"/>
            </a:avLst>
          </a:prstGeom>
          <a:solidFill>
            <a:srgbClr val="F1F5F9"/>
          </a:solidFill>
          <a:ln/>
        </p:spPr>
        <p:txBody>
          <a:bodyPr/>
          <a:lstStyle/>
          <a:p>
            <a:endParaRPr lang="en-IN"/>
          </a:p>
        </p:txBody>
      </p:sp>
      <p:sp>
        <p:nvSpPr>
          <p:cNvPr id="5" name="Text 3"/>
          <p:cNvSpPr txBox="1"/>
          <p:nvPr/>
        </p:nvSpPr>
        <p:spPr>
          <a:xfrm>
            <a:off x="685800" y="1152144"/>
            <a:ext cx="5166360" cy="310896"/>
          </a:xfrm>
          <a:prstGeom prst="rect">
            <a:avLst/>
          </a:prstGeom>
          <a:noFill/>
          <a:ln/>
        </p:spPr>
        <p:txBody>
          <a:bodyPr wrap="square" lIns="0" tIns="0" rIns="0" bIns="0" rtlCol="0" anchor="ctr"/>
          <a:lstStyle/>
          <a:p>
            <a:pPr marL="0" indent="0">
              <a:buNone/>
            </a:pPr>
            <a:r>
              <a:rPr lang="en-US" sz="1300" b="1" dirty="0">
                <a:solidFill>
                  <a:srgbClr val="0F172A"/>
                </a:solidFill>
              </a:rPr>
              <a:t>Continuous Delivery</a:t>
            </a:r>
            <a:endParaRPr lang="en-US" sz="1300" dirty="0"/>
          </a:p>
        </p:txBody>
      </p:sp>
      <p:sp>
        <p:nvSpPr>
          <p:cNvPr id="6" name="Text 4"/>
          <p:cNvSpPr txBox="1"/>
          <p:nvPr/>
        </p:nvSpPr>
        <p:spPr>
          <a:xfrm>
            <a:off x="685800" y="1481328"/>
            <a:ext cx="5166360" cy="4608576"/>
          </a:xfrm>
          <a:prstGeom prst="rect">
            <a:avLst/>
          </a:prstGeom>
          <a:noFill/>
          <a:ln/>
        </p:spPr>
        <p:txBody>
          <a:bodyPr wrap="square" lIns="0" tIns="0" rIns="0" bIns="0" rtlCol="0" anchor="t"/>
          <a:lstStyle/>
          <a:p>
            <a:pPr marL="0" indent="0">
              <a:buNone/>
            </a:pPr>
            <a:r>
              <a:rPr lang="en-US" sz="1500" dirty="0">
                <a:solidFill>
                  <a:srgbClr val="334155"/>
                </a:solidFill>
              </a:rPr>
              <a:t>Every good build is ready to go to users. A human often still says “yes, put it live”.</a:t>
            </a:r>
            <a:endParaRPr lang="en-US" sz="1500" dirty="0"/>
          </a:p>
          <a:p>
            <a:pPr marL="0" indent="0">
              <a:buNone/>
            </a:pPr>
            <a:endParaRPr lang="en-US" sz="1500" dirty="0"/>
          </a:p>
          <a:p>
            <a:pPr marL="0" indent="0">
              <a:buNone/>
            </a:pPr>
            <a:r>
              <a:rPr lang="en-US" sz="1500" dirty="0">
                <a:solidFill>
                  <a:srgbClr val="334155"/>
                </a:solidFill>
              </a:rPr>
              <a:t>Analogy: a letter is on the hall table, stamped and addressed. You still choose when to post it.</a:t>
            </a:r>
            <a:endParaRPr lang="en-US" sz="1500" dirty="0"/>
          </a:p>
          <a:p>
            <a:pPr marL="0" indent="0">
              <a:buNone/>
            </a:pPr>
            <a:endParaRPr lang="en-US" sz="1500" dirty="0"/>
          </a:p>
          <a:p>
            <a:pPr marL="0" indent="0">
              <a:buNone/>
            </a:pPr>
            <a:r>
              <a:rPr lang="en-US" sz="1500" dirty="0">
                <a:solidFill>
                  <a:srgbClr val="334155"/>
                </a:solidFill>
              </a:rPr>
              <a:t>This course aims here: automated checks, plus a person who approves production.</a:t>
            </a:r>
            <a:endParaRPr lang="en-US" sz="1500" dirty="0"/>
          </a:p>
        </p:txBody>
      </p:sp>
      <p:sp>
        <p:nvSpPr>
          <p:cNvPr id="7" name="Shape 5"/>
          <p:cNvSpPr/>
          <p:nvPr/>
        </p:nvSpPr>
        <p:spPr>
          <a:xfrm>
            <a:off x="6217920" y="1024128"/>
            <a:ext cx="5440680" cy="5212080"/>
          </a:xfrm>
          <a:prstGeom prst="roundRect">
            <a:avLst>
              <a:gd name="adj" fmla="val 1404"/>
            </a:avLst>
          </a:prstGeom>
          <a:solidFill>
            <a:srgbClr val="ECFDF5"/>
          </a:solidFill>
          <a:ln/>
        </p:spPr>
        <p:txBody>
          <a:bodyPr/>
          <a:lstStyle/>
          <a:p>
            <a:endParaRPr lang="en-IN"/>
          </a:p>
        </p:txBody>
      </p:sp>
      <p:sp>
        <p:nvSpPr>
          <p:cNvPr id="8" name="Text 6"/>
          <p:cNvSpPr txBox="1"/>
          <p:nvPr/>
        </p:nvSpPr>
        <p:spPr>
          <a:xfrm>
            <a:off x="6400800" y="1152144"/>
            <a:ext cx="5074920" cy="310896"/>
          </a:xfrm>
          <a:prstGeom prst="rect">
            <a:avLst/>
          </a:prstGeom>
          <a:noFill/>
          <a:ln/>
        </p:spPr>
        <p:txBody>
          <a:bodyPr wrap="square" lIns="0" tIns="0" rIns="0" bIns="0" rtlCol="0" anchor="ctr"/>
          <a:lstStyle/>
          <a:p>
            <a:pPr marL="0" indent="0">
              <a:buNone/>
            </a:pPr>
            <a:r>
              <a:rPr lang="en-US" sz="1300" b="1" dirty="0">
                <a:solidFill>
                  <a:srgbClr val="0F766E"/>
                </a:solidFill>
              </a:rPr>
              <a:t>Continuous Deployment</a:t>
            </a:r>
            <a:endParaRPr lang="en-US" sz="1300" dirty="0"/>
          </a:p>
        </p:txBody>
      </p:sp>
      <p:sp>
        <p:nvSpPr>
          <p:cNvPr id="9" name="Text 7"/>
          <p:cNvSpPr txBox="1"/>
          <p:nvPr/>
        </p:nvSpPr>
        <p:spPr>
          <a:xfrm>
            <a:off x="6400800" y="1481328"/>
            <a:ext cx="5074920" cy="4608576"/>
          </a:xfrm>
          <a:prstGeom prst="rect">
            <a:avLst/>
          </a:prstGeom>
          <a:noFill/>
          <a:ln/>
        </p:spPr>
        <p:txBody>
          <a:bodyPr wrap="square" lIns="0" tIns="0" rIns="0" bIns="0" rtlCol="0" anchor="t"/>
          <a:lstStyle/>
          <a:p>
            <a:pPr marL="0" indent="0">
              <a:buNone/>
            </a:pPr>
            <a:r>
              <a:rPr lang="en-US" sz="1500" dirty="0">
                <a:solidFill>
                  <a:srgbClr val="334155"/>
                </a:solidFill>
              </a:rPr>
              <a:t>Every good build actually goes to production. There is no manual “go live” button.</a:t>
            </a:r>
            <a:endParaRPr lang="en-US" sz="1500" dirty="0"/>
          </a:p>
          <a:p>
            <a:pPr marL="0" indent="0">
              <a:buNone/>
            </a:pPr>
            <a:endParaRPr lang="en-US" sz="1500" dirty="0"/>
          </a:p>
          <a:p>
            <a:pPr marL="0" indent="0">
              <a:buNone/>
            </a:pPr>
            <a:r>
              <a:rPr lang="en-US" sz="1500" dirty="0">
                <a:solidFill>
                  <a:srgbClr val="334155"/>
                </a:solidFill>
              </a:rPr>
              <a:t>Analogy: the postman always takes the letter. You trust the tests that much.</a:t>
            </a:r>
            <a:endParaRPr lang="en-US" sz="1500" dirty="0"/>
          </a:p>
          <a:p>
            <a:pPr marL="0" indent="0">
              <a:buNone/>
            </a:pPr>
            <a:endParaRPr lang="en-US" sz="1500" dirty="0"/>
          </a:p>
          <a:p>
            <a:pPr marL="0" indent="0">
              <a:buNone/>
            </a:pPr>
            <a:r>
              <a:rPr lang="en-US" sz="1500" dirty="0">
                <a:solidFill>
                  <a:srgbClr val="334155"/>
                </a:solidFill>
              </a:rPr>
              <a:t>This is a maturity choice, not a moral requirement. Banks often stay on Delivery. Some product teams use Deployment.</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One table you can revise from</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CI vs Delivery vs Deployment</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1524000"/>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35808">
                  <a:extLst>
                    <a:ext uri="{9D8B030D-6E8A-4147-A177-3AD203B41FA5}">
                      <a16:colId xmlns:a16="http://schemas.microsoft.com/office/drawing/2014/main" val="20003"/>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CI</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Continuous Delivery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Continuous Deployment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Build and test every commit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Every good build is releasable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Every good build goes live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Do users see 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 You only verify.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When a person approves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Yes, if tests pass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Who decides live?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Nobody — verify only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 human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pipeline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This course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Required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Yes, with a production gate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Optional later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5" name="Text 2"/>
          <p:cNvSpPr txBox="1"/>
          <p:nvPr/>
        </p:nvSpPr>
        <p:spPr>
          <a:xfrm>
            <a:off x="502920" y="5074920"/>
            <a:ext cx="11155680" cy="1097280"/>
          </a:xfrm>
          <a:prstGeom prst="rect">
            <a:avLst/>
          </a:prstGeom>
          <a:noFill/>
          <a:ln/>
        </p:spPr>
        <p:txBody>
          <a:bodyPr wrap="square" lIns="0" tIns="0" rIns="0" bIns="0" rtlCol="0" anchor="ctr"/>
          <a:lstStyle/>
          <a:p>
            <a:pPr marL="0" indent="0">
              <a:buNone/>
            </a:pPr>
            <a:r>
              <a:rPr lang="en-US" sz="1600" dirty="0">
                <a:solidFill>
                  <a:srgbClr val="334155"/>
                </a:solidFill>
              </a:rPr>
              <a:t>CD does not mean Docker. Docker is a packaging tool, taught in Lecture 9.</a:t>
            </a:r>
            <a:endParaRPr lang="en-US" sz="16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Tools encode the loop — they are not the loop</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Names only</a:t>
            </a:r>
            <a:endParaRPr lang="en-US" sz="1100" dirty="0"/>
          </a:p>
        </p:txBody>
      </p:sp>
      <p:sp>
        <p:nvSpPr>
          <p:cNvPr id="4" name="Text 2"/>
          <p:cNvSpPr txBox="1"/>
          <p:nvPr/>
        </p:nvSpPr>
        <p:spPr>
          <a:xfrm>
            <a:off x="502920" y="987552"/>
            <a:ext cx="11155680" cy="1051560"/>
          </a:xfrm>
          <a:prstGeom prst="rect">
            <a:avLst/>
          </a:prstGeom>
          <a:noFill/>
          <a:ln/>
        </p:spPr>
        <p:txBody>
          <a:bodyPr wrap="square" lIns="0" tIns="0" rIns="0" bIns="0" rtlCol="0" anchor="t"/>
          <a:lstStyle/>
          <a:p>
            <a:pPr marL="0" indent="0">
              <a:buNone/>
            </a:pPr>
            <a:r>
              <a:rPr lang="en-US" sz="1600" dirty="0">
                <a:solidFill>
                  <a:srgbClr val="334155"/>
                </a:solidFill>
              </a:rPr>
              <a:t>Tools are how we write the loop into a machine. Memorise the idea first. We install nothing today. If we spent twenty minutes on Docker now, we would fail Linux.</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73968" cy="2026920"/>
        </p:xfrm>
        <a:graphic>
          <a:graphicData uri="http://schemas.openxmlformats.org/drawingml/2006/table">
            <a:tbl>
              <a:tblPr/>
              <a:tblGrid>
                <a:gridCol w="237744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3127248">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it is for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When we teach 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Store code and history</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Lecture 2</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GitHub Actions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Run CI on every commit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Lecture 10</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Linux</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The operating system where the program runs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Today</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Terraform</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Describe servers as files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Lectures 7–8</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Docker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Package the app so it runs the same everywhere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Lecture 9</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Cloud logs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Keep evidence after the window closes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Lecture 12</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DevOps is not a cloud product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Idea versus vendor</a:t>
            </a:r>
            <a:endParaRPr lang="en-US" sz="1100" dirty="0"/>
          </a:p>
        </p:txBody>
      </p:sp>
      <p:sp>
        <p:nvSpPr>
          <p:cNvPr id="4" name="Text 2"/>
          <p:cNvSpPr txBox="1"/>
          <p:nvPr/>
        </p:nvSpPr>
        <p:spPr>
          <a:xfrm>
            <a:off x="502920" y="1005840"/>
            <a:ext cx="11155680" cy="1691640"/>
          </a:xfrm>
          <a:prstGeom prst="rect">
            <a:avLst/>
          </a:prstGeom>
          <a:noFill/>
          <a:ln/>
        </p:spPr>
        <p:txBody>
          <a:bodyPr wrap="square" lIns="0" tIns="0" rIns="0" bIns="0" rtlCol="0" anchor="t"/>
          <a:lstStyle/>
          <a:p>
            <a:pPr marL="0" indent="0">
              <a:buNone/>
            </a:pPr>
            <a:r>
              <a:rPr lang="en-US" sz="1600" dirty="0">
                <a:solidFill>
                  <a:srgbClr val="334155"/>
                </a:solidFill>
              </a:rPr>
              <a:t>You can practise DevOps on one Linux laptop. You can also run a fully manual, chaotic operation inside AWS. The cloud is a place to rent computers, databases, and networks. DevOps is how you change and run software on those computers.</a:t>
            </a:r>
            <a:endParaRPr lang="en-US" sz="1600" dirty="0"/>
          </a:p>
        </p:txBody>
      </p:sp>
      <p:sp>
        <p:nvSpPr>
          <p:cNvPr id="5" name="Shape 3"/>
          <p:cNvSpPr/>
          <p:nvPr/>
        </p:nvSpPr>
        <p:spPr>
          <a:xfrm>
            <a:off x="502920" y="2834640"/>
            <a:ext cx="11155680" cy="3383280"/>
          </a:xfrm>
          <a:prstGeom prst="roundRect">
            <a:avLst>
              <a:gd name="adj" fmla="val 2162"/>
            </a:avLst>
          </a:prstGeom>
          <a:solidFill>
            <a:srgbClr val="F1F5F9"/>
          </a:solidFill>
          <a:ln/>
        </p:spPr>
        <p:txBody>
          <a:bodyPr/>
          <a:lstStyle/>
          <a:p>
            <a:endParaRPr lang="en-IN"/>
          </a:p>
        </p:txBody>
      </p:sp>
      <p:sp>
        <p:nvSpPr>
          <p:cNvPr id="6" name="Text 4"/>
          <p:cNvSpPr txBox="1"/>
          <p:nvPr/>
        </p:nvSpPr>
        <p:spPr>
          <a:xfrm>
            <a:off x="685800" y="2962656"/>
            <a:ext cx="10789920" cy="310896"/>
          </a:xfrm>
          <a:prstGeom prst="rect">
            <a:avLst/>
          </a:prstGeom>
          <a:noFill/>
          <a:ln/>
        </p:spPr>
        <p:txBody>
          <a:bodyPr wrap="square" lIns="0" tIns="0" rIns="0" bIns="0" rtlCol="0" anchor="ctr"/>
          <a:lstStyle/>
          <a:p>
            <a:pPr marL="0" indent="0">
              <a:buNone/>
            </a:pPr>
            <a:r>
              <a:rPr lang="en-US" sz="1300" b="1" dirty="0">
                <a:solidFill>
                  <a:srgbClr val="0F766E"/>
                </a:solidFill>
              </a:rPr>
              <a:t>This course and three clouds</a:t>
            </a:r>
            <a:endParaRPr lang="en-US" sz="1300" dirty="0"/>
          </a:p>
        </p:txBody>
      </p:sp>
      <p:sp>
        <p:nvSpPr>
          <p:cNvPr id="7" name="Text 5"/>
          <p:cNvSpPr txBox="1"/>
          <p:nvPr/>
        </p:nvSpPr>
        <p:spPr>
          <a:xfrm>
            <a:off x="685800" y="3291840"/>
            <a:ext cx="10789920" cy="2779776"/>
          </a:xfrm>
          <a:prstGeom prst="rect">
            <a:avLst/>
          </a:prstGeom>
          <a:noFill/>
          <a:ln/>
        </p:spPr>
        <p:txBody>
          <a:bodyPr wrap="square" lIns="0" tIns="0" rIns="0" bIns="0" rtlCol="0" anchor="t"/>
          <a:lstStyle/>
          <a:p>
            <a:pPr marL="0" indent="0">
              <a:buNone/>
            </a:pPr>
            <a:r>
              <a:rPr lang="en-US" sz="1500" dirty="0">
                <a:solidFill>
                  <a:srgbClr val="334155"/>
                </a:solidFill>
              </a:rPr>
              <a:t>AWS is the main cloud in later lectures. Azure is the comparison when a workplace name helps. GCP is name-level awareness only — we will not teach three clouds at equal depth. That would be a catalogue, not a job skill.</a:t>
            </a:r>
            <a:endParaRPr lang="en-US" sz="1500" dirty="0"/>
          </a:p>
          <a:p>
            <a:pPr marL="0" indent="0">
              <a:buNone/>
            </a:pPr>
            <a:endParaRPr lang="en-US" sz="1500" dirty="0"/>
          </a:p>
          <a:p>
            <a:pPr marL="0" indent="0">
              <a:buNone/>
            </a:pPr>
            <a:r>
              <a:rPr lang="en-US" sz="1500" dirty="0">
                <a:solidFill>
                  <a:srgbClr val="334155"/>
                </a:solidFill>
              </a:rPr>
              <a:t>Today: no console, no bill.</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Where Linux shows up in the cloud</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Same OS, different names</a:t>
            </a:r>
            <a:endParaRPr lang="en-US" sz="1100" dirty="0"/>
          </a:p>
        </p:txBody>
      </p:sp>
      <p:sp>
        <p:nvSpPr>
          <p:cNvPr id="4" name="Text 2"/>
          <p:cNvSpPr txBox="1"/>
          <p:nvPr/>
        </p:nvSpPr>
        <p:spPr>
          <a:xfrm>
            <a:off x="502920" y="1005840"/>
            <a:ext cx="11155680" cy="1280160"/>
          </a:xfrm>
          <a:prstGeom prst="rect">
            <a:avLst/>
          </a:prstGeom>
          <a:noFill/>
          <a:ln/>
        </p:spPr>
        <p:txBody>
          <a:bodyPr wrap="square" lIns="0" tIns="0" rIns="0" bIns="0" rtlCol="0" anchor="t"/>
          <a:lstStyle/>
          <a:p>
            <a:pPr marL="0" indent="0">
              <a:buNone/>
            </a:pPr>
            <a:r>
              <a:rPr lang="en-US" sz="1600" dirty="0">
                <a:solidFill>
                  <a:srgbClr val="334155"/>
                </a:solidFill>
              </a:rPr>
              <a:t>A virtual machine is a computer you did not buy. You still log in and type the same commands. If you can debug today’s laptop lab, those commands work on a Linux VM in the cloud.</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2423160"/>
          <a:ext cx="11173968" cy="960120"/>
        </p:xfrm>
        <a:graphic>
          <a:graphicData uri="http://schemas.openxmlformats.org/drawingml/2006/table">
            <a:tbl>
              <a:tblPr/>
              <a:tblGrid>
                <a:gridCol w="32918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70048">
                  <a:extLst>
                    <a:ext uri="{9D8B030D-6E8A-4147-A177-3AD203B41FA5}">
                      <a16:colId xmlns:a16="http://schemas.microsoft.com/office/drawing/2014/main" val="20003"/>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Idea</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AWS name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Azure name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GCP name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A Linux computer you rent</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EC2</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Virtual Machine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Compute Engine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What you type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ps, df, cat, grep</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Same if the image is Linux</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Same if the image is Linux</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bl>
          </a:graphicData>
        </a:graphic>
      </p:graphicFrame>
      <p:sp>
        <p:nvSpPr>
          <p:cNvPr id="6" name="Text 3"/>
          <p:cNvSpPr txBox="1"/>
          <p:nvPr/>
        </p:nvSpPr>
        <p:spPr>
          <a:xfrm>
            <a:off x="502920" y="5074920"/>
            <a:ext cx="11155680" cy="1143000"/>
          </a:xfrm>
          <a:prstGeom prst="rect">
            <a:avLst/>
          </a:prstGeom>
          <a:noFill/>
          <a:ln/>
        </p:spPr>
        <p:txBody>
          <a:bodyPr wrap="square" lIns="0" tIns="0" rIns="0" bIns="0" rtlCol="0" anchor="ctr"/>
          <a:lstStyle/>
          <a:p>
            <a:pPr marL="0" indent="0">
              <a:buNone/>
            </a:pPr>
            <a:r>
              <a:rPr lang="en-US" sz="1600" dirty="0">
                <a:solidFill>
                  <a:srgbClr val="334155"/>
                </a:solidFill>
              </a:rPr>
              <a:t>Managed services still run Linux; you just see less of it. We stay on your machine today so you learn the OS, not the billing console.</a:t>
            </a:r>
            <a:endParaRPr lang="en-US" sz="16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Linux you will live in</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Files, logs, disk, and processes — then we run one script</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Why DevOps engineers live in Linux</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Why Linux</a:t>
            </a:r>
            <a:endParaRPr lang="en-US" sz="1100" dirty="0"/>
          </a:p>
        </p:txBody>
      </p:sp>
      <p:sp>
        <p:nvSpPr>
          <p:cNvPr id="4" name="Text 2"/>
          <p:cNvSpPr txBox="1"/>
          <p:nvPr/>
        </p:nvSpPr>
        <p:spPr>
          <a:xfrm>
            <a:off x="502920" y="1005840"/>
            <a:ext cx="11155680" cy="1417320"/>
          </a:xfrm>
          <a:prstGeom prst="rect">
            <a:avLst/>
          </a:prstGeom>
          <a:noFill/>
          <a:ln/>
        </p:spPr>
        <p:txBody>
          <a:bodyPr wrap="square" lIns="0" tIns="0" rIns="0" bIns="0" rtlCol="0" anchor="t"/>
          <a:lstStyle/>
          <a:p>
            <a:pPr marL="0" indent="0">
              <a:buNone/>
            </a:pPr>
            <a:r>
              <a:rPr lang="en-US" sz="1600" dirty="0">
                <a:solidFill>
                  <a:srgbClr val="334155"/>
                </a:solidFill>
              </a:rPr>
              <a:t>Even if you write code in VS Code on Windows, production is probably Linux. Interviews will ask you to name ls, ps, and how you read a log. We are not becoming kernel developers. We need operator Linux: files, logs, disk, processes.</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560320"/>
          <a:ext cx="11173968" cy="1600200"/>
        </p:xfrm>
        <a:graphic>
          <a:graphicData uri="http://schemas.openxmlformats.org/drawingml/2006/table">
            <a:tbl>
              <a:tblPr/>
              <a:tblGrid>
                <a:gridCol w="2560320">
                  <a:extLst>
                    <a:ext uri="{9D8B030D-6E8A-4147-A177-3AD203B41FA5}">
                      <a16:colId xmlns:a16="http://schemas.microsoft.com/office/drawing/2014/main" val="20000"/>
                    </a:ext>
                  </a:extLst>
                </a:gridCol>
                <a:gridCol w="8613648">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Place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What you should remember</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Servers</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Most production virtual machines are Linux images.</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Containers</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default container operating system is Linux.</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CI runners</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GitHub-hosted runners are Linux unless you ask otherwise.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Incidents at 2 a.m.</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You read ps, df, and a log file — not a pretty GUI.</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Files and folders — the map</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The filesystem</a:t>
            </a:r>
            <a:endParaRPr lang="en-US" sz="1100" dirty="0"/>
          </a:p>
        </p:txBody>
      </p:sp>
      <p:sp>
        <p:nvSpPr>
          <p:cNvPr id="4" name="Text 2"/>
          <p:cNvSpPr txBox="1"/>
          <p:nvPr/>
        </p:nvSpPr>
        <p:spPr>
          <a:xfrm>
            <a:off x="502920" y="1005840"/>
            <a:ext cx="11155680" cy="1371600"/>
          </a:xfrm>
          <a:prstGeom prst="rect">
            <a:avLst/>
          </a:prstGeom>
          <a:noFill/>
          <a:ln/>
        </p:spPr>
        <p:txBody>
          <a:bodyPr wrap="square" lIns="0" tIns="0" rIns="0" bIns="0" rtlCol="0" anchor="t"/>
          <a:lstStyle/>
          <a:p>
            <a:pPr marL="0" indent="0">
              <a:buNone/>
            </a:pPr>
            <a:r>
              <a:rPr lang="en-US" sz="1600" dirty="0">
                <a:solidFill>
                  <a:srgbClr val="334155"/>
                </a:solidFill>
              </a:rPr>
              <a:t>Linux treats almost everything as a file. You move around with cd. You ask “where am I?” with pwd. You list what is here with ls. Today we stay inside lec-01/codebase so we do not fight the whole operating system on day one.</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2514600"/>
          <a:ext cx="11173968" cy="1524000"/>
        </p:xfrm>
        <a:graphic>
          <a:graphicData uri="http://schemas.openxmlformats.org/drawingml/2006/table">
            <a:tbl>
              <a:tblPr/>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Place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Typical contents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Today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/home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Your personal files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We work in lec-01/codebase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/etc</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Configuration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Awareness only — do not edit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/var/log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System and app logs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We make our own app.log in the lab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pwd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Print working directory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Always know which folder you are in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Commands for this hour — meaning, not a dictionary</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Commands</a:t>
            </a:r>
            <a:endParaRPr lang="en-US" sz="1100" dirty="0"/>
          </a:p>
        </p:txBody>
      </p:sp>
      <p:sp>
        <p:nvSpPr>
          <p:cNvPr id="4" name="Text 2"/>
          <p:cNvSpPr txBox="1"/>
          <p:nvPr/>
        </p:nvSpPr>
        <p:spPr>
          <a:xfrm>
            <a:off x="502920" y="987552"/>
            <a:ext cx="11155680" cy="1051560"/>
          </a:xfrm>
          <a:prstGeom prst="rect">
            <a:avLst/>
          </a:prstGeom>
          <a:noFill/>
          <a:ln/>
        </p:spPr>
        <p:txBody>
          <a:bodyPr wrap="square" lIns="0" tIns="0" rIns="0" bIns="0" rtlCol="0" anchor="t"/>
          <a:lstStyle/>
          <a:p>
            <a:pPr marL="0" indent="0">
              <a:buNone/>
            </a:pPr>
            <a:r>
              <a:rPr lang="en-US" sz="1600" dirty="0">
                <a:solidFill>
                  <a:srgbClr val="334155"/>
                </a:solidFill>
              </a:rPr>
              <a:t>A few commands well understood beat 200 half-remembered. We skip ss (network ports) and chmod (permissions). Those confuse day one and we do not need them for this lab.</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73968" cy="2316480"/>
        </p:xfrm>
        <a:graphic>
          <a:graphicData uri="http://schemas.openxmlformats.org/drawingml/2006/table">
            <a:tbl>
              <a:tblPr/>
              <a:tblGrid>
                <a:gridCol w="23774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864608">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Question it answers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When you use 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whoami</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Who is running this shell?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Before you change files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pwd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Which folder am I 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When a command “cannot find” a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ls -lah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What is in this folder?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After you create or copy something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cat / head / tail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What is in this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When you open a log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grep ERROR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Which lines failed?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When something broke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df -h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Is the disk full?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When logs stop writing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ps aux</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What programs are running?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When someone says “it is down”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sp>
        <p:nvSpPr>
          <p:cNvPr id="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Create a folder and a file</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mkdir, echo</a:t>
            </a:r>
            <a:endParaRPr lang="en-US" sz="1100" dirty="0"/>
          </a:p>
        </p:txBody>
      </p:sp>
      <p:sp>
        <p:nvSpPr>
          <p:cNvPr id="4" name="Text 2"/>
          <p:cNvSpPr txBox="1"/>
          <p:nvPr/>
        </p:nvSpPr>
        <p:spPr>
          <a:xfrm>
            <a:off x="502920" y="1005840"/>
            <a:ext cx="11155680" cy="1325880"/>
          </a:xfrm>
          <a:prstGeom prst="rect">
            <a:avLst/>
          </a:prstGeom>
          <a:noFill/>
          <a:ln/>
        </p:spPr>
        <p:txBody>
          <a:bodyPr wrap="square" lIns="0" tIns="0" rIns="0" bIns="0" rtlCol="0" anchor="t"/>
          <a:lstStyle/>
          <a:p>
            <a:pPr marL="0" indent="0">
              <a:buNone/>
            </a:pPr>
            <a:r>
              <a:rPr lang="en-US" sz="1600" dirty="0">
                <a:solidFill>
                  <a:srgbClr val="334155"/>
                </a:solidFill>
              </a:rPr>
              <a:t>mkdir makes a folder. cd goes into it. echo writes one line of text. In the lab we create devops-linux-demo and a file called app.log. A log is just a text file that a program writes messages into.</a:t>
            </a:r>
            <a:endParaRPr lang="en-US" sz="1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2468880"/>
          <a:ext cx="11173968" cy="1524000"/>
        </p:xfrm>
        <a:graphic>
          <a:graphicData uri="http://schemas.openxmlformats.org/drawingml/2006/table">
            <a:tbl>
              <a:tblPr/>
              <a:tblGrid>
                <a:gridCol w="4937760">
                  <a:extLst>
                    <a:ext uri="{9D8B030D-6E8A-4147-A177-3AD203B41FA5}">
                      <a16:colId xmlns:a16="http://schemas.microsoft.com/office/drawing/2014/main" val="20000"/>
                    </a:ext>
                  </a:extLst>
                </a:gridCol>
                <a:gridCol w="623620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You type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mkdir -p devops-linux-demo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Create the folder. -p means “do not complain if it already exists”.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cd devops-linux-demo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Your next commands run inside that folder.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echo "INFO Application started" &gt; app.log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Create app.log. If the file already existed, this replaces 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echo "ERROR timeout" &gt;&gt; app.log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Add a line at the end. Old lines stay.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Two ways to write a file: &gt; versus &gt;&gt;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Do not wipe the log</a:t>
            </a:r>
            <a:endParaRPr lang="en-US" sz="1100" dirty="0"/>
          </a:p>
        </p:txBody>
      </p:sp>
      <p:sp>
        <p:nvSpPr>
          <p:cNvPr id="4" name="Shape 2"/>
          <p:cNvSpPr/>
          <p:nvPr/>
        </p:nvSpPr>
        <p:spPr>
          <a:xfrm>
            <a:off x="502920" y="1024128"/>
            <a:ext cx="5532120" cy="5212080"/>
          </a:xfrm>
          <a:prstGeom prst="roundRect">
            <a:avLst>
              <a:gd name="adj" fmla="val 1404"/>
            </a:avLst>
          </a:prstGeom>
          <a:solidFill>
            <a:srgbClr val="F1F5F9"/>
          </a:solidFill>
          <a:ln/>
        </p:spPr>
        <p:txBody>
          <a:bodyPr/>
          <a:lstStyle/>
          <a:p>
            <a:endParaRPr lang="en-IN"/>
          </a:p>
        </p:txBody>
      </p:sp>
      <p:sp>
        <p:nvSpPr>
          <p:cNvPr id="5" name="Text 3"/>
          <p:cNvSpPr txBox="1"/>
          <p:nvPr/>
        </p:nvSpPr>
        <p:spPr>
          <a:xfrm>
            <a:off x="685800" y="1152144"/>
            <a:ext cx="5166360" cy="310896"/>
          </a:xfrm>
          <a:prstGeom prst="rect">
            <a:avLst/>
          </a:prstGeom>
          <a:noFill/>
          <a:ln/>
        </p:spPr>
        <p:txBody>
          <a:bodyPr wrap="square" lIns="0" tIns="0" rIns="0" bIns="0" rtlCol="0" anchor="ctr"/>
          <a:lstStyle/>
          <a:p>
            <a:pPr marL="0" indent="0">
              <a:buNone/>
            </a:pPr>
            <a:r>
              <a:rPr lang="en-US" sz="1300" b="1" dirty="0">
                <a:solidFill>
                  <a:srgbClr val="0F172A"/>
                </a:solidFill>
              </a:rPr>
              <a:t>&gt;  replaces</a:t>
            </a:r>
            <a:endParaRPr lang="en-US" sz="1300" dirty="0"/>
          </a:p>
        </p:txBody>
      </p:sp>
      <p:sp>
        <p:nvSpPr>
          <p:cNvPr id="6" name="Text 4"/>
          <p:cNvSpPr txBox="1"/>
          <p:nvPr/>
        </p:nvSpPr>
        <p:spPr>
          <a:xfrm>
            <a:off x="685800" y="1481328"/>
            <a:ext cx="5166360" cy="4608576"/>
          </a:xfrm>
          <a:prstGeom prst="rect">
            <a:avLst/>
          </a:prstGeom>
          <a:noFill/>
          <a:ln/>
        </p:spPr>
        <p:txBody>
          <a:bodyPr wrap="square" lIns="0" tIns="0" rIns="0" bIns="0" rtlCol="0" anchor="t"/>
          <a:lstStyle/>
          <a:p>
            <a:pPr marL="0" indent="0">
              <a:buNone/>
            </a:pPr>
            <a:r>
              <a:rPr lang="en-US" sz="1500" dirty="0">
                <a:solidFill>
                  <a:srgbClr val="334155"/>
                </a:solidFill>
              </a:rPr>
              <a:t>echo hello &gt; app.log</a:t>
            </a:r>
            <a:endParaRPr lang="en-US" sz="1500" dirty="0"/>
          </a:p>
          <a:p>
            <a:pPr marL="0" indent="0">
              <a:buNone/>
            </a:pPr>
            <a:endParaRPr lang="en-US" sz="1500" dirty="0"/>
          </a:p>
          <a:p>
            <a:pPr marL="0" indent="0">
              <a:buNone/>
            </a:pPr>
            <a:r>
              <a:rPr lang="en-US" sz="1500" dirty="0">
                <a:solidFill>
                  <a:srgbClr val="334155"/>
                </a:solidFill>
              </a:rPr>
              <a:t>Creates the file if it does not exist.</a:t>
            </a:r>
            <a:endParaRPr lang="en-US" sz="1500" dirty="0"/>
          </a:p>
          <a:p>
            <a:pPr marL="0" indent="0">
              <a:buNone/>
            </a:pPr>
            <a:r>
              <a:rPr lang="en-US" sz="1500" dirty="0">
                <a:solidFill>
                  <a:srgbClr val="334155"/>
                </a:solidFill>
              </a:rPr>
              <a:t>If it already exists, the old content is gone.</a:t>
            </a:r>
            <a:endParaRPr lang="en-US" sz="1500" dirty="0"/>
          </a:p>
          <a:p>
            <a:pPr marL="0" indent="0">
              <a:buNone/>
            </a:pPr>
            <a:endParaRPr lang="en-US" sz="1500" dirty="0"/>
          </a:p>
          <a:p>
            <a:pPr marL="0" indent="0">
              <a:buNone/>
            </a:pPr>
            <a:r>
              <a:rPr lang="en-US" sz="1500" dirty="0">
                <a:solidFill>
                  <a:srgbClr val="334155"/>
                </a:solidFill>
              </a:rPr>
              <a:t>Use this when you want a brand-new file.</a:t>
            </a:r>
            <a:endParaRPr lang="en-US" sz="1500" dirty="0"/>
          </a:p>
          <a:p>
            <a:pPr marL="0" indent="0">
              <a:buNone/>
            </a:pPr>
            <a:endParaRPr lang="en-US" sz="1500" dirty="0"/>
          </a:p>
          <a:p>
            <a:pPr marL="0" indent="0">
              <a:buNone/>
            </a:pPr>
            <a:r>
              <a:rPr lang="en-US" sz="1500" dirty="0">
                <a:solidFill>
                  <a:srgbClr val="334155"/>
                </a:solidFill>
              </a:rPr>
              <a:t>Danger: if you use &gt; on a real log by mistake, you wipe history. That is a common junior accident.</a:t>
            </a:r>
            <a:endParaRPr lang="en-US" sz="1500" dirty="0"/>
          </a:p>
        </p:txBody>
      </p:sp>
      <p:sp>
        <p:nvSpPr>
          <p:cNvPr id="7" name="Shape 5"/>
          <p:cNvSpPr/>
          <p:nvPr/>
        </p:nvSpPr>
        <p:spPr>
          <a:xfrm>
            <a:off x="6217920" y="1024128"/>
            <a:ext cx="5440680" cy="5212080"/>
          </a:xfrm>
          <a:prstGeom prst="roundRect">
            <a:avLst>
              <a:gd name="adj" fmla="val 1404"/>
            </a:avLst>
          </a:prstGeom>
          <a:solidFill>
            <a:srgbClr val="ECFDF5"/>
          </a:solidFill>
          <a:ln/>
        </p:spPr>
        <p:txBody>
          <a:bodyPr/>
          <a:lstStyle/>
          <a:p>
            <a:endParaRPr lang="en-IN"/>
          </a:p>
        </p:txBody>
      </p:sp>
      <p:sp>
        <p:nvSpPr>
          <p:cNvPr id="8" name="Text 6"/>
          <p:cNvSpPr txBox="1"/>
          <p:nvPr/>
        </p:nvSpPr>
        <p:spPr>
          <a:xfrm>
            <a:off x="6400800" y="1152144"/>
            <a:ext cx="5074920" cy="310896"/>
          </a:xfrm>
          <a:prstGeom prst="rect">
            <a:avLst/>
          </a:prstGeom>
          <a:noFill/>
          <a:ln/>
        </p:spPr>
        <p:txBody>
          <a:bodyPr wrap="square" lIns="0" tIns="0" rIns="0" bIns="0" rtlCol="0" anchor="ctr"/>
          <a:lstStyle/>
          <a:p>
            <a:pPr marL="0" indent="0">
              <a:buNone/>
            </a:pPr>
            <a:r>
              <a:rPr lang="en-US" sz="1300" b="1" dirty="0">
                <a:solidFill>
                  <a:srgbClr val="0F766E"/>
                </a:solidFill>
              </a:rPr>
              <a:t>&gt;&gt;  appends</a:t>
            </a:r>
            <a:endParaRPr lang="en-US" sz="1300" dirty="0"/>
          </a:p>
        </p:txBody>
      </p:sp>
      <p:sp>
        <p:nvSpPr>
          <p:cNvPr id="9" name="Text 7"/>
          <p:cNvSpPr txBox="1"/>
          <p:nvPr/>
        </p:nvSpPr>
        <p:spPr>
          <a:xfrm>
            <a:off x="6400800" y="1481328"/>
            <a:ext cx="5074920" cy="4608576"/>
          </a:xfrm>
          <a:prstGeom prst="rect">
            <a:avLst/>
          </a:prstGeom>
          <a:noFill/>
          <a:ln/>
        </p:spPr>
        <p:txBody>
          <a:bodyPr wrap="square" lIns="0" tIns="0" rIns="0" bIns="0" rtlCol="0" anchor="t"/>
          <a:lstStyle/>
          <a:p>
            <a:pPr marL="0" indent="0">
              <a:buNone/>
            </a:pPr>
            <a:r>
              <a:rPr lang="en-US" sz="1500" dirty="0">
                <a:solidFill>
                  <a:srgbClr val="334155"/>
                </a:solidFill>
              </a:rPr>
              <a:t>echo ERROR timeout &gt;&gt; app.log</a:t>
            </a:r>
            <a:endParaRPr lang="en-US" sz="1500" dirty="0"/>
          </a:p>
          <a:p>
            <a:pPr marL="0" indent="0">
              <a:buNone/>
            </a:pPr>
            <a:endParaRPr lang="en-US" sz="1500" dirty="0"/>
          </a:p>
          <a:p>
            <a:pPr marL="0" indent="0">
              <a:buNone/>
            </a:pPr>
            <a:r>
              <a:rPr lang="en-US" sz="1500" dirty="0">
                <a:solidFill>
                  <a:srgbClr val="334155"/>
                </a:solidFill>
              </a:rPr>
              <a:t>Adds a line at the end.</a:t>
            </a:r>
            <a:endParaRPr lang="en-US" sz="1500" dirty="0"/>
          </a:p>
          <a:p>
            <a:pPr marL="0" indent="0">
              <a:buNone/>
            </a:pPr>
            <a:r>
              <a:rPr lang="en-US" sz="1500" dirty="0">
                <a:solidFill>
                  <a:srgbClr val="334155"/>
                </a:solidFill>
              </a:rPr>
              <a:t>Old lines stay.</a:t>
            </a:r>
            <a:endParaRPr lang="en-US" sz="1500" dirty="0"/>
          </a:p>
          <a:p>
            <a:pPr marL="0" indent="0">
              <a:buNone/>
            </a:pPr>
            <a:endParaRPr lang="en-US" sz="1500" dirty="0"/>
          </a:p>
          <a:p>
            <a:pPr marL="0" indent="0">
              <a:buNone/>
            </a:pPr>
            <a:r>
              <a:rPr lang="en-US" sz="1500" dirty="0">
                <a:solidFill>
                  <a:srgbClr val="334155"/>
                </a:solidFill>
              </a:rPr>
              <a:t>Logs in real systems grow this way all day.</a:t>
            </a:r>
            <a:endParaRPr lang="en-US" sz="1500" dirty="0"/>
          </a:p>
          <a:p>
            <a:pPr marL="0" indent="0">
              <a:buNone/>
            </a:pPr>
            <a:endParaRPr lang="en-US" sz="1500" dirty="0"/>
          </a:p>
          <a:p>
            <a:pPr marL="0" indent="0">
              <a:buNone/>
            </a:pPr>
            <a:r>
              <a:rPr lang="en-US" sz="1500" dirty="0">
                <a:solidFill>
                  <a:srgbClr val="334155"/>
                </a:solidFill>
              </a:rPr>
              <a:t>If you want to keep old log lines, always use &gt;&gt; .</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How to read a file</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cat, head, tail</a:t>
            </a:r>
            <a:endParaRPr lang="en-US" sz="1100" dirty="0"/>
          </a:p>
        </p:txBody>
      </p:sp>
      <p:sp>
        <p:nvSpPr>
          <p:cNvPr id="4" name="Text 2"/>
          <p:cNvSpPr txBox="1"/>
          <p:nvPr/>
        </p:nvSpPr>
        <p:spPr>
          <a:xfrm>
            <a:off x="502920" y="1005840"/>
            <a:ext cx="11155680" cy="1051560"/>
          </a:xfrm>
          <a:prstGeom prst="rect">
            <a:avLst/>
          </a:prstGeom>
          <a:noFill/>
          <a:ln/>
        </p:spPr>
        <p:txBody>
          <a:bodyPr wrap="square" lIns="0" tIns="0" rIns="0" bIns="0" rtlCol="0" anchor="t"/>
          <a:lstStyle/>
          <a:p>
            <a:pPr marL="0" indent="0">
              <a:buNone/>
            </a:pPr>
            <a:r>
              <a:rPr lang="en-US" sz="1600" dirty="0">
                <a:solidFill>
                  <a:srgbClr val="334155"/>
                </a:solidFill>
              </a:rPr>
              <a:t>You do not open Notepad for a server log. You read it in the terminal. Three commands cover almost every junior case.</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2194560"/>
          <a:ext cx="11173968" cy="1508760"/>
        </p:xfrm>
        <a:graphic>
          <a:graphicData uri="http://schemas.openxmlformats.org/drawingml/2006/table">
            <a:tbl>
              <a:tblPr/>
              <a:tblGrid>
                <a:gridCol w="29260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15968">
                  <a:extLst>
                    <a:ext uri="{9D8B030D-6E8A-4147-A177-3AD203B41FA5}">
                      <a16:colId xmlns:a16="http://schemas.microsoft.com/office/drawing/2014/main" val="20002"/>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Command</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What you see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When</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cat app.log</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whole file, top to bottom</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file is short, like today’s lab</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head -n 2 app.log</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first 2 lines</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You want to see how the app started</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tail -n 2 app.log</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last 2 lines</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You want the newest events — this is the usual incident move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6" name="Text 3"/>
          <p:cNvSpPr txBox="1"/>
          <p:nvPr/>
        </p:nvSpPr>
        <p:spPr>
          <a:xfrm>
            <a:off x="502920" y="5349240"/>
            <a:ext cx="11155680" cy="822960"/>
          </a:xfrm>
          <a:prstGeom prst="rect">
            <a:avLst/>
          </a:prstGeom>
          <a:noFill/>
          <a:ln/>
        </p:spPr>
        <p:txBody>
          <a:bodyPr wrap="square" lIns="0" tIns="0" rIns="0" bIns="0" rtlCol="0" anchor="ctr"/>
          <a:lstStyle/>
          <a:p>
            <a:pPr marL="0" indent="0">
              <a:buNone/>
            </a:pPr>
            <a:r>
              <a:rPr lang="en-US" sz="1600" dirty="0">
                <a:solidFill>
                  <a:srgbClr val="334155"/>
                </a:solidFill>
              </a:rPr>
              <a:t>In an incident, start with tail. The newest lines are usually the ones that explain the failure.</a:t>
            </a:r>
            <a:endParaRPr lang="en-US" sz="16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How to search a file: grep</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The most useful log skill today</a:t>
            </a:r>
            <a:endParaRPr lang="en-US" sz="1100" dirty="0"/>
          </a:p>
        </p:txBody>
      </p:sp>
      <p:sp>
        <p:nvSpPr>
          <p:cNvPr id="4" name="Text 2"/>
          <p:cNvSpPr txBox="1"/>
          <p:nvPr/>
        </p:nvSpPr>
        <p:spPr>
          <a:xfrm>
            <a:off x="502920" y="1005840"/>
            <a:ext cx="11155680" cy="1371600"/>
          </a:xfrm>
          <a:prstGeom prst="rect">
            <a:avLst/>
          </a:prstGeom>
          <a:noFill/>
          <a:ln/>
        </p:spPr>
        <p:txBody>
          <a:bodyPr wrap="square" lIns="0" tIns="0" rIns="0" bIns="0" rtlCol="0" anchor="t"/>
          <a:lstStyle/>
          <a:p>
            <a:pPr marL="0" indent="0">
              <a:buNone/>
            </a:pPr>
            <a:r>
              <a:rPr lang="en-US" sz="1600" dirty="0">
                <a:solidFill>
                  <a:srgbClr val="334155"/>
                </a:solidFill>
              </a:rPr>
              <a:t>grep prints only the lines that contain a word. You will use this at work more than any other command in this lecture. DevOps people do not read a 10,000-line log from top to bottom. They search.</a:t>
            </a:r>
            <a:endParaRPr lang="en-US" sz="1600" dirty="0"/>
          </a:p>
        </p:txBody>
      </p:sp>
      <p:sp>
        <p:nvSpPr>
          <p:cNvPr id="5" name="Shape 3"/>
          <p:cNvSpPr/>
          <p:nvPr/>
        </p:nvSpPr>
        <p:spPr>
          <a:xfrm>
            <a:off x="502920" y="2514600"/>
            <a:ext cx="11155680" cy="3703320"/>
          </a:xfrm>
          <a:prstGeom prst="roundRect">
            <a:avLst>
              <a:gd name="adj" fmla="val 1975"/>
            </a:avLst>
          </a:prstGeom>
          <a:solidFill>
            <a:srgbClr val="0F766E"/>
          </a:solidFill>
          <a:ln/>
        </p:spPr>
        <p:txBody>
          <a:bodyPr/>
          <a:lstStyle/>
          <a:p>
            <a:endParaRPr lang="en-IN"/>
          </a:p>
        </p:txBody>
      </p:sp>
      <p:sp>
        <p:nvSpPr>
          <p:cNvPr id="6" name="Text 4"/>
          <p:cNvSpPr txBox="1"/>
          <p:nvPr/>
        </p:nvSpPr>
        <p:spPr>
          <a:xfrm>
            <a:off x="685800" y="2642616"/>
            <a:ext cx="10789920" cy="310896"/>
          </a:xfrm>
          <a:prstGeom prst="rect">
            <a:avLst/>
          </a:prstGeom>
          <a:noFill/>
          <a:ln/>
        </p:spPr>
        <p:txBody>
          <a:bodyPr wrap="square" lIns="0" tIns="0" rIns="0" bIns="0" rtlCol="0" anchor="ctr"/>
          <a:lstStyle/>
          <a:p>
            <a:pPr marL="0" indent="0">
              <a:buNone/>
            </a:pPr>
            <a:r>
              <a:rPr lang="en-US" sz="1300" b="1" dirty="0">
                <a:solidFill>
                  <a:srgbClr val="FFFFFF"/>
                </a:solidFill>
              </a:rPr>
              <a:t>Lab command</a:t>
            </a:r>
            <a:endParaRPr lang="en-US" sz="1300" dirty="0"/>
          </a:p>
        </p:txBody>
      </p:sp>
      <p:sp>
        <p:nvSpPr>
          <p:cNvPr id="7" name="Text 5"/>
          <p:cNvSpPr txBox="1"/>
          <p:nvPr/>
        </p:nvSpPr>
        <p:spPr>
          <a:xfrm>
            <a:off x="685800" y="2971800"/>
            <a:ext cx="10789920" cy="3099816"/>
          </a:xfrm>
          <a:prstGeom prst="rect">
            <a:avLst/>
          </a:prstGeom>
          <a:noFill/>
          <a:ln/>
        </p:spPr>
        <p:txBody>
          <a:bodyPr wrap="square" lIns="0" tIns="0" rIns="0" bIns="0" rtlCol="0" anchor="t"/>
          <a:lstStyle/>
          <a:p>
            <a:pPr marL="0" indent="0">
              <a:buNone/>
            </a:pPr>
            <a:r>
              <a:rPr lang="en-US" sz="1500" dirty="0">
                <a:solidFill>
                  <a:srgbClr val="CCFBF1"/>
                </a:solidFill>
              </a:rPr>
              <a:t>grep ERROR app.log</a:t>
            </a:r>
            <a:endParaRPr lang="en-US" sz="1500" dirty="0"/>
          </a:p>
          <a:p>
            <a:pPr marL="0" indent="0">
              <a:buNone/>
            </a:pPr>
            <a:endParaRPr lang="en-US" sz="1500" dirty="0"/>
          </a:p>
          <a:p>
            <a:pPr marL="0" indent="0">
              <a:buNone/>
            </a:pPr>
            <a:r>
              <a:rPr lang="en-US" sz="1500" dirty="0">
                <a:solidFill>
                  <a:srgbClr val="CCFBF1"/>
                </a:solidFill>
              </a:rPr>
              <a:t>That means: show me every line in app.log that contains the word ERROR.</a:t>
            </a:r>
            <a:endParaRPr lang="en-US" sz="1500" dirty="0"/>
          </a:p>
          <a:p>
            <a:pPr marL="0" indent="0">
              <a:buNone/>
            </a:pPr>
            <a:endParaRPr lang="en-US" sz="1500" dirty="0"/>
          </a:p>
          <a:p>
            <a:pPr marL="0" indent="0">
              <a:buNone/>
            </a:pPr>
            <a:r>
              <a:rPr lang="en-US" sz="1500" dirty="0">
                <a:solidFill>
                  <a:srgbClr val="CCFBF1"/>
                </a:solidFill>
              </a:rPr>
              <a:t>Today you should see lines about the payment service, a timeout, and later a disk warning.</a:t>
            </a:r>
            <a:endParaRPr lang="en-US" sz="1500" dirty="0"/>
          </a:p>
          <a:p>
            <a:pPr marL="0" indent="0">
              <a:buNone/>
            </a:pPr>
            <a:endParaRPr lang="en-US" sz="1500" dirty="0"/>
          </a:p>
          <a:p>
            <a:pPr marL="0" indent="0">
              <a:buNone/>
            </a:pPr>
            <a:r>
              <a:rPr lang="en-US" sz="1500" dirty="0">
                <a:solidFill>
                  <a:srgbClr val="CCFBF1"/>
                </a:solidFill>
              </a:rPr>
              <a:t>wc -l app.log counts how many lines are in the file. Useful, less important than grep.</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Copy and rename</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cp and mv</a:t>
            </a:r>
            <a:endParaRPr lang="en-US" sz="1100" dirty="0"/>
          </a:p>
        </p:txBody>
      </p:sp>
      <p:sp>
        <p:nvSpPr>
          <p:cNvPr id="4" name="Text 2"/>
          <p:cNvSpPr txBox="1"/>
          <p:nvPr/>
        </p:nvSpPr>
        <p:spPr>
          <a:xfrm>
            <a:off x="502920" y="1005840"/>
            <a:ext cx="11155680" cy="1371600"/>
          </a:xfrm>
          <a:prstGeom prst="rect">
            <a:avLst/>
          </a:prstGeom>
          <a:noFill/>
          <a:ln/>
        </p:spPr>
        <p:txBody>
          <a:bodyPr wrap="square" lIns="0" tIns="0" rIns="0" bIns="0" rtlCol="0" anchor="t"/>
          <a:lstStyle/>
          <a:p>
            <a:pPr marL="0" indent="0">
              <a:buNone/>
            </a:pPr>
            <a:r>
              <a:rPr lang="en-US" sz="1600" dirty="0">
                <a:solidFill>
                  <a:srgbClr val="334155"/>
                </a:solidFill>
              </a:rPr>
              <a:t>Before you change a file, copy it. That is a safety habit. cp copies. mv renames or moves. In the lab we copy app.log to app-backup.log, then rename that copy to app-copy.log.</a:t>
            </a:r>
            <a:endParaRPr lang="en-US" sz="1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2514600"/>
          <a:ext cx="11173968" cy="1524000"/>
        </p:xfrm>
        <a:graphic>
          <a:graphicData uri="http://schemas.openxmlformats.org/drawingml/2006/table">
            <a:tbl>
              <a:tblPr/>
              <a:tblGrid>
                <a:gridCol w="4206240">
                  <a:extLst>
                    <a:ext uri="{9D8B030D-6E8A-4147-A177-3AD203B41FA5}">
                      <a16:colId xmlns:a16="http://schemas.microsoft.com/office/drawing/2014/main" val="20000"/>
                    </a:ext>
                  </a:extLst>
                </a:gridCol>
                <a:gridCol w="696772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Command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cp app.log app-backup.log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Now you have two files with the same content.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mv app-backup.log app-copy.log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name changed. There is no app-backup.log anymore.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ls -l</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List files so you can see both app.log and app-copy.log.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rm -rf devops-linux-demo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Delete the practice folder when you are finished. Do this only to the demo folder.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Disk, hostname, and what kind of system this is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The machine</a:t>
            </a:r>
            <a:endParaRPr lang="en-US" sz="1100" dirty="0"/>
          </a:p>
        </p:txBody>
      </p:sp>
      <p:sp>
        <p:nvSpPr>
          <p:cNvPr id="4" name="Text 2"/>
          <p:cNvSpPr txBox="1"/>
          <p:nvPr/>
        </p:nvSpPr>
        <p:spPr>
          <a:xfrm>
            <a:off x="502920" y="1005840"/>
            <a:ext cx="11155680" cy="1691640"/>
          </a:xfrm>
          <a:prstGeom prst="rect">
            <a:avLst/>
          </a:prstGeom>
          <a:noFill/>
          <a:ln/>
        </p:spPr>
        <p:txBody>
          <a:bodyPr wrap="square" lIns="0" tIns="0" rIns="0" bIns="0" rtlCol="0" anchor="t"/>
          <a:lstStyle/>
          <a:p>
            <a:pPr marL="0" indent="0">
              <a:buNone/>
            </a:pPr>
            <a:r>
              <a:rPr lang="en-US" sz="1600" dirty="0">
                <a:solidFill>
                  <a:srgbClr val="334155"/>
                </a:solidFill>
              </a:rPr>
              <a:t>If a disk is 100% full, programs often cannot write logs or save data. That is why Monday’s empty log happened. df -h shows disk space in human size (G for gigabytes). hostname is this computer’s name. uname is the kind of system (Linux, or Git Bash on Windows).</a:t>
            </a:r>
            <a:endParaRPr lang="en-US" sz="1600" dirty="0"/>
          </a:p>
        </p:txBody>
      </p:sp>
      <p:sp>
        <p:nvSpPr>
          <p:cNvPr id="5" name="Shape 3"/>
          <p:cNvSpPr/>
          <p:nvPr/>
        </p:nvSpPr>
        <p:spPr>
          <a:xfrm>
            <a:off x="502920" y="2834640"/>
            <a:ext cx="11155680" cy="3383280"/>
          </a:xfrm>
          <a:prstGeom prst="roundRect">
            <a:avLst>
              <a:gd name="adj" fmla="val 2162"/>
            </a:avLst>
          </a:prstGeom>
          <a:solidFill>
            <a:srgbClr val="FEF3C7"/>
          </a:solidFill>
          <a:ln/>
        </p:spPr>
        <p:txBody>
          <a:bodyPr/>
          <a:lstStyle/>
          <a:p>
            <a:endParaRPr lang="en-IN"/>
          </a:p>
        </p:txBody>
      </p:sp>
      <p:sp>
        <p:nvSpPr>
          <p:cNvPr id="6" name="Text 4"/>
          <p:cNvSpPr txBox="1"/>
          <p:nvPr/>
        </p:nvSpPr>
        <p:spPr>
          <a:xfrm>
            <a:off x="685800" y="2962656"/>
            <a:ext cx="10789920" cy="310896"/>
          </a:xfrm>
          <a:prstGeom prst="rect">
            <a:avLst/>
          </a:prstGeom>
          <a:noFill/>
          <a:ln/>
        </p:spPr>
        <p:txBody>
          <a:bodyPr wrap="square" lIns="0" tIns="0" rIns="0" bIns="0" rtlCol="0" anchor="ctr"/>
          <a:lstStyle/>
          <a:p>
            <a:pPr marL="0" indent="0">
              <a:buNone/>
            </a:pPr>
            <a:r>
              <a:rPr lang="en-US" sz="1300" b="1" dirty="0">
                <a:solidFill>
                  <a:srgbClr val="B45309"/>
                </a:solidFill>
              </a:rPr>
              <a:t>Incident question</a:t>
            </a:r>
            <a:endParaRPr lang="en-US" sz="1300" dirty="0"/>
          </a:p>
        </p:txBody>
      </p:sp>
      <p:sp>
        <p:nvSpPr>
          <p:cNvPr id="7" name="Text 5"/>
          <p:cNvSpPr txBox="1"/>
          <p:nvPr/>
        </p:nvSpPr>
        <p:spPr>
          <a:xfrm>
            <a:off x="685800" y="3291840"/>
            <a:ext cx="10789920" cy="2779776"/>
          </a:xfrm>
          <a:prstGeom prst="rect">
            <a:avLst/>
          </a:prstGeom>
          <a:noFill/>
          <a:ln/>
        </p:spPr>
        <p:txBody>
          <a:bodyPr wrap="square" lIns="0" tIns="0" rIns="0" bIns="0" rtlCol="0" anchor="t"/>
          <a:lstStyle/>
          <a:p>
            <a:pPr marL="0" indent="0">
              <a:buNone/>
            </a:pPr>
            <a:r>
              <a:rPr lang="en-US" sz="1500" dirty="0">
                <a:solidFill>
                  <a:srgbClr val="334155"/>
                </a:solidFill>
              </a:rPr>
              <a:t>Ask: “If Use% is 100% on the main disk, can the app keep writing logs?” Usually no.</a:t>
            </a:r>
            <a:endParaRPr lang="en-US" sz="1500" dirty="0"/>
          </a:p>
          <a:p>
            <a:pPr marL="0" indent="0">
              <a:buNone/>
            </a:pPr>
            <a:endParaRPr lang="en-US" sz="1500" dirty="0"/>
          </a:p>
          <a:p>
            <a:pPr marL="0" indent="0">
              <a:buNone/>
            </a:pPr>
            <a:r>
              <a:rPr lang="en-US" sz="1500" dirty="0">
                <a:solidFill>
                  <a:srgbClr val="334155"/>
                </a:solidFill>
              </a:rPr>
              <a:t>Do not reboot first. Look at df -h, then the log, then the process list.</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Processes: is the program even running?</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ps</a:t>
            </a:r>
            <a:endParaRPr lang="en-US" sz="1100" dirty="0"/>
          </a:p>
        </p:txBody>
      </p:sp>
      <p:sp>
        <p:nvSpPr>
          <p:cNvPr id="4" name="Text 2"/>
          <p:cNvSpPr txBox="1"/>
          <p:nvPr/>
        </p:nvSpPr>
        <p:spPr>
          <a:xfrm>
            <a:off x="502920" y="1005840"/>
            <a:ext cx="11155680" cy="1691640"/>
          </a:xfrm>
          <a:prstGeom prst="rect">
            <a:avLst/>
          </a:prstGeom>
          <a:noFill/>
          <a:ln/>
        </p:spPr>
        <p:txBody>
          <a:bodyPr wrap="square" lIns="0" tIns="0" rIns="0" bIns="0" rtlCol="0" anchor="t"/>
          <a:lstStyle/>
          <a:p>
            <a:pPr marL="0" indent="0">
              <a:buNone/>
            </a:pPr>
            <a:r>
              <a:rPr lang="en-US" sz="1600" dirty="0">
                <a:solidFill>
                  <a:srgbClr val="334155"/>
                </a:solidFill>
              </a:rPr>
              <a:t>When a program is running, Linux gives it a process id, a PID — an integer. ps aux lists running programs. If someone says “the API is down”, the first question is: is there a PID at all? If there is no process, start it. If there is a process but users still fail, the problem is probably the log, the disk, or the app itself.</a:t>
            </a:r>
            <a:endParaRPr lang="en-US" sz="1600" dirty="0"/>
          </a:p>
        </p:txBody>
      </p:sp>
      <p:sp>
        <p:nvSpPr>
          <p:cNvPr id="5" name="Shape 3"/>
          <p:cNvSpPr/>
          <p:nvPr/>
        </p:nvSpPr>
        <p:spPr>
          <a:xfrm>
            <a:off x="502920" y="2834640"/>
            <a:ext cx="5532120" cy="3383280"/>
          </a:xfrm>
          <a:prstGeom prst="roundRect">
            <a:avLst>
              <a:gd name="adj" fmla="val 2162"/>
            </a:avLst>
          </a:prstGeom>
          <a:solidFill>
            <a:srgbClr val="F1F5F9"/>
          </a:solidFill>
          <a:ln/>
        </p:spPr>
        <p:txBody>
          <a:bodyPr/>
          <a:lstStyle/>
          <a:p>
            <a:endParaRPr lang="en-IN"/>
          </a:p>
        </p:txBody>
      </p:sp>
      <p:sp>
        <p:nvSpPr>
          <p:cNvPr id="6" name="Text 4"/>
          <p:cNvSpPr txBox="1"/>
          <p:nvPr/>
        </p:nvSpPr>
        <p:spPr>
          <a:xfrm>
            <a:off x="685800" y="2962656"/>
            <a:ext cx="5166360" cy="310896"/>
          </a:xfrm>
          <a:prstGeom prst="rect">
            <a:avLst/>
          </a:prstGeom>
          <a:noFill/>
          <a:ln/>
        </p:spPr>
        <p:txBody>
          <a:bodyPr wrap="square" lIns="0" tIns="0" rIns="0" bIns="0" rtlCol="0" anchor="ctr"/>
          <a:lstStyle/>
          <a:p>
            <a:pPr marL="0" indent="0">
              <a:buNone/>
            </a:pPr>
            <a:r>
              <a:rPr lang="en-US" sz="1300" b="1" dirty="0">
                <a:solidFill>
                  <a:srgbClr val="0F172A"/>
                </a:solidFill>
              </a:rPr>
              <a:t>Process</a:t>
            </a:r>
            <a:endParaRPr lang="en-US" sz="1300" dirty="0"/>
          </a:p>
        </p:txBody>
      </p:sp>
      <p:sp>
        <p:nvSpPr>
          <p:cNvPr id="7" name="Text 5"/>
          <p:cNvSpPr txBox="1"/>
          <p:nvPr/>
        </p:nvSpPr>
        <p:spPr>
          <a:xfrm>
            <a:off x="685800" y="3291840"/>
            <a:ext cx="5166360" cy="2779776"/>
          </a:xfrm>
          <a:prstGeom prst="rect">
            <a:avLst/>
          </a:prstGeom>
          <a:noFill/>
          <a:ln/>
        </p:spPr>
        <p:txBody>
          <a:bodyPr wrap="square" lIns="0" tIns="0" rIns="0" bIns="0" rtlCol="0" anchor="t"/>
          <a:lstStyle/>
          <a:p>
            <a:pPr marL="0" indent="0">
              <a:buNone/>
            </a:pPr>
            <a:r>
              <a:rPr lang="en-US" sz="1500" dirty="0">
                <a:solidFill>
                  <a:srgbClr val="334155"/>
                </a:solidFill>
              </a:rPr>
              <a:t>A program that is running right now. It has a PID. Anything in ps aux is a process.</a:t>
            </a:r>
            <a:endParaRPr lang="en-US" sz="1500" dirty="0"/>
          </a:p>
        </p:txBody>
      </p:sp>
      <p:sp>
        <p:nvSpPr>
          <p:cNvPr id="8" name="Shape 6"/>
          <p:cNvSpPr/>
          <p:nvPr/>
        </p:nvSpPr>
        <p:spPr>
          <a:xfrm>
            <a:off x="6217920" y="2834640"/>
            <a:ext cx="5440680" cy="3383280"/>
          </a:xfrm>
          <a:prstGeom prst="roundRect">
            <a:avLst>
              <a:gd name="adj" fmla="val 2162"/>
            </a:avLst>
          </a:prstGeom>
          <a:solidFill>
            <a:srgbClr val="ECFDF5"/>
          </a:solidFill>
          <a:ln/>
        </p:spPr>
        <p:txBody>
          <a:bodyPr/>
          <a:lstStyle/>
          <a:p>
            <a:endParaRPr lang="en-IN"/>
          </a:p>
        </p:txBody>
      </p:sp>
      <p:sp>
        <p:nvSpPr>
          <p:cNvPr id="9" name="Text 7"/>
          <p:cNvSpPr txBox="1"/>
          <p:nvPr/>
        </p:nvSpPr>
        <p:spPr>
          <a:xfrm>
            <a:off x="6400800" y="2962656"/>
            <a:ext cx="5074920" cy="310896"/>
          </a:xfrm>
          <a:prstGeom prst="rect">
            <a:avLst/>
          </a:prstGeom>
          <a:noFill/>
          <a:ln/>
        </p:spPr>
        <p:txBody>
          <a:bodyPr wrap="square" lIns="0" tIns="0" rIns="0" bIns="0" rtlCol="0" anchor="ctr"/>
          <a:lstStyle/>
          <a:p>
            <a:pPr marL="0" indent="0">
              <a:buNone/>
            </a:pPr>
            <a:r>
              <a:rPr lang="en-US" sz="1300" b="1" dirty="0">
                <a:solidFill>
                  <a:srgbClr val="0F766E"/>
                </a:solidFill>
              </a:rPr>
              <a:t>Service</a:t>
            </a:r>
            <a:endParaRPr lang="en-US" sz="1300" dirty="0"/>
          </a:p>
        </p:txBody>
      </p:sp>
      <p:sp>
        <p:nvSpPr>
          <p:cNvPr id="10" name="Text 8"/>
          <p:cNvSpPr txBox="1"/>
          <p:nvPr/>
        </p:nvSpPr>
        <p:spPr>
          <a:xfrm>
            <a:off x="6400800" y="3291840"/>
            <a:ext cx="5074920" cy="2779776"/>
          </a:xfrm>
          <a:prstGeom prst="rect">
            <a:avLst/>
          </a:prstGeom>
          <a:noFill/>
          <a:ln/>
        </p:spPr>
        <p:txBody>
          <a:bodyPr wrap="square" lIns="0" tIns="0" rIns="0" bIns="0" rtlCol="0" anchor="t"/>
          <a:lstStyle/>
          <a:p>
            <a:pPr marL="0" indent="0">
              <a:buNone/>
            </a:pPr>
            <a:r>
              <a:rPr lang="en-US" sz="1500" dirty="0">
                <a:solidFill>
                  <a:srgbClr val="334155"/>
                </a:solidFill>
              </a:rPr>
              <a:t>A process that should keep running, even after you close the window. Today we only look at the list. We do not start our own app.</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a useful log line looks like</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Logs are evidence</a:t>
            </a:r>
            <a:endParaRPr lang="en-US" sz="1100" dirty="0"/>
          </a:p>
        </p:txBody>
      </p:sp>
      <p:sp>
        <p:nvSpPr>
          <p:cNvPr id="4" name="Text 2"/>
          <p:cNvSpPr txBox="1"/>
          <p:nvPr/>
        </p:nvSpPr>
        <p:spPr>
          <a:xfrm>
            <a:off x="502920" y="1005840"/>
            <a:ext cx="11155680" cy="1325880"/>
          </a:xfrm>
          <a:prstGeom prst="rect">
            <a:avLst/>
          </a:prstGeom>
          <a:noFill/>
          <a:ln/>
        </p:spPr>
        <p:txBody>
          <a:bodyPr wrap="square" lIns="0" tIns="0" rIns="0" bIns="0" rtlCol="0" anchor="t"/>
          <a:lstStyle/>
          <a:p>
            <a:pPr marL="0" indent="0">
              <a:buNone/>
            </a:pPr>
            <a:r>
              <a:rPr lang="en-US" sz="1600" dirty="0">
                <a:solidFill>
                  <a:srgbClr val="334155"/>
                </a:solidFill>
              </a:rPr>
              <a:t>Programs write messages into a log file so you can read them later. A useful line is something a human can act on. “ERROR Could not reach payment service” tells you where to look. “Error 1” does not.</a:t>
            </a:r>
            <a:endParaRPr lang="en-US" sz="1600" dirty="0"/>
          </a:p>
        </p:txBody>
      </p:sp>
      <p:sp>
        <p:nvSpPr>
          <p:cNvPr id="5" name="Shape 3"/>
          <p:cNvSpPr/>
          <p:nvPr/>
        </p:nvSpPr>
        <p:spPr>
          <a:xfrm>
            <a:off x="502920" y="2468880"/>
            <a:ext cx="5532120" cy="3749040"/>
          </a:xfrm>
          <a:prstGeom prst="roundRect">
            <a:avLst>
              <a:gd name="adj" fmla="val 1951"/>
            </a:avLst>
          </a:prstGeom>
          <a:solidFill>
            <a:srgbClr val="ECFDF5"/>
          </a:solidFill>
          <a:ln/>
        </p:spPr>
        <p:txBody>
          <a:bodyPr/>
          <a:lstStyle/>
          <a:p>
            <a:endParaRPr lang="en-IN"/>
          </a:p>
        </p:txBody>
      </p:sp>
      <p:sp>
        <p:nvSpPr>
          <p:cNvPr id="6" name="Text 4"/>
          <p:cNvSpPr txBox="1"/>
          <p:nvPr/>
        </p:nvSpPr>
        <p:spPr>
          <a:xfrm>
            <a:off x="685800" y="2596896"/>
            <a:ext cx="5166360" cy="310896"/>
          </a:xfrm>
          <a:prstGeom prst="rect">
            <a:avLst/>
          </a:prstGeom>
          <a:noFill/>
          <a:ln/>
        </p:spPr>
        <p:txBody>
          <a:bodyPr wrap="square" lIns="0" tIns="0" rIns="0" bIns="0" rtlCol="0" anchor="ctr"/>
          <a:lstStyle/>
          <a:p>
            <a:pPr marL="0" indent="0">
              <a:buNone/>
            </a:pPr>
            <a:r>
              <a:rPr lang="en-US" sz="1300" b="1" dirty="0">
                <a:solidFill>
                  <a:srgbClr val="0F766E"/>
                </a:solidFill>
              </a:rPr>
              <a:t>INFO — normal work</a:t>
            </a:r>
            <a:endParaRPr lang="en-US" sz="1300" dirty="0"/>
          </a:p>
        </p:txBody>
      </p:sp>
      <p:sp>
        <p:nvSpPr>
          <p:cNvPr id="7" name="Text 5"/>
          <p:cNvSpPr txBox="1"/>
          <p:nvPr/>
        </p:nvSpPr>
        <p:spPr>
          <a:xfrm>
            <a:off x="685800" y="2926080"/>
            <a:ext cx="5166360" cy="3145536"/>
          </a:xfrm>
          <a:prstGeom prst="rect">
            <a:avLst/>
          </a:prstGeom>
          <a:noFill/>
          <a:ln/>
        </p:spPr>
        <p:txBody>
          <a:bodyPr wrap="square" lIns="0" tIns="0" rIns="0" bIns="0" rtlCol="0" anchor="t"/>
          <a:lstStyle/>
          <a:p>
            <a:pPr marL="0" indent="0">
              <a:buNone/>
            </a:pPr>
            <a:r>
              <a:rPr lang="en-US" sz="1500" dirty="0">
                <a:solidFill>
                  <a:srgbClr val="334155"/>
                </a:solidFill>
              </a:rPr>
              <a:t>INFO Application started</a:t>
            </a:r>
            <a:endParaRPr lang="en-US" sz="1500" dirty="0"/>
          </a:p>
          <a:p>
            <a:pPr marL="0" indent="0">
              <a:buNone/>
            </a:pPr>
            <a:r>
              <a:rPr lang="en-US" sz="1500" dirty="0">
                <a:solidFill>
                  <a:srgbClr val="334155"/>
                </a:solidFill>
              </a:rPr>
              <a:t>INFO Connected to database</a:t>
            </a:r>
            <a:endParaRPr lang="en-US" sz="1500" dirty="0"/>
          </a:p>
          <a:p>
            <a:pPr marL="0" indent="0">
              <a:buNone/>
            </a:pPr>
            <a:r>
              <a:rPr lang="en-US" sz="1500" dirty="0">
                <a:solidFill>
                  <a:srgbClr val="334155"/>
                </a:solidFill>
              </a:rPr>
              <a:t>INFO Retry scheduled</a:t>
            </a:r>
            <a:endParaRPr lang="en-US" sz="1500" dirty="0"/>
          </a:p>
          <a:p>
            <a:pPr marL="0" indent="0">
              <a:buNone/>
            </a:pPr>
            <a:endParaRPr lang="en-US" sz="1500" dirty="0"/>
          </a:p>
          <a:p>
            <a:pPr marL="0" indent="0">
              <a:buNone/>
            </a:pPr>
            <a:r>
              <a:rPr lang="en-US" sz="1500" dirty="0">
                <a:solidFill>
                  <a:srgbClr val="334155"/>
                </a:solidFill>
              </a:rPr>
              <a:t>These lines mean the program is doing what we expected.</a:t>
            </a:r>
            <a:endParaRPr lang="en-US" sz="1500" dirty="0"/>
          </a:p>
        </p:txBody>
      </p:sp>
      <p:sp>
        <p:nvSpPr>
          <p:cNvPr id="8" name="Shape 6"/>
          <p:cNvSpPr/>
          <p:nvPr/>
        </p:nvSpPr>
        <p:spPr>
          <a:xfrm>
            <a:off x="6217920" y="2468880"/>
            <a:ext cx="5440680" cy="3749040"/>
          </a:xfrm>
          <a:prstGeom prst="roundRect">
            <a:avLst>
              <a:gd name="adj" fmla="val 1951"/>
            </a:avLst>
          </a:prstGeom>
          <a:solidFill>
            <a:srgbClr val="FEF3C7"/>
          </a:solidFill>
          <a:ln/>
        </p:spPr>
        <p:txBody>
          <a:bodyPr/>
          <a:lstStyle/>
          <a:p>
            <a:endParaRPr lang="en-IN"/>
          </a:p>
        </p:txBody>
      </p:sp>
      <p:sp>
        <p:nvSpPr>
          <p:cNvPr id="9" name="Text 7"/>
          <p:cNvSpPr txBox="1"/>
          <p:nvPr/>
        </p:nvSpPr>
        <p:spPr>
          <a:xfrm>
            <a:off x="6400800" y="2596896"/>
            <a:ext cx="5074920" cy="310896"/>
          </a:xfrm>
          <a:prstGeom prst="rect">
            <a:avLst/>
          </a:prstGeom>
          <a:noFill/>
          <a:ln/>
        </p:spPr>
        <p:txBody>
          <a:bodyPr wrap="square" lIns="0" tIns="0" rIns="0" bIns="0" rtlCol="0" anchor="ctr"/>
          <a:lstStyle/>
          <a:p>
            <a:pPr marL="0" indent="0">
              <a:buNone/>
            </a:pPr>
            <a:r>
              <a:rPr lang="en-US" sz="1300" b="1" dirty="0">
                <a:solidFill>
                  <a:srgbClr val="B45309"/>
                </a:solidFill>
              </a:rPr>
              <a:t>ERROR — something failed</a:t>
            </a:r>
            <a:endParaRPr lang="en-US" sz="1300" dirty="0"/>
          </a:p>
        </p:txBody>
      </p:sp>
      <p:sp>
        <p:nvSpPr>
          <p:cNvPr id="10" name="Text 8"/>
          <p:cNvSpPr txBox="1"/>
          <p:nvPr/>
        </p:nvSpPr>
        <p:spPr>
          <a:xfrm>
            <a:off x="6400800" y="2926080"/>
            <a:ext cx="5074920" cy="3145536"/>
          </a:xfrm>
          <a:prstGeom prst="rect">
            <a:avLst/>
          </a:prstGeom>
          <a:noFill/>
          <a:ln/>
        </p:spPr>
        <p:txBody>
          <a:bodyPr wrap="square" lIns="0" tIns="0" rIns="0" bIns="0" rtlCol="0" anchor="t"/>
          <a:lstStyle/>
          <a:p>
            <a:pPr marL="0" indent="0">
              <a:buNone/>
            </a:pPr>
            <a:r>
              <a:rPr lang="en-US" sz="1500" dirty="0">
                <a:solidFill>
                  <a:srgbClr val="334155"/>
                </a:solidFill>
              </a:rPr>
              <a:t>ERROR Could not reach payment service</a:t>
            </a:r>
            <a:endParaRPr lang="en-US" sz="1500" dirty="0"/>
          </a:p>
          <a:p>
            <a:pPr marL="0" indent="0">
              <a:buNone/>
            </a:pPr>
            <a:r>
              <a:rPr lang="en-US" sz="1500" dirty="0">
                <a:solidFill>
                  <a:srgbClr val="334155"/>
                </a:solidFill>
              </a:rPr>
              <a:t>ERROR Request timed out</a:t>
            </a:r>
            <a:endParaRPr lang="en-US" sz="1500" dirty="0"/>
          </a:p>
          <a:p>
            <a:pPr marL="0" indent="0">
              <a:buNone/>
            </a:pPr>
            <a:r>
              <a:rPr lang="en-US" sz="1500" dirty="0">
                <a:solidFill>
                  <a:srgbClr val="334155"/>
                </a:solidFill>
              </a:rPr>
              <a:t>ERROR Disk is getting full</a:t>
            </a:r>
            <a:endParaRPr lang="en-US" sz="1500" dirty="0"/>
          </a:p>
          <a:p>
            <a:pPr marL="0" indent="0">
              <a:buNone/>
            </a:pPr>
            <a:endParaRPr lang="en-US" sz="1500" dirty="0"/>
          </a:p>
          <a:p>
            <a:pPr marL="0" indent="0">
              <a:buNone/>
            </a:pPr>
            <a:r>
              <a:rPr lang="en-US" sz="1500" dirty="0">
                <a:solidFill>
                  <a:srgbClr val="334155"/>
                </a:solidFill>
              </a:rPr>
              <a:t>These are the lines grep ERROR is for. This is how you debug on day one. You do not open AWS. You search the file.</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Troubleshooting order for the rest of the course</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Do not skip evidence</a:t>
            </a:r>
            <a:endParaRPr lang="en-US" sz="1100" dirty="0"/>
          </a:p>
        </p:txBody>
      </p:sp>
      <p:sp>
        <p:nvSpPr>
          <p:cNvPr id="4" name="Shape 2"/>
          <p:cNvSpPr/>
          <p:nvPr/>
        </p:nvSpPr>
        <p:spPr>
          <a:xfrm>
            <a:off x="502920" y="1024128"/>
            <a:ext cx="420624" cy="420624"/>
          </a:xfrm>
          <a:prstGeom prst="ellipse">
            <a:avLst/>
          </a:prstGeom>
          <a:solidFill>
            <a:srgbClr val="0F766E"/>
          </a:solidFill>
          <a:ln/>
        </p:spPr>
        <p:txBody>
          <a:bodyPr/>
          <a:lstStyle/>
          <a:p>
            <a:endParaRPr lang="en-IN"/>
          </a:p>
        </p:txBody>
      </p:sp>
      <p:sp>
        <p:nvSpPr>
          <p:cNvPr id="5" name="Text 3"/>
          <p:cNvSpPr txBox="1"/>
          <p:nvPr/>
        </p:nvSpPr>
        <p:spPr>
          <a:xfrm>
            <a:off x="502920" y="10241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txBox="1"/>
          <p:nvPr/>
        </p:nvSpPr>
        <p:spPr>
          <a:xfrm>
            <a:off x="1097280" y="1024128"/>
            <a:ext cx="3931920" cy="420624"/>
          </a:xfrm>
          <a:prstGeom prst="rect">
            <a:avLst/>
          </a:prstGeom>
          <a:noFill/>
          <a:ln/>
        </p:spPr>
        <p:txBody>
          <a:bodyPr wrap="square" lIns="0" tIns="0" rIns="0" bIns="0" rtlCol="0" anchor="ctr"/>
          <a:lstStyle/>
          <a:p>
            <a:pPr marL="0" indent="0">
              <a:buNone/>
            </a:pPr>
            <a:r>
              <a:rPr lang="en-US" sz="1600" b="1" dirty="0">
                <a:solidFill>
                  <a:srgbClr val="0F172A"/>
                </a:solidFill>
              </a:rPr>
              <a:t>What changed?</a:t>
            </a:r>
            <a:endParaRPr lang="en-US" sz="1600" dirty="0"/>
          </a:p>
        </p:txBody>
      </p:sp>
      <p:sp>
        <p:nvSpPr>
          <p:cNvPr id="7" name="Text 5"/>
          <p:cNvSpPr txBox="1"/>
          <p:nvPr/>
        </p:nvSpPr>
        <p:spPr>
          <a:xfrm>
            <a:off x="5120640" y="1024128"/>
            <a:ext cx="6537960" cy="822960"/>
          </a:xfrm>
          <a:prstGeom prst="rect">
            <a:avLst/>
          </a:prstGeom>
          <a:noFill/>
          <a:ln/>
        </p:spPr>
        <p:txBody>
          <a:bodyPr wrap="square" lIns="0" tIns="0" rIns="0" bIns="0" rtlCol="0" anchor="t"/>
          <a:lstStyle/>
          <a:p>
            <a:pPr marL="0" indent="0">
              <a:buNone/>
            </a:pPr>
            <a:r>
              <a:rPr lang="en-US" sz="1500" dirty="0">
                <a:solidFill>
                  <a:srgbClr val="334155"/>
                </a:solidFill>
              </a:rPr>
              <a:t>A new deploy, a full disk, a config edit. Ask before you touch anything.</a:t>
            </a:r>
            <a:endParaRPr lang="en-US" sz="1500" dirty="0"/>
          </a:p>
        </p:txBody>
      </p:sp>
      <p:sp>
        <p:nvSpPr>
          <p:cNvPr id="8" name="Shape 6"/>
          <p:cNvSpPr/>
          <p:nvPr/>
        </p:nvSpPr>
        <p:spPr>
          <a:xfrm>
            <a:off x="502920" y="2029968"/>
            <a:ext cx="420624" cy="420624"/>
          </a:xfrm>
          <a:prstGeom prst="ellipse">
            <a:avLst/>
          </a:prstGeom>
          <a:solidFill>
            <a:srgbClr val="0F766E"/>
          </a:solidFill>
          <a:ln/>
        </p:spPr>
        <p:txBody>
          <a:bodyPr/>
          <a:lstStyle/>
          <a:p>
            <a:endParaRPr lang="en-IN"/>
          </a:p>
        </p:txBody>
      </p:sp>
      <p:sp>
        <p:nvSpPr>
          <p:cNvPr id="9" name="Text 7"/>
          <p:cNvSpPr txBox="1"/>
          <p:nvPr/>
        </p:nvSpPr>
        <p:spPr>
          <a:xfrm>
            <a:off x="502920" y="20299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txBox="1"/>
          <p:nvPr/>
        </p:nvSpPr>
        <p:spPr>
          <a:xfrm>
            <a:off x="1097280" y="2029968"/>
            <a:ext cx="3931920" cy="420624"/>
          </a:xfrm>
          <a:prstGeom prst="rect">
            <a:avLst/>
          </a:prstGeom>
          <a:noFill/>
          <a:ln/>
        </p:spPr>
        <p:txBody>
          <a:bodyPr wrap="square" lIns="0" tIns="0" rIns="0" bIns="0" rtlCol="0" anchor="ctr"/>
          <a:lstStyle/>
          <a:p>
            <a:pPr marL="0" indent="0">
              <a:buNone/>
            </a:pPr>
            <a:r>
              <a:rPr lang="en-US" sz="1600" b="1" dirty="0">
                <a:solidFill>
                  <a:srgbClr val="0F172A"/>
                </a:solidFill>
              </a:rPr>
              <a:t>Is the process running? (ps)</a:t>
            </a:r>
            <a:endParaRPr lang="en-US" sz="1600" dirty="0"/>
          </a:p>
        </p:txBody>
      </p:sp>
      <p:sp>
        <p:nvSpPr>
          <p:cNvPr id="11" name="Text 9"/>
          <p:cNvSpPr txBox="1"/>
          <p:nvPr/>
        </p:nvSpPr>
        <p:spPr>
          <a:xfrm>
            <a:off x="5120640" y="2029968"/>
            <a:ext cx="6537960" cy="822960"/>
          </a:xfrm>
          <a:prstGeom prst="rect">
            <a:avLst/>
          </a:prstGeom>
          <a:noFill/>
          <a:ln/>
        </p:spPr>
        <p:txBody>
          <a:bodyPr wrap="square" lIns="0" tIns="0" rIns="0" bIns="0" rtlCol="0" anchor="t"/>
          <a:lstStyle/>
          <a:p>
            <a:pPr marL="0" indent="0">
              <a:buNone/>
            </a:pPr>
            <a:r>
              <a:rPr lang="en-US" sz="1500" dirty="0">
                <a:solidFill>
                  <a:srgbClr val="334155"/>
                </a:solidFill>
              </a:rPr>
              <a:t>If there is no PID, start the program. Do not reinstall the OS.</a:t>
            </a:r>
            <a:endParaRPr lang="en-US" sz="1500" dirty="0"/>
          </a:p>
        </p:txBody>
      </p:sp>
      <p:sp>
        <p:nvSpPr>
          <p:cNvPr id="12" name="Shape 10"/>
          <p:cNvSpPr/>
          <p:nvPr/>
        </p:nvSpPr>
        <p:spPr>
          <a:xfrm>
            <a:off x="502920" y="3035808"/>
            <a:ext cx="420624" cy="420624"/>
          </a:xfrm>
          <a:prstGeom prst="ellipse">
            <a:avLst/>
          </a:prstGeom>
          <a:solidFill>
            <a:srgbClr val="0F766E"/>
          </a:solidFill>
          <a:ln/>
        </p:spPr>
        <p:txBody>
          <a:bodyPr/>
          <a:lstStyle/>
          <a:p>
            <a:endParaRPr lang="en-IN"/>
          </a:p>
        </p:txBody>
      </p:sp>
      <p:sp>
        <p:nvSpPr>
          <p:cNvPr id="13" name="Text 11"/>
          <p:cNvSpPr txBox="1"/>
          <p:nvPr/>
        </p:nvSpPr>
        <p:spPr>
          <a:xfrm>
            <a:off x="502920" y="30358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4" name="Text 12"/>
          <p:cNvSpPr txBox="1"/>
          <p:nvPr/>
        </p:nvSpPr>
        <p:spPr>
          <a:xfrm>
            <a:off x="1097280" y="3035808"/>
            <a:ext cx="3931920" cy="420624"/>
          </a:xfrm>
          <a:prstGeom prst="rect">
            <a:avLst/>
          </a:prstGeom>
          <a:noFill/>
          <a:ln/>
        </p:spPr>
        <p:txBody>
          <a:bodyPr wrap="square" lIns="0" tIns="0" rIns="0" bIns="0" rtlCol="0" anchor="ctr"/>
          <a:lstStyle/>
          <a:p>
            <a:pPr marL="0" indent="0">
              <a:buNone/>
            </a:pPr>
            <a:r>
              <a:rPr lang="en-US" sz="1600" b="1" dirty="0">
                <a:solidFill>
                  <a:srgbClr val="0F172A"/>
                </a:solidFill>
              </a:rPr>
              <a:t>What do the logs say? (cat / grep)</a:t>
            </a:r>
            <a:endParaRPr lang="en-US" sz="1600" dirty="0"/>
          </a:p>
        </p:txBody>
      </p:sp>
      <p:sp>
        <p:nvSpPr>
          <p:cNvPr id="15" name="Text 13"/>
          <p:cNvSpPr txBox="1"/>
          <p:nvPr/>
        </p:nvSpPr>
        <p:spPr>
          <a:xfrm>
            <a:off x="5120640" y="3035808"/>
            <a:ext cx="6537960" cy="822960"/>
          </a:xfrm>
          <a:prstGeom prst="rect">
            <a:avLst/>
          </a:prstGeom>
          <a:noFill/>
          <a:ln/>
        </p:spPr>
        <p:txBody>
          <a:bodyPr wrap="square" lIns="0" tIns="0" rIns="0" bIns="0" rtlCol="0" anchor="t"/>
          <a:lstStyle/>
          <a:p>
            <a:pPr marL="0" indent="0">
              <a:buNone/>
            </a:pPr>
            <a:r>
              <a:rPr lang="en-US" sz="1500" dirty="0">
                <a:solidFill>
                  <a:srgbClr val="334155"/>
                </a:solidFill>
              </a:rPr>
              <a:t>Search for ERROR. The file is the evidence.</a:t>
            </a:r>
            <a:endParaRPr lang="en-US" sz="1500" dirty="0"/>
          </a:p>
        </p:txBody>
      </p:sp>
      <p:sp>
        <p:nvSpPr>
          <p:cNvPr id="16" name="Shape 14"/>
          <p:cNvSpPr/>
          <p:nvPr/>
        </p:nvSpPr>
        <p:spPr>
          <a:xfrm>
            <a:off x="502920" y="4041648"/>
            <a:ext cx="420624" cy="420624"/>
          </a:xfrm>
          <a:prstGeom prst="ellipse">
            <a:avLst/>
          </a:prstGeom>
          <a:solidFill>
            <a:srgbClr val="0F766E"/>
          </a:solidFill>
          <a:ln/>
        </p:spPr>
        <p:txBody>
          <a:bodyPr/>
          <a:lstStyle/>
          <a:p>
            <a:endParaRPr lang="en-IN"/>
          </a:p>
        </p:txBody>
      </p:sp>
      <p:sp>
        <p:nvSpPr>
          <p:cNvPr id="17" name="Text 15"/>
          <p:cNvSpPr txBox="1"/>
          <p:nvPr/>
        </p:nvSpPr>
        <p:spPr>
          <a:xfrm>
            <a:off x="502920" y="40416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8" name="Text 16"/>
          <p:cNvSpPr txBox="1"/>
          <p:nvPr/>
        </p:nvSpPr>
        <p:spPr>
          <a:xfrm>
            <a:off x="1097280" y="4041648"/>
            <a:ext cx="3931920" cy="420624"/>
          </a:xfrm>
          <a:prstGeom prst="rect">
            <a:avLst/>
          </a:prstGeom>
          <a:noFill/>
          <a:ln/>
        </p:spPr>
        <p:txBody>
          <a:bodyPr wrap="square" lIns="0" tIns="0" rIns="0" bIns="0" rtlCol="0" anchor="ctr"/>
          <a:lstStyle/>
          <a:p>
            <a:pPr marL="0" indent="0">
              <a:buNone/>
            </a:pPr>
            <a:r>
              <a:rPr lang="en-US" sz="1600" b="1" dirty="0">
                <a:solidFill>
                  <a:srgbClr val="0F172A"/>
                </a:solidFill>
              </a:rPr>
              <a:t>Is the disk full? (df -h)</a:t>
            </a:r>
            <a:endParaRPr lang="en-US" sz="1600" dirty="0"/>
          </a:p>
        </p:txBody>
      </p:sp>
      <p:sp>
        <p:nvSpPr>
          <p:cNvPr id="19" name="Text 17"/>
          <p:cNvSpPr txBox="1"/>
          <p:nvPr/>
        </p:nvSpPr>
        <p:spPr>
          <a:xfrm>
            <a:off x="5120640" y="4041648"/>
            <a:ext cx="6537960" cy="822960"/>
          </a:xfrm>
          <a:prstGeom prst="rect">
            <a:avLst/>
          </a:prstGeom>
          <a:noFill/>
          <a:ln/>
        </p:spPr>
        <p:txBody>
          <a:bodyPr wrap="square" lIns="0" tIns="0" rIns="0" bIns="0" rtlCol="0" anchor="t"/>
          <a:lstStyle/>
          <a:p>
            <a:pPr marL="0" indent="0">
              <a:buNone/>
            </a:pPr>
            <a:r>
              <a:rPr lang="en-US" sz="1500" dirty="0">
                <a:solidFill>
                  <a:srgbClr val="334155"/>
                </a:solidFill>
              </a:rPr>
              <a:t>A full disk makes logs go silent. That looks like “nothing is happening”.</a:t>
            </a:r>
            <a:endParaRPr lang="en-US" sz="1500" dirty="0"/>
          </a:p>
        </p:txBody>
      </p:sp>
      <p:sp>
        <p:nvSpPr>
          <p:cNvPr id="20" name="Shape 18"/>
          <p:cNvSpPr/>
          <p:nvPr/>
        </p:nvSpPr>
        <p:spPr>
          <a:xfrm>
            <a:off x="502920" y="5047488"/>
            <a:ext cx="420624" cy="420624"/>
          </a:xfrm>
          <a:prstGeom prst="ellipse">
            <a:avLst/>
          </a:prstGeom>
          <a:solidFill>
            <a:srgbClr val="0F766E"/>
          </a:solidFill>
          <a:ln/>
        </p:spPr>
        <p:txBody>
          <a:bodyPr/>
          <a:lstStyle/>
          <a:p>
            <a:endParaRPr lang="en-IN"/>
          </a:p>
        </p:txBody>
      </p:sp>
      <p:sp>
        <p:nvSpPr>
          <p:cNvPr id="21" name="Text 19"/>
          <p:cNvSpPr txBox="1"/>
          <p:nvPr/>
        </p:nvSpPr>
        <p:spPr>
          <a:xfrm>
            <a:off x="502920" y="504748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2" name="Text 20"/>
          <p:cNvSpPr txBox="1"/>
          <p:nvPr/>
        </p:nvSpPr>
        <p:spPr>
          <a:xfrm>
            <a:off x="1097280" y="5047488"/>
            <a:ext cx="3931920" cy="420624"/>
          </a:xfrm>
          <a:prstGeom prst="rect">
            <a:avLst/>
          </a:prstGeom>
          <a:noFill/>
          <a:ln/>
        </p:spPr>
        <p:txBody>
          <a:bodyPr wrap="square" lIns="0" tIns="0" rIns="0" bIns="0" rtlCol="0" anchor="ctr"/>
          <a:lstStyle/>
          <a:p>
            <a:pPr marL="0" indent="0">
              <a:buNone/>
            </a:pPr>
            <a:r>
              <a:rPr lang="en-US" sz="1600" b="1" dirty="0">
                <a:solidFill>
                  <a:srgbClr val="0F172A"/>
                </a:solidFill>
              </a:rPr>
              <a:t>Only then, blame the code</a:t>
            </a:r>
            <a:endParaRPr lang="en-US" sz="1600" dirty="0"/>
          </a:p>
        </p:txBody>
      </p:sp>
      <p:sp>
        <p:nvSpPr>
          <p:cNvPr id="23" name="Text 21"/>
          <p:cNvSpPr txBox="1"/>
          <p:nvPr/>
        </p:nvSpPr>
        <p:spPr>
          <a:xfrm>
            <a:off x="5120640" y="5047488"/>
            <a:ext cx="6537960" cy="822960"/>
          </a:xfrm>
          <a:prstGeom prst="rect">
            <a:avLst/>
          </a:prstGeom>
          <a:noFill/>
          <a:ln/>
        </p:spPr>
        <p:txBody>
          <a:bodyPr wrap="square" lIns="0" tIns="0" rIns="0" bIns="0" rtlCol="0" anchor="t"/>
          <a:lstStyle/>
          <a:p>
            <a:pPr marL="0" indent="0">
              <a:buNone/>
            </a:pPr>
            <a:r>
              <a:rPr lang="en-US" sz="1500" dirty="0">
                <a:solidFill>
                  <a:srgbClr val="334155"/>
                </a:solidFill>
              </a:rPr>
              <a:t>Random reboots skip the evidence. You lose the story of what failed.</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Practical: one script, no cloud bill</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cd lec-01/codebase   then   bash linux-basics.sh</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How to run the lab</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linux-basics.sh</a:t>
            </a:r>
            <a:endParaRPr lang="en-US" sz="1100" dirty="0"/>
          </a:p>
        </p:txBody>
      </p:sp>
      <p:sp>
        <p:nvSpPr>
          <p:cNvPr id="4" name="Text 2"/>
          <p:cNvSpPr txBox="1"/>
          <p:nvPr/>
        </p:nvSpPr>
        <p:spPr>
          <a:xfrm>
            <a:off x="502920" y="1005840"/>
            <a:ext cx="11155680" cy="1234440"/>
          </a:xfrm>
          <a:prstGeom prst="rect">
            <a:avLst/>
          </a:prstGeom>
          <a:noFill/>
          <a:ln/>
        </p:spPr>
        <p:txBody>
          <a:bodyPr wrap="square" lIns="0" tIns="0" rIns="0" bIns="0" rtlCol="0" anchor="t"/>
          <a:lstStyle/>
          <a:p>
            <a:pPr marL="0" indent="0">
              <a:buNone/>
            </a:pPr>
            <a:r>
              <a:rPr lang="en-US" sz="1600" dirty="0">
                <a:solidFill>
                  <a:srgbClr val="334155"/>
                </a:solidFill>
              </a:rPr>
              <a:t>Open Git Bash, WSL, or a Linux terminal. Go to the codebase folder. Run the one file. You can also type the same commands by hand — the file is the lesson.</a:t>
            </a:r>
            <a:endParaRPr lang="en-US" sz="1600" dirty="0"/>
          </a:p>
        </p:txBody>
      </p:sp>
      <p:sp>
        <p:nvSpPr>
          <p:cNvPr id="5" name="Shape 3"/>
          <p:cNvSpPr/>
          <p:nvPr/>
        </p:nvSpPr>
        <p:spPr>
          <a:xfrm>
            <a:off x="502920" y="2331720"/>
            <a:ext cx="11155680" cy="3886200"/>
          </a:xfrm>
          <a:prstGeom prst="roundRect">
            <a:avLst>
              <a:gd name="adj" fmla="val 1882"/>
            </a:avLst>
          </a:prstGeom>
          <a:solidFill>
            <a:srgbClr val="0F172A"/>
          </a:solidFill>
          <a:ln/>
        </p:spPr>
        <p:txBody>
          <a:bodyPr/>
          <a:lstStyle/>
          <a:p>
            <a:endParaRPr lang="en-IN"/>
          </a:p>
        </p:txBody>
      </p:sp>
      <p:sp>
        <p:nvSpPr>
          <p:cNvPr id="6" name="Text 4"/>
          <p:cNvSpPr txBox="1"/>
          <p:nvPr/>
        </p:nvSpPr>
        <p:spPr>
          <a:xfrm>
            <a:off x="685800" y="2459736"/>
            <a:ext cx="10789920" cy="310896"/>
          </a:xfrm>
          <a:prstGeom prst="rect">
            <a:avLst/>
          </a:prstGeom>
          <a:noFill/>
          <a:ln/>
        </p:spPr>
        <p:txBody>
          <a:bodyPr wrap="square" lIns="0" tIns="0" rIns="0" bIns="0" rtlCol="0" anchor="ctr"/>
          <a:lstStyle/>
          <a:p>
            <a:pPr marL="0" indent="0">
              <a:buNone/>
            </a:pPr>
            <a:r>
              <a:rPr lang="en-US" sz="1300" b="1" dirty="0">
                <a:solidFill>
                  <a:srgbClr val="FFFFFF"/>
                </a:solidFill>
              </a:rPr>
              <a:t>Type exactly this</a:t>
            </a:r>
            <a:endParaRPr lang="en-US" sz="1300" dirty="0"/>
          </a:p>
        </p:txBody>
      </p:sp>
      <p:sp>
        <p:nvSpPr>
          <p:cNvPr id="7" name="Text 5"/>
          <p:cNvSpPr txBox="1"/>
          <p:nvPr/>
        </p:nvSpPr>
        <p:spPr>
          <a:xfrm>
            <a:off x="685800" y="2788920"/>
            <a:ext cx="10789920" cy="3282696"/>
          </a:xfrm>
          <a:prstGeom prst="rect">
            <a:avLst/>
          </a:prstGeom>
          <a:noFill/>
          <a:ln/>
        </p:spPr>
        <p:txBody>
          <a:bodyPr wrap="square" lIns="0" tIns="0" rIns="0" bIns="0" rtlCol="0" anchor="t"/>
          <a:lstStyle/>
          <a:p>
            <a:pPr marL="0" indent="0">
              <a:buNone/>
            </a:pPr>
            <a:r>
              <a:rPr lang="en-US" sz="1500" dirty="0">
                <a:solidFill>
                  <a:srgbClr val="94A3B8"/>
                </a:solidFill>
              </a:rPr>
              <a:t>cd lec-01/codebase</a:t>
            </a:r>
            <a:endParaRPr lang="en-US" sz="1500" dirty="0"/>
          </a:p>
          <a:p>
            <a:pPr marL="0" indent="0">
              <a:buNone/>
            </a:pPr>
            <a:r>
              <a:rPr lang="en-US" sz="1500" dirty="0">
                <a:solidFill>
                  <a:srgbClr val="94A3B8"/>
                </a:solidFill>
              </a:rPr>
              <a:t>bash linux-basics.sh</a:t>
            </a:r>
            <a:endParaRPr lang="en-US" sz="1500" dirty="0"/>
          </a:p>
          <a:p>
            <a:pPr marL="0" indent="0">
              <a:buNone/>
            </a:pPr>
            <a:endParaRPr lang="en-US" sz="1500" dirty="0"/>
          </a:p>
          <a:p>
            <a:pPr marL="0" indent="0">
              <a:buNone/>
            </a:pPr>
            <a:r>
              <a:rPr lang="en-US" sz="1500" dirty="0">
                <a:solidFill>
                  <a:srgbClr val="94A3B8"/>
                </a:solidFill>
              </a:rPr>
              <a:t>When it finishes, practise this yourself:</a:t>
            </a:r>
            <a:endParaRPr lang="en-US" sz="1500" dirty="0"/>
          </a:p>
          <a:p>
            <a:pPr marL="0" indent="0">
              <a:buNone/>
            </a:pPr>
            <a:r>
              <a:rPr lang="en-US" sz="1500" dirty="0">
                <a:solidFill>
                  <a:srgbClr val="94A3B8"/>
                </a:solidFill>
              </a:rPr>
              <a:t>  cd devops-linux-demo</a:t>
            </a:r>
            <a:endParaRPr lang="en-US" sz="1500" dirty="0"/>
          </a:p>
          <a:p>
            <a:pPr marL="0" indent="0">
              <a:buNone/>
            </a:pPr>
            <a:r>
              <a:rPr lang="en-US" sz="1500" dirty="0">
                <a:solidFill>
                  <a:srgbClr val="94A3B8"/>
                </a:solidFill>
              </a:rPr>
              <a:t>  grep ERROR app.log</a:t>
            </a:r>
            <a:endParaRPr lang="en-US" sz="1500" dirty="0"/>
          </a:p>
          <a:p>
            <a:pPr marL="0" indent="0">
              <a:buNone/>
            </a:pPr>
            <a:endParaRPr lang="en-US" sz="1500" dirty="0"/>
          </a:p>
          <a:p>
            <a:pPr marL="0" indent="0">
              <a:buNone/>
            </a:pPr>
            <a:r>
              <a:rPr lang="en-US" sz="1500" dirty="0">
                <a:solidFill>
                  <a:srgbClr val="94A3B8"/>
                </a:solidFill>
              </a:rPr>
              <a:t>Cleanup when you are done:</a:t>
            </a:r>
            <a:endParaRPr lang="en-US" sz="1500" dirty="0"/>
          </a:p>
          <a:p>
            <a:pPr marL="0" indent="0">
              <a:buNone/>
            </a:pPr>
            <a:r>
              <a:rPr lang="en-US" sz="1500" dirty="0">
                <a:solidFill>
                  <a:srgbClr val="94A3B8"/>
                </a:solidFill>
              </a:rPr>
              <a:t>  cd ..</a:t>
            </a:r>
            <a:endParaRPr lang="en-US" sz="1500" dirty="0"/>
          </a:p>
          <a:p>
            <a:pPr marL="0" indent="0">
              <a:buNone/>
            </a:pPr>
            <a:r>
              <a:rPr lang="en-US" sz="1500" dirty="0">
                <a:solidFill>
                  <a:srgbClr val="94A3B8"/>
                </a:solidFill>
              </a:rPr>
              <a:t>  rm -rf devops-linux-demo</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the script does, in order</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Follow along</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2316480"/>
        </p:xfrm>
        <a:graphic>
          <a:graphicData uri="http://schemas.openxmlformats.org/drawingml/2006/table">
            <a:tbl>
              <a:tblPr/>
              <a:tblGrid>
                <a:gridCol w="22860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956048">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Part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You will see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You should notice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1. Who / where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Your username and folder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pwd must match where you think you are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2. Create a log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devops-linux-demo/app.log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&gt; starts the file, &gt;&gt; adds lines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3. Read 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cat, then first 2, then last 2</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head is the start, tail is the newest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4. Search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Only ERROR lines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This is the skill to type yourself</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5. Copy / rename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app.log and app-copy.log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cp copies, mv renames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6. Append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 third ERROR line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&gt;&gt; kept the old lines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7. Machine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Disk, hostname, processes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df -h and ps are incident tools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What grep ERROR should show</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Expected output</a:t>
            </a:r>
            <a:endParaRPr lang="en-US" sz="1100" dirty="0"/>
          </a:p>
        </p:txBody>
      </p:sp>
      <p:sp>
        <p:nvSpPr>
          <p:cNvPr id="4" name="Text 2"/>
          <p:cNvSpPr txBox="1"/>
          <p:nvPr/>
        </p:nvSpPr>
        <p:spPr>
          <a:xfrm>
            <a:off x="502920" y="1005840"/>
            <a:ext cx="11155680" cy="1280160"/>
          </a:xfrm>
          <a:prstGeom prst="rect">
            <a:avLst/>
          </a:prstGeom>
          <a:noFill/>
          <a:ln/>
        </p:spPr>
        <p:txBody>
          <a:bodyPr wrap="square" lIns="0" tIns="0" rIns="0" bIns="0" rtlCol="0" anchor="t"/>
          <a:lstStyle/>
          <a:p>
            <a:pPr marL="0" indent="0">
              <a:buNone/>
            </a:pPr>
            <a:r>
              <a:rPr lang="en-US" sz="1600" dirty="0">
                <a:solidFill>
                  <a:srgbClr val="334155"/>
                </a:solidFill>
              </a:rPr>
              <a:t>After the script appends one extra line, grep ERROR app.log should show three failures. If you see them, you understood the lab. If you see nothing, you are probably in the wrong folder — run pwd.</a:t>
            </a:r>
            <a:endParaRPr lang="en-US" sz="1600" dirty="0"/>
          </a:p>
        </p:txBody>
      </p:sp>
      <p:sp>
        <p:nvSpPr>
          <p:cNvPr id="5" name="Shape 3"/>
          <p:cNvSpPr/>
          <p:nvPr/>
        </p:nvSpPr>
        <p:spPr>
          <a:xfrm>
            <a:off x="502920" y="2423160"/>
            <a:ext cx="11155680" cy="3794760"/>
          </a:xfrm>
          <a:prstGeom prst="roundRect">
            <a:avLst>
              <a:gd name="adj" fmla="val 1928"/>
            </a:avLst>
          </a:prstGeom>
          <a:solidFill>
            <a:srgbClr val="FEF3C7"/>
          </a:solidFill>
          <a:ln/>
        </p:spPr>
        <p:txBody>
          <a:bodyPr/>
          <a:lstStyle/>
          <a:p>
            <a:endParaRPr lang="en-IN"/>
          </a:p>
        </p:txBody>
      </p:sp>
      <p:sp>
        <p:nvSpPr>
          <p:cNvPr id="6" name="Text 4"/>
          <p:cNvSpPr txBox="1"/>
          <p:nvPr/>
        </p:nvSpPr>
        <p:spPr>
          <a:xfrm>
            <a:off x="685800" y="2551176"/>
            <a:ext cx="10789920" cy="310896"/>
          </a:xfrm>
          <a:prstGeom prst="rect">
            <a:avLst/>
          </a:prstGeom>
          <a:noFill/>
          <a:ln/>
        </p:spPr>
        <p:txBody>
          <a:bodyPr wrap="square" lIns="0" tIns="0" rIns="0" bIns="0" rtlCol="0" anchor="ctr"/>
          <a:lstStyle/>
          <a:p>
            <a:pPr marL="0" indent="0">
              <a:buNone/>
            </a:pPr>
            <a:r>
              <a:rPr lang="en-US" sz="1300" b="1" dirty="0">
                <a:solidFill>
                  <a:srgbClr val="B45309"/>
                </a:solidFill>
              </a:rPr>
              <a:t>Expected ERROR lines</a:t>
            </a:r>
            <a:endParaRPr lang="en-US" sz="1300" dirty="0"/>
          </a:p>
        </p:txBody>
      </p:sp>
      <p:sp>
        <p:nvSpPr>
          <p:cNvPr id="7" name="Text 5"/>
          <p:cNvSpPr txBox="1"/>
          <p:nvPr/>
        </p:nvSpPr>
        <p:spPr>
          <a:xfrm>
            <a:off x="685800" y="2880360"/>
            <a:ext cx="10789920" cy="3191256"/>
          </a:xfrm>
          <a:prstGeom prst="rect">
            <a:avLst/>
          </a:prstGeom>
          <a:noFill/>
          <a:ln/>
        </p:spPr>
        <p:txBody>
          <a:bodyPr wrap="square" lIns="0" tIns="0" rIns="0" bIns="0" rtlCol="0" anchor="t"/>
          <a:lstStyle/>
          <a:p>
            <a:pPr marL="0" indent="0">
              <a:buNone/>
            </a:pPr>
            <a:r>
              <a:rPr lang="en-US" sz="1500" dirty="0">
                <a:solidFill>
                  <a:srgbClr val="334155"/>
                </a:solidFill>
              </a:rPr>
              <a:t>ERROR Could not reach payment service</a:t>
            </a:r>
            <a:endParaRPr lang="en-US" sz="1500" dirty="0"/>
          </a:p>
          <a:p>
            <a:pPr marL="0" indent="0">
              <a:buNone/>
            </a:pPr>
            <a:r>
              <a:rPr lang="en-US" sz="1500" dirty="0">
                <a:solidFill>
                  <a:srgbClr val="334155"/>
                </a:solidFill>
              </a:rPr>
              <a:t>ERROR Request timed out</a:t>
            </a:r>
            <a:endParaRPr lang="en-US" sz="1500" dirty="0"/>
          </a:p>
          <a:p>
            <a:pPr marL="0" indent="0">
              <a:buNone/>
            </a:pPr>
            <a:r>
              <a:rPr lang="en-US" sz="1500" dirty="0">
                <a:solidFill>
                  <a:srgbClr val="334155"/>
                </a:solidFill>
              </a:rPr>
              <a:t>ERROR Disk is getting full</a:t>
            </a:r>
            <a:endParaRPr lang="en-US" sz="1500" dirty="0"/>
          </a:p>
          <a:p>
            <a:pPr marL="0" indent="0">
              <a:buNone/>
            </a:pPr>
            <a:endParaRPr lang="en-US" sz="1500" dirty="0"/>
          </a:p>
          <a:p>
            <a:pPr marL="0" indent="0">
              <a:buNone/>
            </a:pPr>
            <a:r>
              <a:rPr lang="en-US" sz="1500" dirty="0">
                <a:solidFill>
                  <a:srgbClr val="334155"/>
                </a:solidFill>
              </a:rPr>
              <a:t>That last line was added with &gt;&gt;. The first two were already in the file. This is how real logs grow while an app runs.</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Common mistakes — and why they hurt</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Avoid these</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2133600"/>
        </p:xfrm>
        <a:graphic>
          <a:graphicData uri="http://schemas.openxmlformats.org/drawingml/2006/table">
            <a:tbl>
              <a:tblPr/>
              <a:tblGrid>
                <a:gridCol w="3657600">
                  <a:extLst>
                    <a:ext uri="{9D8B030D-6E8A-4147-A177-3AD203B41FA5}">
                      <a16:colId xmlns:a16="http://schemas.microsoft.com/office/drawing/2014/main" val="20000"/>
                    </a:ext>
                  </a:extLst>
                </a:gridCol>
                <a:gridCol w="751636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Mistake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actually happens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Skipping the 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 guess. Guessing is not operations. grep ERROR is operations.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Using &gt; when you meant &gt;&gt;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 wipe the log. History is gone. Use &gt;&gt; to add a line.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Calling laptop typing “CI”</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CI is a machine that runs on every commit. Hand tests are just hand tests.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Opening AWS today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console does not teach ls, cat, or ps. Linux first.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Rebooting first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 destroy evidence. Check process, disk, and logs first.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Killing random processes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 may stop the wrong program. Read ps before you stop anything.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A job-shaped five minutes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Tell this story back</a:t>
            </a:r>
            <a:endParaRPr lang="en-US" sz="1100" dirty="0"/>
          </a:p>
        </p:txBody>
      </p:sp>
      <p:sp>
        <p:nvSpPr>
          <p:cNvPr id="4" name="Text 2"/>
          <p:cNvSpPr txBox="1"/>
          <p:nvPr/>
        </p:nvSpPr>
        <p:spPr>
          <a:xfrm>
            <a:off x="502920" y="987552"/>
            <a:ext cx="11155680" cy="1051560"/>
          </a:xfrm>
          <a:prstGeom prst="rect">
            <a:avLst/>
          </a:prstGeom>
          <a:noFill/>
          <a:ln/>
        </p:spPr>
        <p:txBody>
          <a:bodyPr wrap="square" lIns="0" tIns="0" rIns="0" bIns="0" rtlCol="0" anchor="t"/>
          <a:lstStyle/>
          <a:p>
            <a:pPr marL="0" indent="0">
              <a:buNone/>
            </a:pPr>
            <a:r>
              <a:rPr lang="en-US" sz="1600" dirty="0">
                <a:solidFill>
                  <a:srgbClr val="334155"/>
                </a:solidFill>
              </a:rPr>
              <a:t>You join a team. Payments fail. The manager asks “is Linux down?” You do not say yes or no from a feeling. You collect evidence, then you write two lines.</a:t>
            </a:r>
            <a:endParaRPr lang="en-US" sz="1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11173968" cy="1524000"/>
        </p:xfrm>
        <a:graphic>
          <a:graphicData uri="http://schemas.openxmlformats.org/drawingml/2006/table">
            <a:tbl>
              <a:tblPr/>
              <a:tblGrid>
                <a:gridCol w="11887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96188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you do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you learn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ps aux | head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Is any related program running?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df -h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Is the disk full? (that would silence logs)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grep ERROR app.log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“Could not reach payment service”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Write two lines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Cause, and how to see it next time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6" name="Text 3"/>
          <p:cNvSpPr txBox="1"/>
          <p:nvPr/>
        </p:nvSpPr>
        <p:spPr>
          <a:xfrm>
            <a:off x="502920" y="5806440"/>
            <a:ext cx="11155680" cy="457200"/>
          </a:xfrm>
          <a:prstGeom prst="rect">
            <a:avLst/>
          </a:prstGeom>
          <a:noFill/>
          <a:ln/>
        </p:spPr>
        <p:txBody>
          <a:bodyPr wrap="square" lIns="0" tIns="0" rIns="0" bIns="0" rtlCol="0" anchor="ctr"/>
          <a:lstStyle/>
          <a:p>
            <a:pPr marL="0" indent="0">
              <a:buNone/>
            </a:pPr>
            <a:r>
              <a:rPr lang="en-US" sz="1500" dirty="0">
                <a:solidFill>
                  <a:srgbClr val="334155"/>
                </a:solidFill>
              </a:rPr>
              <a:t>Those two lines are the seed of a runbook. We write a real one in Lecture 13.</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Takeaways you should be able to say in your own words</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Keep these</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1828800"/>
        </p:xfrm>
        <a:graphic>
          <a:graphicData uri="http://schemas.openxmlformats.org/drawingml/2006/table">
            <a:tbl>
              <a:tblPr/>
              <a:tblGrid>
                <a:gridCol w="2743200">
                  <a:extLst>
                    <a:ext uri="{9D8B030D-6E8A-4147-A177-3AD203B41FA5}">
                      <a16:colId xmlns:a16="http://schemas.microsoft.com/office/drawing/2014/main" val="20000"/>
                    </a:ext>
                  </a:extLst>
                </a:gridCol>
                <a:gridCol w="843076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Idea</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Say this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Loop, not logo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DevOps is plan through monitor, owned by one team. It is not a product name.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SDLC still exists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DevOps does not replace the life cycle. It repeats deploy and operate every week.</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Three different CDs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CI verifies every commit. Delivery means releasable. Deployment means actually live.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Linux is the floor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EC2, Azure VM, and GCE are still Linux. Same ps, df, cat, grep.</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Evidence first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Process, log, disk — then code. grep ERROR beats guessing.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Interview answers you can read aloud — set 1</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Practise out loud</a:t>
            </a:r>
            <a:endParaRPr lang="en-US" sz="1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1950720"/>
        </p:xfrm>
        <a:graphic>
          <a:graphicData uri="http://schemas.openxmlformats.org/drawingml/2006/table">
            <a:tbl>
              <a:tblPr/>
              <a:tblGrid>
                <a:gridCol w="3749040">
                  <a:extLst>
                    <a:ext uri="{9D8B030D-6E8A-4147-A177-3AD203B41FA5}">
                      <a16:colId xmlns:a16="http://schemas.microsoft.com/office/drawing/2014/main" val="20000"/>
                    </a:ext>
                  </a:extLst>
                </a:gridCol>
                <a:gridCol w="742492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Say this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What is DevOps?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 shared loop from commit to healthy production. Culture plus practice plus tools — not a tool name.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Why did it appear?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 shipped features, Ops froze change. Releases were slow and blamed. We needed smaller, safer, frequent change.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What is SDLC?</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path from need → design → build → test → deploy → operate → learn.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CI vs Delivery vs Deployment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CI = verify every commit. Delivery = we could go live. Deployment = we do go live automatically.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56032"/>
            <a:ext cx="11155680" cy="640080"/>
          </a:xfrm>
          <a:prstGeom prst="rect">
            <a:avLst/>
          </a:prstGeom>
          <a:noFill/>
          <a:ln/>
        </p:spPr>
        <p:txBody>
          <a:bodyPr wrap="square" lIns="0" tIns="0" rIns="0" bIns="0" rtlCol="0"/>
          <a:lstStyle/>
          <a:p>
            <a:pPr marL="0" indent="0">
              <a:buNone/>
            </a:pPr>
            <a:r>
              <a:rPr lang="en-US" sz="2800" b="1" dirty="0">
                <a:solidFill>
                  <a:schemeClr val="tx1"/>
                </a:solidFill>
              </a:rPr>
              <a:t>Interview answers you can read aloud — set 2</a:t>
            </a:r>
            <a:endParaRPr lang="en-US" sz="28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1  ·  Practise out loud</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1737360"/>
        </p:xfrm>
        <a:graphic>
          <a:graphicData uri="http://schemas.openxmlformats.org/drawingml/2006/table">
            <a:tbl>
              <a:tblPr/>
              <a:tblGrid>
                <a:gridCol w="3749040">
                  <a:extLst>
                    <a:ext uri="{9D8B030D-6E8A-4147-A177-3AD203B41FA5}">
                      <a16:colId xmlns:a16="http://schemas.microsoft.com/office/drawing/2014/main" val="20000"/>
                    </a:ext>
                  </a:extLst>
                </a:gridCol>
                <a:gridCol w="7424928">
                  <a:extLst>
                    <a:ext uri="{9D8B030D-6E8A-4147-A177-3AD203B41FA5}">
                      <a16:colId xmlns:a16="http://schemas.microsoft.com/office/drawing/2014/main" val="20001"/>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Say this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Why Linux?</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Most servers, containers, and CI runners are Linux. Cloud VMs are still Linux. I debug with ps, df, and logs.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Service is down. First steps?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Do not reinstall. Check ps, df -h, then grep ERROR. Ask what changed. No random reboot.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Process vs service?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 process is running now and has a PID. A service is a process that should keep running.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stdout vs a log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The terminal is temporary. The log file is what I debug after I log in again. Today that file is app.log.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Is DevOps the same as AWS?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No. AWS, Azure, and GCP host the loop. Names change. Linux stays.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640080" y="1234440"/>
            <a:ext cx="2377440" cy="365760"/>
          </a:xfrm>
          <a:prstGeom prst="roundRect">
            <a:avLst>
              <a:gd name="adj" fmla="val 15000"/>
            </a:avLst>
          </a:prstGeom>
          <a:solidFill>
            <a:srgbClr val="0F766E"/>
          </a:solidFill>
          <a:ln/>
        </p:spPr>
        <p:txBody>
          <a:bodyPr/>
          <a:lstStyle/>
          <a:p>
            <a:endParaRPr lang="en-IN"/>
          </a:p>
        </p:txBody>
      </p:sp>
      <p:sp>
        <p:nvSpPr>
          <p:cNvPr id="3" name="Text 1"/>
          <p:cNvSpPr txBox="1"/>
          <p:nvPr/>
        </p:nvSpPr>
        <p:spPr>
          <a:xfrm>
            <a:off x="640080" y="1234440"/>
            <a:ext cx="2377440" cy="365760"/>
          </a:xfrm>
          <a:prstGeom prst="rect">
            <a:avLst/>
          </a:prstGeom>
          <a:noFill/>
          <a:ln/>
        </p:spPr>
        <p:txBody>
          <a:bodyPr wrap="square" lIns="0" tIns="0" rIns="0" bIns="0" rtlCol="0" anchor="ctr"/>
          <a:lstStyle/>
          <a:p>
            <a:pPr marL="0" indent="0" algn="ctr">
              <a:buNone/>
            </a:pPr>
            <a:r>
              <a:rPr lang="en-US" sz="1100" b="1" dirty="0">
                <a:solidFill>
                  <a:srgbClr val="FFFFFF"/>
                </a:solidFill>
              </a:rPr>
              <a:t>BEFORE LECTURE 2</a:t>
            </a:r>
            <a:endParaRPr lang="en-US" sz="1100" dirty="0"/>
          </a:p>
        </p:txBody>
      </p:sp>
      <p:sp>
        <p:nvSpPr>
          <p:cNvPr id="4" name="Text 0"/>
          <p:cNvSpPr>
            <a:spLocks noGrp="1"/>
          </p:cNvSpPr>
          <p:nvPr>
            <p:ph type="title" idx="100" hasCustomPrompt="1"/>
          </p:nvPr>
        </p:nvSpPr>
        <p:spPr>
          <a:xfrm>
            <a:off x="640080" y="1828800"/>
            <a:ext cx="10881360" cy="1371600"/>
          </a:xfrm>
          <a:prstGeom prst="rect">
            <a:avLst/>
          </a:prstGeom>
          <a:noFill/>
          <a:ln/>
        </p:spPr>
        <p:txBody>
          <a:bodyPr wrap="square" lIns="0" tIns="0" rIns="0" bIns="0" rtlCol="0" anchor="b"/>
          <a:lstStyle/>
          <a:p>
            <a:pPr marL="0" indent="0">
              <a:buNone/>
            </a:pPr>
            <a:r>
              <a:rPr lang="en-US" sz="3600" b="1" dirty="0">
                <a:solidFill>
                  <a:schemeClr val="bg1"/>
                </a:solidFill>
              </a:rPr>
              <a:t>Practise the loop. Recreate grep ERROR.</a:t>
            </a:r>
            <a:endParaRPr lang="en-US" sz="3600" dirty="0"/>
          </a:p>
        </p:txBody>
      </p:sp>
      <p:sp>
        <p:nvSpPr>
          <p:cNvPr id="5" name="Text 0"/>
          <p:cNvSpPr>
            <a:spLocks noGrp="1"/>
          </p:cNvSpPr>
          <p:nvPr>
            <p:ph type="body" idx="101" hasCustomPrompt="1"/>
          </p:nvPr>
        </p:nvSpPr>
        <p:spPr>
          <a:xfrm>
            <a:off x="640080" y="3291840"/>
            <a:ext cx="10515600" cy="1463040"/>
          </a:xfrm>
          <a:prstGeom prst="rect">
            <a:avLst/>
          </a:prstGeom>
          <a:noFill/>
          <a:ln/>
        </p:spPr>
        <p:txBody>
          <a:bodyPr wrap="square" lIns="0" tIns="0" rIns="0" bIns="0" rtlCol="0"/>
          <a:lstStyle/>
          <a:p>
            <a:pPr marL="0" indent="0">
              <a:buNone/>
            </a:pPr>
            <a:r>
              <a:rPr lang="en-US" sz="1800" dirty="0">
                <a:solidFill>
                  <a:srgbClr val="94A3B8"/>
                </a:solidFill>
              </a:rPr>
              <a:t>Draw eight stages from memory. Write CI, Continuous Delivery, and Continuous Deployment in one sentence each.</a:t>
            </a:r>
            <a:endParaRPr lang="en-US" sz="1800" dirty="0"/>
          </a:p>
          <a:p>
            <a:pPr marL="0" indent="0">
              <a:buNone/>
            </a:pPr>
            <a:r>
              <a:rPr lang="en-US" sz="1800" dirty="0">
                <a:solidFill>
                  <a:srgbClr val="94A3B8"/>
                </a:solidFill>
              </a:rPr>
              <a:t>Redo grep ERROR app.log without the script. Read the cheat sheet once.</a:t>
            </a:r>
            <a:endParaRPr lang="en-US" sz="1800" dirty="0"/>
          </a:p>
          <a:p>
            <a:pPr marL="0" indent="0">
              <a:buNone/>
            </a:pPr>
            <a:r>
              <a:rPr lang="en-US" sz="1800" dirty="0">
                <a:solidFill>
                  <a:srgbClr val="94A3B8"/>
                </a:solidFill>
              </a:rPr>
              <a:t>Next week: Git and GitHub — and notes-api begins.</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43</a:t>
            </a:fld>
            <a:endParaRPr lang="en-US"/>
          </a:p>
        </p:txBody>
      </p:sp>
    </p:spTree>
  </p:cSld>
  <p:clrMapOvr>
    <a:masterClrMapping/>
  </p:clrMapOvr>
</p:sld>
</file>

<file path=ppt/theme/theme1.xml><?xml version="1.0" encoding="utf-8"?>
<a:theme xmlns:a="http://schemas.openxmlformats.org/drawingml/2006/main" name="Ops Teal">
  <a:themeElements>
    <a:clrScheme name="Ops Teal">
      <a:dk1>
        <a:srgbClr val="0F172A"/>
      </a:dk1>
      <a:lt1>
        <a:srgbClr val="F8FAFC"/>
      </a:lt1>
      <a:dk2>
        <a:srgbClr val="334155"/>
      </a:dk2>
      <a:lt2>
        <a:srgbClr val="E2E8F0"/>
      </a:lt2>
      <a:accent1>
        <a:srgbClr val="0F766E"/>
      </a:accent1>
      <a:accent2>
        <a:srgbClr val="B45309"/>
      </a:accent2>
      <a:accent3>
        <a:srgbClr val="155E75"/>
      </a:accent3>
      <a:accent4>
        <a:srgbClr val="64748B"/>
      </a:accent4>
      <a:accent5>
        <a:srgbClr val="0D9488"/>
      </a:accent5>
      <a:accent6>
        <a:srgbClr val="1E293B"/>
      </a:accent6>
      <a:hlink>
        <a:srgbClr val="0F766E"/>
      </a:hlink>
      <a:folHlink>
        <a:srgbClr val="115E59"/>
      </a:folHlink>
    </a:clrScheme>
    <a:fontScheme name="Ops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5082</Words>
  <Application>Microsoft Office PowerPoint</Application>
  <PresentationFormat>Widescreen</PresentationFormat>
  <Paragraphs>658</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Ops Teal</vt:lpstr>
      <vt:lpstr>Introduction to DevOps and Linux</vt:lpstr>
      <vt:lpstr>How to use this presentation</vt:lpstr>
      <vt:lpstr>What you will be able to do after 75 minutes</vt:lpstr>
      <vt:lpstr>How we will use 75 minutes</vt:lpstr>
      <vt:lpstr>Why this lecture is in almost every job post</vt:lpstr>
      <vt:lpstr>The problem DevOps solves</vt:lpstr>
      <vt:lpstr>The old wall: developers versus operations</vt:lpstr>
      <vt:lpstr>What went wrong when the two rooms never met</vt:lpstr>
      <vt:lpstr>A Monday morning at 9:10</vt:lpstr>
      <vt:lpstr>What DevOps is</vt:lpstr>
      <vt:lpstr>What DevOps is not</vt:lpstr>
      <vt:lpstr>How software actually reaches users</vt:lpstr>
      <vt:lpstr>Software Development Life Cycle (SDLC)</vt:lpstr>
      <vt:lpstr>The eight stages of the DevOps loop</vt:lpstr>
      <vt:lpstr>Continuous Integration (CI)</vt:lpstr>
      <vt:lpstr>Continuous Delivery versus Continuous Deployment</vt:lpstr>
      <vt:lpstr>One table you can revise from</vt:lpstr>
      <vt:lpstr>Tools encode the loop — they are not the loop</vt:lpstr>
      <vt:lpstr>DevOps is not a cloud product</vt:lpstr>
      <vt:lpstr>Where Linux shows up in the cloud</vt:lpstr>
      <vt:lpstr>Linux you will live in</vt:lpstr>
      <vt:lpstr>Why DevOps engineers live in Linux</vt:lpstr>
      <vt:lpstr>Files and folders — the map</vt:lpstr>
      <vt:lpstr>Commands for this hour — meaning, not a dictionary</vt:lpstr>
      <vt:lpstr>Create a folder and a file</vt:lpstr>
      <vt:lpstr>Two ways to write a file: &gt; versus &gt;&gt;</vt:lpstr>
      <vt:lpstr>How to read a file</vt:lpstr>
      <vt:lpstr>How to search a file: grep</vt:lpstr>
      <vt:lpstr>Copy and rename</vt:lpstr>
      <vt:lpstr>Disk, hostname, and what kind of system this is</vt:lpstr>
      <vt:lpstr>Processes: is the program even running?</vt:lpstr>
      <vt:lpstr>What a useful log line looks like</vt:lpstr>
      <vt:lpstr>Troubleshooting order for the rest of the course</vt:lpstr>
      <vt:lpstr>Practical: one script, no cloud bill</vt:lpstr>
      <vt:lpstr>How to run the lab</vt:lpstr>
      <vt:lpstr>What the script does, in order</vt:lpstr>
      <vt:lpstr>What grep ERROR should show</vt:lpstr>
      <vt:lpstr>Common mistakes — and why they hurt</vt:lpstr>
      <vt:lpstr>A job-shaped five minutes</vt:lpstr>
      <vt:lpstr>Takeaways you should be able to say in your own words</vt:lpstr>
      <vt:lpstr>Interview answers you can read aloud — set 1</vt:lpstr>
      <vt:lpstr>Interview answers you can read aloud — set 2</vt:lpstr>
      <vt:lpstr>Practise the loop. Recreate grep ERROR.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 to DevOps and Linux</dc:title>
  <dc:subject>Student-readable lecture. Read each slide in order.</dc:subject>
  <dc:creator>DevOps Foundation Course</dc:creator>
  <cp:lastModifiedBy>Mayur Brijwani</cp:lastModifiedBy>
  <cp:revision>1</cp:revision>
  <dcterms:created xsi:type="dcterms:W3CDTF">2026-10-17T10:05:43Z</dcterms:created>
  <dcterms:modified xsi:type="dcterms:W3CDTF">2026-10-17T10:14:43Z</dcterms:modified>
</cp:coreProperties>
</file>