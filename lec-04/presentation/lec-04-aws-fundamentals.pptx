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3679cccf-82f5-a0c4-4030-58dce46ad64a}">
          <p14:sldIdLst>
            <p14:sldId id="256"/>
            <p14:sldId id="257"/>
            <p14:sldId id="258"/>
          </p14:sldIdLst>
        </p14:section>
        <p14:section name="Account" id="{d6884f57-f5e8-bc5c-d962-466d054810b0}">
          <p14:sldIdLst>
            <p14:sldId id="259"/>
            <p14:sldId id="260"/>
            <p14:sldId id="261"/>
            <p14:sldId id="262"/>
          </p14:sldIdLst>
        </p14:section>
        <p14:section name="The tiny stack" id="{e38b9c8f-12ca-23b1-34a0-13732c84288a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Lab" id="{93fc13e1-7867-ca25-4855-17b2e8254801}">
          <p14:sldIdLst>
            <p14:sldId id="270"/>
            <p14:sldId id="271"/>
          </p14:sldIdLst>
        </p14:section>
        <p14:section name="Interview and close" id="{30830ec0-1a6a-e024-1327-ada9525cf5f9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3B8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Subtitle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Section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3B8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Section note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Title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3566160" cy="365760"/>
          </a:xfrm>
          <a:prstGeom prst="roundRect">
            <a:avLst>
              <a:gd name="adj" fmla="val 15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LECTURE 04  ·  75 MINUTES  ·  READ THIS DECK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AWS Fundamentals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Module 2: AWS and Containers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Billing alarm first. One micro instance. Stop it before you leave.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Free Tier rules for this whole course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Money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Create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One Region, and stay there.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billing budget / alarm.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IAM with least privilege.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Default VPC, public subnet, IGW.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One t3.micro or t2.micro.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private S3 bucket.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Never create in class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NAT Gateway.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Load balancer.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RDS.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EKS.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second EC2 left running.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Unattached Elastic IP.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second Region.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75 minutes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Timing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67848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Region, root vs IAM, why alarm first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VPC, SG, EC2, S3, stop vs terminate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35–70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Budget, SG, one micro, S3, STOP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70–75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Spoken answers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account is a bill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Treat every click as money until you know it is free.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Region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Region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5156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A Region is a geography (Mumbai, Frankfurt, Virginia). Resources in one Region are not automatically in another. Pick one for class and write it down. Example: ap-south-1.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651760"/>
            <a:ext cx="11155680" cy="3291840"/>
          </a:xfrm>
          <a:prstGeom prst="roundRect">
            <a:avLst>
              <a:gd name="adj" fmla="val 2222"/>
            </a:avLst>
          </a:prstGeom>
          <a:solidFill>
            <a:srgbClr val="F1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7614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Availability Zone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72384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Region has several data centres called Availability Zones (AZs). For this beginner course we use one AZ. Multi-AZ is how production survives one building failing. We name it; we do not pay for it today.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Billing alarm before any server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Billing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New AWS accounts often use credits. Old ones had 12-month hours. Either way: a $5 monthly budget email is cheaper than a surprise NAT Gateway.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28600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62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this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Budgets → Monthly cost budget → 5 USD → your email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launch EC2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you leave: Stop the instance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IAM: user, role, policy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IAM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478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person (or a long-lived login). Not for every server.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Temporary identity a service or person assumes.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JSON: Allow or Deny which actions on which resources.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Least privilege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actions needed for this job. Not AdministratorAccess for class if we can avoid it.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owner. Billing and break-glass. Not daily EC2 clicks.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only AWS picture we need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Internet → IGW → public subnet → one micro + security group.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VPC, subnet, Internet Gateway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VPC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657600" cy="49377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VPC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Your private network in AWS.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Default VPC is fine today.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097280"/>
            <a:ext cx="3657600" cy="4937760"/>
          </a:xfrm>
          <a:prstGeom prst="roundRect">
            <a:avLst>
              <a:gd name="adj" fmla="val 2000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FBF1"/>
                </a:solidFill>
              </a:rPr>
              <a:t>Public subnet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517904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A slice of the VPC whose route table points to an Internet Gateway.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EC2 here can have a public IP.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83880" y="1097280"/>
            <a:ext cx="3474720" cy="4937760"/>
          </a:xfrm>
          <a:prstGeom prst="roundRect">
            <a:avLst>
              <a:gd name="adj" fmla="val 2105"/>
            </a:avLst>
          </a:prstGeom>
          <a:solidFill>
            <a:srgbClr val="155E7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12070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F3FC"/>
                </a:solidFill>
              </a:rPr>
              <a:t>IGW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1517904"/>
            <a:ext cx="3108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The door from the VPC to the internet.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Not a NAT Gateway. NAT is extra and billed.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Security group is the firewall on the instance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SG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Inbound rules: who may connect in. Outbound: what the instance may start. Stateful: if you allow SSH in, the reply is allowed out.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286000"/>
          <a:ext cx="11173968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7059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we create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 22 from My IP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only your laptop can log 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0.0.0.0/0 on 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whole internet would knock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8080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app is not on EC2 until a later lecture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micro EC2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EC2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478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choice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Linux 2023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t3.micro or t2.micro (Free tier eligible)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GB gp3. No extra volumes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IP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 a .pem or use Instance Connect. Never Git the .pem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Stop vs terminate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Lifecycle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Stop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VM is off.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No CPU hours.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small disk charge can remain.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You can Start it next week.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This is the end-of-class action today.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Terminate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VM is deleted.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Disk is gone unless you said keep.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Public IP is gone.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Use this when the tutor says the lab is finished for good.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S3 is a bucket of files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S3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Object storage. Not a database. Later we may put Terraform state or images nearby. Today: one private bucket. Block all public access stays 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11155680" cy="3566160"/>
          </a:xfrm>
          <a:prstGeom prst="roundRect">
            <a:avLst>
              <a:gd name="adj" fmla="val 2051"/>
            </a:avLst>
          </a:prstGeom>
          <a:solidFill>
            <a:srgbClr val="F1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48716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Do not confuse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98064"/>
            <a:ext cx="10789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S3 = files.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EBS = the disk attached to EC2.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RDS = a database (we skip it; it uses Free Tier hours and complexity).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ECR = container images (lecture 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Same ideas, different names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Azure and GCP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926080"/>
                <a:gridCol w="27614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Engine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files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Blob Storage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Storage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can do what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 ID / RBAC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 on the 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firewall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We do not click Azure or GCP. We can answer the interview question.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Lab: console, then stop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File: lec-04/codebase/aws-lab-instructions.txt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Order of clicks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Lab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73968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6601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budget exists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can point at user / role / policy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found default VPC + IGW. No NAT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 22 from My 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t3.micro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= Running, public IP visible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instance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= Stopped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bucket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Private, same 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Interview lines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Do not claim production if you only ran this lab.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Short spoken answers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Interview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73968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821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 this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vs role vs policy?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is a login. Role is assumed. Policy is the allow/deny JSON.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no NAT?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is billed. Public subnet + tight SG is the Free Tier picture.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vs terminate?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is off and reversible. Terminate deletes the VM.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S3?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storage for files. Not a database. Keep it private.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Before Lecture 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4  ·  Homework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115568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Instance must be Stopped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10789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Screenshot of the budget and of the stopped instance.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Lecture 5 is Docker: package notes-api so it runs the same on any machine.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do not open port 8080 on EC2 until a later lecture.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3566160" cy="365760"/>
          </a:xfrm>
          <a:prstGeom prst="roundRect">
            <a:avLst>
              <a:gd name="adj" fmla="val 15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END OF LECTURE 4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Alarm, one micro, stop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That is AWS for a beginner DevOps engineer on Free Tier.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s Teal">
  <a:themeElements>
    <a:clrScheme name="Ops Teal">
      <a:dk1>
        <a:srgbClr val="0F172A"/>
      </a:dk1>
      <a:lt1>
        <a:srgbClr val="F8FAFC"/>
      </a:lt1>
      <a:dk2>
        <a:srgbClr val="334155"/>
      </a:dk2>
      <a:lt2>
        <a:srgbClr val="E2E8F0"/>
      </a:lt2>
      <a:accent1>
        <a:srgbClr val="0F766E"/>
      </a:accent1>
      <a:accent2>
        <a:srgbClr val="B45309"/>
      </a:accent2>
      <a:accent3>
        <a:srgbClr val="155E75"/>
      </a:accent3>
      <a:accent4>
        <a:srgbClr val="64748B"/>
      </a:accent4>
      <a:accent5>
        <a:srgbClr val="0D9488"/>
      </a:accent5>
      <a:accent6>
        <a:srgbClr val="1E293B"/>
      </a:accent6>
      <a:hlink>
        <a:srgbClr val="0F766E"/>
      </a:hlink>
      <a:folHlink>
        <a:srgbClr val="115E59"/>
      </a:folHlink>
    </a:clrScheme>
    <a:fontScheme name="Ops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4: AWS Fundamentals</dc:title>
  <dc:subject>Student-readable lecture. Free Tier AWS: billing, IAM, VPC, one micro EC2, S3.</dc:subject>
  <dc:creator>DevOps Foundation Course</dc:creator>
  <cp:lastModifiedBy>DevOps Foundation Course</cp:lastModifiedBy>
  <cp:revision>1</cp:revision>
  <dcterms:created xsi:type="dcterms:W3CDTF">2026-10-29T21:31:02Z</dcterms:created>
  <dcterms:modified xsi:type="dcterms:W3CDTF">2026-10-29T21:31:02Z</dcterms:modified>
</cp:coreProperties>
</file>