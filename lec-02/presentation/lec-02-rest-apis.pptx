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9e2af62-5c81-f673-8c16-56126cc1c025}">
          <p14:sldIdLst>
            <p14:sldId id="256"/>
            <p14:sldId id="257"/>
            <p14:sldId id="258"/>
          </p14:sldIdLst>
        </p14:section>
        <p14:section name="What an API is" id="{99704075-43e0-f748-b6ce-abcb6600a0ca}">
          <p14:sldIdLst>
            <p14:sldId id="259"/>
            <p14:sldId id="260"/>
            <p14:sldId id="261"/>
          </p14:sldIdLst>
        </p14:section>
        <p14:section name="HTTP" id="{1d61ee02-93f8-3fc0-8e53-041f7a7fe122}">
          <p14:sldIdLst>
            <p14:sldId id="262"/>
            <p14:sldId id="263"/>
            <p14:sldId id="264"/>
            <p14:sldId id="265"/>
            <p14:sldId id="266"/>
          </p14:sldIdLst>
        </p14:section>
        <p14:section name="Methods and status" id="{d59f71d2-deb9-91b6-c892-5874a81b92ce}">
          <p14:sldIdLst>
            <p14:sldId id="267"/>
            <p14:sldId id="268"/>
            <p14:sldId id="269"/>
            <p14:sldId id="270"/>
            <p14:sldId id="271"/>
          </p14:sldIdLst>
        </p14:section>
        <p14:section name="Headers, JSON, auth" id="{b47aac06-2929-8723-cc91-a8934f4f0013}">
          <p14:sldIdLst>
            <p14:sldId id="272"/>
            <p14:sldId id="273"/>
            <p14:sldId id="274"/>
            <p14:sldId id="275"/>
            <p14:sldId id="276"/>
          </p14:sldIdLst>
        </p14:section>
        <p14:section name="How we call APIs" id="{7f1a5ce4-1617-7961-468a-abf20dec7901}">
          <p14:sldIdLst>
            <p14:sldId id="277"/>
            <p14:sldId id="278"/>
            <p14:sldId id="279"/>
            <p14:sldId id="280"/>
            <p14:sldId id="281"/>
          </p14:sldIdLst>
        </p14:section>
        <p14:section name="Lab" id="{c01e7737-fc5a-dad6-2ce6-c111f3d4416f}">
          <p14:sldIdLst>
            <p14:sldId id="282"/>
            <p14:sldId id="283"/>
            <p14:sldId id="284"/>
            <p14:sldId id="285"/>
          </p14:sldIdLst>
        </p14:section>
        <p14:section name="Interview and close" id="{ecac8a1d-ab54-dc34-9978-3f327c21c248}">
          <p14:sldIdLst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Subtitle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Section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Section note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Title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LECTURE 02  ·  75 MINUTES  ·  READ THIS DECK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REST APIs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291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Module 1: Foundations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You will call a small API. You will not write a new application today.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we will and will not 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Scope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You will learn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5166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How two programs talk over HTTP.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request: method, URL, headers, body.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response: status code, headers, JSON.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How to call notes-api with curl.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Why AWS CLI, Terraform, and GitHub Actions are also API clients.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2070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Not today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517904"/>
            <a:ext cx="5074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Writing Flask or Express from scratch.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OAuth as a full protocol course.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Git, Docker, Kubernetes, Terraform labs.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AWS console (that is lecture 4).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Spending money.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75 minutes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Timing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7396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67848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APIs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picture: laptop talks to a program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10–40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URL, methods, status, headers, JSON, keys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notes-api. curl GET, POST, 404, 401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65–75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Spoken answers you can reuse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An API is a contract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You send an agreed request. You get an agreed response.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API in one sentence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Definition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API means Application Programming Interface. In this course it means: a URL you can call, a method (GET or POST), maybe a JSON body, and a status code you must read.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5603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1. You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80944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A person, a script, curl, Postman, Terraform, or GitHub Actions.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You are the client.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5603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</a:rPr>
              <a:t>2. The contract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80944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The URL, the method, the headers, the JSON shape.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This is written in API docs, not guessed.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83880" y="256032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155E7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2670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F3FC"/>
                </a:solidFill>
              </a:rPr>
              <a:t>3. The other program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980944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notes-api today. AWS tomorrow.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This is the server. It answers with a status and a body.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REST in plain English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REST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REST is a common style for HTTP APIs. Resources have URLs. /notes is the notes resource. You do not invent a new verb for every action. You reuse GET, POST, PUT, PATCH, DELETE.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89864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Resource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9544"/>
            <a:ext cx="5166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thing the API knows about.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Example: a list of notes, or one health check.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URL: /notes   or   /health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7889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8986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Remember this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209544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You do not need the academic REST paper in an interview.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Say: “REST APIs use URLs for resources and HTTP methods for actions.”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HTTP is the language of the web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Same language for browsers, curl, AWS, and Kubernetes.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HTTP vs HTTPS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Transport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40416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request/response protocol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inside TLS encryption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someone on the network read it?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if they can see the packets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they see encrypted bytes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notes-api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http://127.0.0.1:8080  (stays on your laptop)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 on localhost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AWS, GitHub, banks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never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HTTPS is not a different set of methods. GET is still GET. The pipe is encrypted.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URL is an address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URL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Read a URL in pieces. You will use this when a call fails.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013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Example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1226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http://127.0.0.1:8080/notes     and later     https://api.github.com/user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6120"/>
          <a:ext cx="1117396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32180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 or  https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Protocol. https means TLS.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computer. 127.0.0.1 means this laptop.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door on that computer. HTTP default is 80, HTTPS 443.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resource on that program.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request has four parts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Request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16128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1. Method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72184"/>
            <a:ext cx="5166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GET, POST, PUT, PATCH, DELETE. This is the verb. GET means read.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0515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1612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2. URL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472184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Where. Host + path. Example: http://127.0.0.1:8080/health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67588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3. Headers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986784"/>
            <a:ext cx="5166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Extra facts. Content-Type: application/json. X-API-Key: lecture2-key.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36758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4. Body (optional)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986784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GET usually has no body. POST often sends JSON: {"text":"hello"}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response has three parts you must read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Response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Never look only at the JSON. Read the status code first. A pretty JSON error is still a failure.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11173968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5047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do with 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HTTP/1.1 200 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or failure. Memorise the common codes.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Content-Type: application/json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parse the body. Also cookies, length, date.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{"status": "ok"}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payload. Empty is allowed. Still check the status.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Methods and status codes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This is the vocabulary of every later lecture.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HTTP methods (ops meaning)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Methods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377440"/>
                <a:gridCol w="36758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data?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notes-api today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(should not)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/health  GET /notes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the whole 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 in the lab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part of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 in the lab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 in the lab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6692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Health checks and browsers use GET. Creating a note, a webhook, or a deploy is usually POST.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2xx means it worked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2xx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200 OK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5166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request succeeded.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GET /health returns 200 and {"status":"ok"}.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GET /notes returns 200 and a list.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D1FA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2070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201 Created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517904"/>
            <a:ext cx="5074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Something new exists because of this call.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POST /notes returns 201 and the new note, including its id.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If you POST and get 200, it still might have worked — 201 is the clearer contract.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4xx means your request is the problem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4xx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4206240"/>
                <a:gridCol w="32186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or fields are wrong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/notes with no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did not prove who you 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/notes/secret with no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know who you are; you may not do this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today’s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URL does not exist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/does-not-exist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Requests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down; rate 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today’s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6692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Interview trap: 401 vs 403. Missing API key = 401. Valid login, no permission = 403.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5xx means the server (or the hop in front) failed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5xx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500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Internal Server Error.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program crashed or threw an exception while handling you.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Look at application logs.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09728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FEDD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502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517904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Bad Gateway.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load balancer or proxy asked something behind it and got a broken answer.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app may be down.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83880" y="1097280"/>
            <a:ext cx="3474720" cy="493776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1207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503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1517904"/>
            <a:ext cx="3108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Service Unavailable.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service is refusing work: overloaded, deploying, or draining.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Retry later, do not hammer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Headers, JSON, and keys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This is how APIs carry extra facts and secrets.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Headers are extra facts on the envelope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Headers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A header is a name and a value. Request headers go out. Response headers come back. curl -i shows them.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73968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657600"/>
                <a:gridCol w="49560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application/json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body is JSON. The other side should parse JSON.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X-API-Key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lecture2-key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simple secret. Class demo. Never commit a real key.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eyJhbGciOi...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token, often short-lived. Same idea as a key, usually better.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application/json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reply in JSON if you can.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JSON is text with structure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JSON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1612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Object (curly braces)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72184"/>
            <a:ext cx="53949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  "status": "ok"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Keys in quotes. Colon. Values can be text, numbers, true/false, lists, or nested objects.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212080" cy="4983480"/>
          </a:xfrm>
          <a:prstGeom prst="roundRect">
            <a:avLst>
              <a:gd name="adj" fmla="val 1468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161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List (square brackets)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472184"/>
            <a:ext cx="48463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  "notes": 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    {"id": 1, "text": "Linux"},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    {"id": 2, "text": "APIs"}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 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GET /notes returns a list inside an object.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API key vs bearer token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Auth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Authentication = proving who you are. Authorization = what you are allowed to do. Today we only prove who we are with a key.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1117396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5902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X-API-Key: lecture2-key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Authorization: Bearer &lt;token&gt;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long-lived (dangerous if leaked)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short-lived (better)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use a class key on /notes/secret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the name. OAuth is not a lab today.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it, paste it in Slack, put it in a screenshot of prod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read API documentation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Docs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You do not memorise every cloud API. You read the page and copy the contract.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73968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70591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this on the page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you know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+ path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/health vs POST /notes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headers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Content-Type, API key, Authorization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body 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JSON to send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codes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200, 400, 401, 404 mean for this 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body 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success JSON looks like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curl, Postman, and the cloud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Same HTTP. Different buttons.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curl is HTTP in the terminal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curl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40416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print body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status and response headers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the status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verbose (DNS, TLS, full talk)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will not connect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-X 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the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Creating something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-H "Name: value"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header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or API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-d '{...}'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body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with 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Postman is the same calls with a UI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Postman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If Postman is installed, repeat the lab there. Method dropdown = -X. URL box = the URL. Headers tab = -H. Body tab = -d. Send = run curl.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11155680" cy="3474720"/>
          </a:xfrm>
          <a:prstGeom prst="roundRect">
            <a:avLst>
              <a:gd name="adj" fmla="val 2105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7860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Why both exist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9504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curl is what you type on a server when there is no GUI. DevOps lives in terminals.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Postman is useful to explore an API and save a collection. It is optional today.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If you can do it in curl, you can do it in Postman. The HTTP is identical.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cloud is an API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AWS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When you run aws sts get-caller-identity, the AWS CLI builds an HTTPS request, signs it, and prints JSON. Same shape as curl to notes-api.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32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You type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43784"/>
            <a:ext cx="3291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aws sts get-caller-identity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Skip this if AWS CLI is not installed. Lecture 4 is AWS.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42316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2532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</a:rPr>
              <a:t>AWS receives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843784"/>
            <a:ext cx="3291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HTTPS POST to a regional endpoint, with signed headers. That is their API.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83880" y="242316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155E7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2532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F3FC"/>
                </a:solidFill>
              </a:rPr>
              <a:t>You read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843784"/>
            <a:ext cx="3108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JSON with Account, UserId, Arn — or an error with a code like AccessDenied.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Tools you will meet later are API clients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Later lectures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011680"/>
                <a:gridCol w="56875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CLI / console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HTTP APIs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talking to a daemon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local API (not REST in the browser, same idea)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kubectl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Kubernetes 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providers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APIs, including AWS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API, then AWS/ECR APIs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6692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If you can read a 403 JSON body, you can debug all of those.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Lab: call notes-api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Two terminals. Follow api-lab-instructions.txt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notes-api exposes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Lab map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  <a:gridCol w="29443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{"status":"ok"}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list of 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the new 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None. JSON {"text":"..."}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/notes/secret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if key is right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X-API-Key: lecture2-key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/does-not-exist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this is the 404 demo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Terminal 1 — start the API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Lab 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4937760"/>
          </a:xfrm>
          <a:prstGeom prst="roundRect">
            <a:avLst>
              <a:gd name="adj" fmla="val 1481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Leave this window running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cd lec-02/codebase/notes-api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python notes-api.py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You should see: notes-api listening on http://127.0.0.1:8080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If python fails, try python3. Stop later with Ctrl+C.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Do not close this window while you curl.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Terminal 2 — the four calls that matter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Lab B–F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24128"/>
          <a:ext cx="1117396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669280"/>
                <a:gridCol w="38587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idea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see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-i http://127.0.0.1:8080/health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and status 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http://127.0.0.1:8080/notes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-X POST .../notes -H Content-Type -d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and your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-i .../does-not-exist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-i .../notes/secret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.../notes/secret -H X-API-Key: lecture2-key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Interview lines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Say these in your own words. Do not recite.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Short spoken answers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Interview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24128"/>
          <a:ext cx="1117396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06500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an API?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contract: request in, response out, usually HTTP and JSON.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vs HTTPS?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protocol. HTTPS encrypts the path with TLS.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vs 403?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= not authenticated. 403 = authenticated, not allowed.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vs 502?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= the app broke. 502 = the proxy in front got a bad answer.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 DevOps people care?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AWS, Terraform, kubectl, and pipelines are all API clients.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Before Lecture 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2  ·  Homework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493776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Redo the lab without the instruction file if you can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Write five curl commands and the status code you got: health, list, create, 404, 401.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Lecture 3 is networking: DNS, TCP, TLS, ports, and why “cannot connect” is not the same as 404.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404 means HTTP worked and the path is wrong. Connection refused means nothing is listening.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END OF LECTURE 2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You can now read an HTTP call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291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Method, URL, headers, JSON, status code.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That is the language of the rest of this course.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s Teal">
  <a:themeElements>
    <a:clrScheme name="Ops Teal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0F766E"/>
      </a:accent1>
      <a:accent2>
        <a:srgbClr val="B45309"/>
      </a:accent2>
      <a:accent3>
        <a:srgbClr val="155E75"/>
      </a:accent3>
      <a:accent4>
        <a:srgbClr val="64748B"/>
      </a:accent4>
      <a:accent5>
        <a:srgbClr val="0D9488"/>
      </a:accent5>
      <a:accent6>
        <a:srgbClr val="1E293B"/>
      </a:accent6>
      <a:hlink>
        <a:srgbClr val="0F766E"/>
      </a:hlink>
      <a:folHlink>
        <a:srgbClr val="115E59"/>
      </a:folHlink>
    </a:clrScheme>
    <a:fontScheme name="Op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REST APIs</dc:title>
  <dc:subject>Student-readable lecture. HTTP, JSON, curl, status codes.</dc:subject>
  <dc:creator>DevOps Foundation Course</dc:creator>
  <cp:lastModifiedBy>DevOps Foundation Course</cp:lastModifiedBy>
  <cp:revision>1</cp:revision>
  <dcterms:created xsi:type="dcterms:W3CDTF">2026-10-23T15:51:24Z</dcterms:created>
  <dcterms:modified xsi:type="dcterms:W3CDTF">2026-10-23T15:51:24Z</dcterms:modified>
</cp:coreProperties>
</file>