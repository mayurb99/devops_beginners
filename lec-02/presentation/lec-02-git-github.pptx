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18fb3046-53e1-0688-ffbe-7858ce598593}">
          <p14:sldIdLst>
            <p14:sldId id="256"/>
            <p14:sldId id="257"/>
            <p14:sldId id="258"/>
            <p14:sldId id="259"/>
          </p14:sldIdLst>
        </p14:section>
        <p14:section name="Why Git exists" id="{8ce20d74-d76a-6686-f0ce-d64dbf841ec3}">
          <p14:sldIdLst>
            <p14:sldId id="260"/>
            <p14:sldId id="261"/>
            <p14:sldId id="262"/>
            <p14:sldId id="263"/>
            <p14:sldId id="264"/>
            <p14:sldId id="265"/>
          </p14:sldIdLst>
        </p14:section>
        <p14:section name="Daily Git commands" id="{a52de4ab-4ce7-6fd4-2a36-db098ed5eef2}">
          <p14:sldIdLst>
            <p14:sldId id="266"/>
            <p14:sldId id="267"/>
            <p14:sldId id="268"/>
            <p14:sldId id="269"/>
            <p14:sldId id="270"/>
            <p14:sldId id="271"/>
            <p14:sldId id="272"/>
            <p14:sldId id="273"/>
            <p14:sldId id="274"/>
          </p14:sldIdLst>
        </p14:section>
        <p14:section name="Branches and GitHub" id="{a004336f-8397-7291-d447-0a46a333709d}">
          <p14:sldIdLst>
            <p14:sldId id="275"/>
            <p14:sldId id="276"/>
            <p14:sldId id="277"/>
            <p14:sldId id="278"/>
            <p14:sldId id="279"/>
            <p14:sldId id="280"/>
            <p14:sldId id="281"/>
            <p14:sldId id="282"/>
            <p14:sldId id="283"/>
            <p14:sldId id="284"/>
          </p14:sldIdLst>
        </p14:section>
        <p14:section name="Lab" id="{8b9843c0-d33a-aa4c-6d80-94c6c19512f5}">
          <p14:sldIdLst>
            <p14:sldId id="285"/>
            <p14:sldId id="286"/>
            <p14:sldId id="287"/>
            <p14:sldId id="288"/>
          </p14:sldIdLst>
        </p14:section>
        <p14:section name="Bonus: ways of working" id="{98f14fe3-1c26-77ff-f617-2a07ee92948f}">
          <p14:sldIdLst>
            <p14:sldId id="289"/>
            <p14:sldId id="290"/>
            <p14:sldId id="291"/>
            <p14:sldId id="292"/>
            <p14:sldId id="293"/>
            <p14:sldId id="294"/>
            <p14:sldId id="295"/>
            <p14:sldId id="296"/>
            <p14:sldId id="297"/>
            <p14:sldId id="298"/>
            <p14:sldId id="299"/>
            <p14:sldId id="300"/>
            <p14:sldId id="301"/>
            <p14:sldId id="302"/>
            <p14:sldId id="303"/>
            <p14:sldId id="3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10881360" cy="1371600"/>
          </a:xfrm>
          <a:prstGeom prst="rect">
            <a:avLst/>
          </a:prstGeom>
          <a:noFill/>
          <a:ln/>
        </p:spPr>
        <p:txBody>
          <a:bodyPr wrap="square" rtlCol="0"/>
          <a:lstStyle>
            <a:lvl1pPr indent="0" marL="0">
              <a:buNone/>
              <a:defRPr lang="en-US" sz="3400" b="1" dirty="0">
                <a:solidFill>
                  <a:schemeClr val="bg1"/>
                </a:solidFill>
              </a:defRPr>
            </a:lvl1pPr>
          </a:lstStyle>
          <a:p>
            <a:pPr indent="0" marL="0">
              <a:buNone/>
            </a:pPr>
            <a:r>
              <a:rPr lang="en-US" sz="3400" b="1" dirty="0">
                <a:solidFill>
                  <a:schemeClr val="bg1"/>
                </a:solidFill>
              </a:rPr>
              <a:t>Title</a:t>
            </a:r>
            <a:endParaRPr lang="en-US" sz="3400" dirty="0"/>
          </a:p>
        </p:txBody>
      </p:sp>
      <p:sp>
        <p:nvSpPr>
          <p:cNvPr id="3" name="Text 0"/>
          <p:cNvSpPr/>
          <p:nvPr>
            <p:ph idx="101" type="body" hasCustomPrompt="1"/>
          </p:nvPr>
        </p:nvSpPr>
        <p:spPr>
          <a:xfrm>
            <a:off x="640080" y="3291840"/>
            <a:ext cx="10515600" cy="1554480"/>
          </a:xfrm>
          <a:prstGeom prst="rect">
            <a:avLst/>
          </a:prstGeom>
          <a:noFill/>
          <a:ln/>
        </p:spPr>
        <p:txBody>
          <a:bodyPr wrap="square" rtlCol="0"/>
          <a:lstStyle>
            <a:lvl1pPr indent="0" marL="0">
              <a:buNone/>
              <a:defRPr lang="en-US" sz="1800" dirty="0">
                <a:solidFill>
                  <a:srgbClr val="94A3B8"/>
                </a:solidFill>
              </a:defRPr>
            </a:lvl1pPr>
          </a:lstStyle>
          <a:p>
            <a:pPr indent="0" marL="0">
              <a:buNone/>
            </a:pPr>
            <a:r>
              <a:rPr lang="en-US" sz="1800" dirty="0">
                <a:solidFill>
                  <a:srgbClr val="94A3B8"/>
                </a:solidFill>
              </a:rPr>
              <a:t>Subtitle</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rtlCol="0"/>
          <a:lstStyle>
            <a:lvl1pPr indent="0" marL="0">
              <a:buNone/>
              <a:defRPr lang="en-US" sz="3200" b="1" dirty="0">
                <a:solidFill>
                  <a:schemeClr val="bg1"/>
                </a:solidFill>
              </a:defRPr>
            </a:lvl1pPr>
          </a:lstStyle>
          <a:p>
            <a:pPr indent="0" marL="0">
              <a:buNone/>
            </a:pPr>
            <a:r>
              <a:rPr lang="en-US" sz="3200" b="1" dirty="0">
                <a:solidFill>
                  <a:schemeClr val="bg1"/>
                </a:solidFill>
              </a:rPr>
              <a:t>Section</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rtlCol="0"/>
          <a:lstStyle>
            <a:lvl1pPr indent="0" marL="0">
              <a:buNone/>
              <a:defRPr lang="en-US" sz="1800" dirty="0">
                <a:solidFill>
                  <a:srgbClr val="94A3B8"/>
                </a:solidFill>
              </a:defRPr>
            </a:lvl1pPr>
          </a:lstStyle>
          <a:p>
            <a:pPr indent="0" marL="0">
              <a:buNone/>
            </a:pPr>
            <a:r>
              <a:rPr lang="en-US" sz="1800" dirty="0">
                <a:solidFill>
                  <a:srgbClr val="94A3B8"/>
                </a:solidFill>
              </a:rPr>
              <a:t>Section note</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rtlCol="0"/>
          <a:lstStyle>
            <a:lvl1pPr indent="0" marL="0">
              <a:buNone/>
              <a:defRPr lang="en-US" sz="2600" b="1" dirty="0">
                <a:solidFill>
                  <a:schemeClr val="tx1"/>
                </a:solidFill>
              </a:defRPr>
            </a:lvl1pPr>
          </a:lstStyle>
          <a:p>
            <a:pPr indent="0" marL="0">
              <a:buNone/>
            </a:pPr>
            <a:r>
              <a:rPr lang="en-US" sz="2600" b="1" dirty="0">
                <a:solidFill>
                  <a:schemeClr val="tx1"/>
                </a:solidFill>
              </a:rPr>
              <a:t>Title</a:t>
            </a:r>
            <a:endParaRPr lang="en-US" sz="26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40080" y="1234440"/>
            <a:ext cx="3383280" cy="365760"/>
          </a:xfrm>
          <a:prstGeom prst="roundRect">
            <a:avLst>
              <a:gd name="adj" fmla="val 15000"/>
            </a:avLst>
          </a:prstGeom>
          <a:solidFill>
            <a:srgbClr val="0F766E"/>
          </a:solidFill>
          <a:ln/>
        </p:spPr>
      </p:sp>
      <p:sp>
        <p:nvSpPr>
          <p:cNvPr id="3" name="Text 1"/>
          <p:cNvSpPr txBox="1"/>
          <p:nvPr/>
        </p:nvSpPr>
        <p:spPr>
          <a:xfrm>
            <a:off x="640080" y="1234440"/>
            <a:ext cx="3383280" cy="365760"/>
          </a:xfrm>
          <a:prstGeom prst="rect">
            <a:avLst/>
          </a:prstGeom>
          <a:noFill/>
          <a:ln/>
        </p:spPr>
        <p:txBody>
          <a:bodyPr wrap="square" lIns="0" tIns="0" rIns="0" bIns="0" rtlCol="0" anchor="ctr"/>
          <a:lstStyle/>
          <a:p>
            <a:pPr algn="ctr" indent="0" marL="0">
              <a:buNone/>
            </a:pPr>
            <a:r>
              <a:rPr lang="en-US" sz="1100" b="1" dirty="0">
                <a:solidFill>
                  <a:srgbClr val="FFFFFF"/>
                </a:solidFill>
              </a:rPr>
              <a:t>LECTURE 02  ·  75 MINUTES  ·  READ THIS DECK</a:t>
            </a:r>
            <a:endParaRPr lang="en-US" sz="1100" dirty="0"/>
          </a:p>
        </p:txBody>
      </p:sp>
      <p:sp>
        <p:nvSpPr>
          <p:cNvPr id="4" name="Text 0"/>
          <p:cNvSpPr/>
          <p:nvPr>
            <p:ph idx="100" type="title" hasCustomPrompt="1"/>
          </p:nvPr>
        </p:nvSpPr>
        <p:spPr>
          <a:xfrm>
            <a:off x="640080" y="1828800"/>
            <a:ext cx="10881360" cy="1371600"/>
          </a:xfrm>
          <a:prstGeom prst="rect">
            <a:avLst/>
          </a:prstGeom>
          <a:noFill/>
          <a:ln/>
        </p:spPr>
        <p:txBody>
          <a:bodyPr wrap="square" lIns="0" tIns="0" rIns="0" bIns="0" rtlCol="0" anchor="b"/>
          <a:lstStyle/>
          <a:p>
            <a:pPr indent="0" marL="0">
              <a:buNone/>
            </a:pPr>
            <a:r>
              <a:rPr lang="en-US" sz="3400" b="1" dirty="0">
                <a:solidFill>
                  <a:schemeClr val="bg1"/>
                </a:solidFill>
              </a:rPr>
              <a:t>Git, GitHub, and ways of working</a:t>
            </a:r>
            <a:endParaRPr lang="en-US" sz="3400" dirty="0"/>
          </a:p>
        </p:txBody>
      </p:sp>
      <p:sp>
        <p:nvSpPr>
          <p:cNvPr id="5" name="Text 0"/>
          <p:cNvSpPr/>
          <p:nvPr>
            <p:ph idx="101" type="body" hasCustomPrompt="1"/>
          </p:nvPr>
        </p:nvSpPr>
        <p:spPr>
          <a:xfrm>
            <a:off x="640080" y="3291840"/>
            <a:ext cx="10515600" cy="1554480"/>
          </a:xfrm>
          <a:prstGeom prst="rect">
            <a:avLst/>
          </a:prstGeom>
          <a:noFill/>
          <a:ln/>
        </p:spPr>
        <p:txBody>
          <a:bodyPr wrap="square" lIns="0" tIns="0" rIns="0" bIns="0" rtlCol="0"/>
          <a:lstStyle/>
          <a:p>
            <a:pPr indent="0" marL="0">
              <a:buNone/>
            </a:pPr>
            <a:r>
              <a:rPr lang="en-US" sz="1800" dirty="0">
                <a:solidFill>
                  <a:srgbClr val="94A3B8"/>
                </a:solidFill>
              </a:rPr>
              <a:t>Module 1: Foundations</a:t>
            </a:r>
            <a:endParaRPr lang="en-US" sz="1800" dirty="0"/>
          </a:p>
          <a:p>
            <a:pPr indent="0" marL="0">
              <a:buNone/>
            </a:pPr>
            <a:r>
              <a:rPr lang="en-US" sz="1800" dirty="0">
                <a:solidFill>
                  <a:srgbClr val="94A3B8"/>
                </a:solidFill>
              </a:rPr>
              <a:t>Git is explained on these slides. A bonus section at the end covers Waterfall, Agile, Scrum, and Kanban.</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How to use this presentation</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Read in order</a:t>
            </a:r>
            <a:endParaRPr lang="en-US" sz="1100" dirty="0"/>
          </a:p>
        </p:txBody>
      </p:sp>
      <p:sp>
        <p:nvSpPr>
          <p:cNvPr id="4" name="Text 2"/>
          <p:cNvSpPr txBox="1"/>
          <p:nvPr/>
        </p:nvSpPr>
        <p:spPr>
          <a:xfrm>
            <a:off x="502920" y="987552"/>
            <a:ext cx="11155680" cy="1554480"/>
          </a:xfrm>
          <a:prstGeom prst="rect">
            <a:avLst/>
          </a:prstGeom>
          <a:noFill/>
          <a:ln/>
        </p:spPr>
        <p:txBody>
          <a:bodyPr wrap="square" lIns="0" tIns="0" rIns="0" bIns="0" rtlCol="0" anchor="t"/>
          <a:lstStyle/>
          <a:p>
            <a:pPr indent="0" marL="0">
              <a:buNone/>
            </a:pPr>
            <a:r>
              <a:rPr lang="en-US" sz="1600" dirty="0">
                <a:solidFill>
                  <a:srgbClr val="334155"/>
                </a:solidFill>
              </a:rPr>
              <a:t>Every Git idea is written on the slide: what the word means, why you care, the command, and an example. You do not need a second book. The last section is a bonus on Waterfall, Agile, Scrum, Kanban, and a few interview names. We do not install GitHub Actions, Docker, or AWS today.</a:t>
            </a:r>
            <a:endParaRPr lang="en-US" sz="1600" dirty="0"/>
          </a:p>
        </p:txBody>
      </p:sp>
      <p:sp>
        <p:nvSpPr>
          <p:cNvPr id="5" name="Shape 3"/>
          <p:cNvSpPr/>
          <p:nvPr/>
        </p:nvSpPr>
        <p:spPr>
          <a:xfrm>
            <a:off x="502920" y="2697480"/>
            <a:ext cx="5532120" cy="3520440"/>
          </a:xfrm>
          <a:prstGeom prst="roundRect">
            <a:avLst>
              <a:gd name="adj" fmla="val 2078"/>
            </a:avLst>
          </a:prstGeom>
          <a:solidFill>
            <a:srgbClr val="ECFDF5"/>
          </a:solidFill>
          <a:ln/>
        </p:spPr>
      </p:sp>
      <p:sp>
        <p:nvSpPr>
          <p:cNvPr id="6" name="Text 4"/>
          <p:cNvSpPr txBox="1"/>
          <p:nvPr/>
        </p:nvSpPr>
        <p:spPr>
          <a:xfrm>
            <a:off x="667512" y="2807208"/>
            <a:ext cx="5202936" cy="292608"/>
          </a:xfrm>
          <a:prstGeom prst="rect">
            <a:avLst/>
          </a:prstGeom>
          <a:noFill/>
          <a:ln/>
        </p:spPr>
        <p:txBody>
          <a:bodyPr wrap="square" lIns="0" tIns="0" rIns="0" bIns="0" rtlCol="0" anchor="ctr"/>
          <a:lstStyle/>
          <a:p>
            <a:pPr indent="0" marL="0">
              <a:buNone/>
            </a:pPr>
            <a:r>
              <a:rPr lang="en-US" sz="1300" b="1" dirty="0">
                <a:solidFill>
                  <a:srgbClr val="0F766E"/>
                </a:solidFill>
              </a:rPr>
              <a:t>You will practise</a:t>
            </a:r>
            <a:endParaRPr lang="en-US" sz="1300" dirty="0"/>
          </a:p>
        </p:txBody>
      </p:sp>
      <p:sp>
        <p:nvSpPr>
          <p:cNvPr id="7" name="Text 5"/>
          <p:cNvSpPr txBox="1"/>
          <p:nvPr/>
        </p:nvSpPr>
        <p:spPr>
          <a:xfrm>
            <a:off x="667512" y="3118104"/>
            <a:ext cx="5202936" cy="2971800"/>
          </a:xfrm>
          <a:prstGeom prst="rect">
            <a:avLst/>
          </a:prstGeom>
          <a:noFill/>
          <a:ln/>
        </p:spPr>
        <p:txBody>
          <a:bodyPr wrap="square" lIns="0" tIns="0" rIns="0" bIns="0" rtlCol="0" anchor="t"/>
          <a:lstStyle/>
          <a:p>
            <a:pPr indent="0" marL="0">
              <a:buNone/>
            </a:pPr>
            <a:r>
              <a:rPr lang="en-US" sz="1400" dirty="0">
                <a:solidFill>
                  <a:srgbClr val="334155"/>
                </a:solidFill>
              </a:rPr>
              <a:t>1. In this course repo (already on GitHub): status, log, branch, diff, restore, add, commit, push.</a:t>
            </a:r>
            <a:endParaRPr lang="en-US" sz="1400" dirty="0"/>
          </a:p>
          <a:p>
            <a:pPr indent="0" marL="0">
              <a:buNone/>
            </a:pPr>
            <a:endParaRPr lang="en-US" sz="1400" dirty="0"/>
          </a:p>
          <a:p>
            <a:pPr indent="0" marL="0">
              <a:buNone/>
            </a:pPr>
            <a:r>
              <a:rPr lang="en-US" sz="1400" dirty="0">
                <a:solidFill>
                  <a:srgbClr val="334155"/>
                </a:solidFill>
              </a:rPr>
              <a:t>2. Create the pull request and merge in the GitHub website — not git merge in the terminal.</a:t>
            </a:r>
            <a:endParaRPr lang="en-US" sz="1400" dirty="0"/>
          </a:p>
          <a:p>
            <a:pPr indent="0" marL="0">
              <a:buNone/>
            </a:pPr>
            <a:endParaRPr lang="en-US" sz="1400" dirty="0"/>
          </a:p>
          <a:p>
            <a:pPr indent="0" marL="0">
              <a:buNone/>
            </a:pPr>
            <a:r>
              <a:rPr lang="en-US" sz="1400" dirty="0">
                <a:solidFill>
                  <a:srgbClr val="334155"/>
                </a:solidFill>
              </a:rPr>
              <a:t>Follow: lec-02/codebase/git-demo-instructions.txt</a:t>
            </a:r>
            <a:endParaRPr lang="en-US" sz="1400" dirty="0"/>
          </a:p>
        </p:txBody>
      </p:sp>
      <p:sp>
        <p:nvSpPr>
          <p:cNvPr id="8" name="Shape 6"/>
          <p:cNvSpPr/>
          <p:nvPr/>
        </p:nvSpPr>
        <p:spPr>
          <a:xfrm>
            <a:off x="6217920" y="2697480"/>
            <a:ext cx="5440680" cy="3520440"/>
          </a:xfrm>
          <a:prstGeom prst="roundRect">
            <a:avLst>
              <a:gd name="adj" fmla="val 2078"/>
            </a:avLst>
          </a:prstGeom>
          <a:solidFill>
            <a:srgbClr val="F1F5F9"/>
          </a:solidFill>
          <a:ln/>
        </p:spPr>
      </p:sp>
      <p:sp>
        <p:nvSpPr>
          <p:cNvPr id="9" name="Text 7"/>
          <p:cNvSpPr txBox="1"/>
          <p:nvPr/>
        </p:nvSpPr>
        <p:spPr>
          <a:xfrm>
            <a:off x="6382512" y="2807208"/>
            <a:ext cx="5111496" cy="292608"/>
          </a:xfrm>
          <a:prstGeom prst="rect">
            <a:avLst/>
          </a:prstGeom>
          <a:noFill/>
          <a:ln/>
        </p:spPr>
        <p:txBody>
          <a:bodyPr wrap="square" lIns="0" tIns="0" rIns="0" bIns="0" rtlCol="0" anchor="ctr"/>
          <a:lstStyle/>
          <a:p>
            <a:pPr indent="0" marL="0">
              <a:buNone/>
            </a:pPr>
            <a:r>
              <a:rPr lang="en-US" sz="1300" b="1" dirty="0">
                <a:solidFill>
                  <a:srgbClr val="0F172A"/>
                </a:solidFill>
              </a:rPr>
              <a:t>You will not do today</a:t>
            </a:r>
            <a:endParaRPr lang="en-US" sz="1300" dirty="0"/>
          </a:p>
        </p:txBody>
      </p:sp>
      <p:sp>
        <p:nvSpPr>
          <p:cNvPr id="10" name="Text 8"/>
          <p:cNvSpPr txBox="1"/>
          <p:nvPr/>
        </p:nvSpPr>
        <p:spPr>
          <a:xfrm>
            <a:off x="6382512" y="3118104"/>
            <a:ext cx="5111496" cy="2971800"/>
          </a:xfrm>
          <a:prstGeom prst="rect">
            <a:avLst/>
          </a:prstGeom>
          <a:noFill/>
          <a:ln/>
        </p:spPr>
        <p:txBody>
          <a:bodyPr wrap="square" lIns="0" tIns="0" rIns="0" bIns="0" rtlCol="0" anchor="t"/>
          <a:lstStyle/>
          <a:p>
            <a:pPr indent="0" marL="0">
              <a:buNone/>
            </a:pPr>
            <a:r>
              <a:rPr lang="en-US" sz="1400" dirty="0">
                <a:solidFill>
                  <a:srgbClr val="334155"/>
                </a:solidFill>
              </a:rPr>
              <a:t>rebase, force-push, Git internals, GitHub Actions YAML, Docker, Terraform, AWS consoles.</a:t>
            </a:r>
            <a:endParaRPr lang="en-US" sz="1400" dirty="0"/>
          </a:p>
          <a:p>
            <a:pPr indent="0" marL="0">
              <a:buNone/>
            </a:pPr>
            <a:endParaRPr lang="en-US" sz="1400" dirty="0"/>
          </a:p>
          <a:p>
            <a:pPr indent="0" marL="0">
              <a:buNone/>
            </a:pPr>
            <a:r>
              <a:rPr lang="en-US" sz="1400" dirty="0">
                <a:solidFill>
                  <a:srgbClr val="334155"/>
                </a:solidFill>
              </a:rPr>
              <a:t>Those are later lectures. If you skip Git habits now, CI later will feel like magic.</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What you will be able to do</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Outcomes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11173968" cy="914400"/>
        </p:xfrm>
        <a:graphic>
          <a:graphicData uri="http://schemas.openxmlformats.org/drawingml/2006/table">
            <a:tbl>
              <a:tblPr/>
              <a:tblGrid>
                <a:gridCol w="640080"/>
                <a:gridCol w="3291840"/>
                <a:gridCol w="724204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After this lecture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In real words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Separate Git from GitHub</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 tool on the laptop. GitHub = shared website + PRs.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Stage, then commit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add chooses; git commit saves a snapshot.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Read status, diff, log</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You can say what changed before you push.</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Use a branch and a PR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You do not push experiments straight to main.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Keep secrets out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.env stays local. .env.example can be committed.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Name the process models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Waterfall vs Agile vs Scrum vs Kanban vs DevOps.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How we use 75 minutes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Plan</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051560"/>
          <a:ext cx="11173968" cy="914400"/>
        </p:xfrm>
        <a:graphic>
          <a:graphicData uri="http://schemas.openxmlformats.org/drawingml/2006/table">
            <a:tbl>
              <a:tblPr/>
              <a:tblGrid>
                <a:gridCol w="1645920"/>
                <a:gridCol w="2286000"/>
                <a:gridCol w="7242048"/>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Clock</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Block</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What you read and do</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0–12 min</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Why Git</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Version control, Git vs GitHub, three areas on disk</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12–35 min</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Daily commands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status, add, commit, log, diff, restore, ignore, secrets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35–55 min</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Team Git</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branches, remotes, pull request in the GitHub UI</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55–65 min</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Lab</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git-demo-instructions.txt in this course repo</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65–75 min</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Bonus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Waterfall, Agile, Scrum, Kanban, Agile vs DevOps, interview extras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lIns="0" tIns="0" rIns="0" bIns="0" rtlCol="0"/>
          <a:lstStyle/>
          <a:p>
            <a:pPr indent="0" marL="0">
              <a:buNone/>
            </a:pPr>
            <a:r>
              <a:rPr lang="en-US" sz="3200" b="1" dirty="0">
                <a:solidFill>
                  <a:schemeClr val="bg1"/>
                </a:solidFill>
              </a:rPr>
              <a:t>Why version control exists</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lIns="0" tIns="0" rIns="0" bIns="0" rtlCol="0"/>
          <a:lstStyle/>
          <a:p>
            <a:pPr indent="0" marL="0">
              <a:buNone/>
            </a:pPr>
            <a:r>
              <a:rPr lang="en-US" sz="1800" dirty="0">
                <a:solidFill>
                  <a:srgbClr val="94A3B8"/>
                </a:solidFill>
              </a:rPr>
              <a:t>History, undo, and teamwork — not a list of flags</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The problem without Git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Motivation</a:t>
            </a:r>
            <a:endParaRPr lang="en-US" sz="1100" dirty="0"/>
          </a:p>
        </p:txBody>
      </p:sp>
      <p:sp>
        <p:nvSpPr>
          <p:cNvPr id="4" name="Text 2"/>
          <p:cNvSpPr txBox="1"/>
          <p:nvPr/>
        </p:nvSpPr>
        <p:spPr>
          <a:xfrm>
            <a:off x="502920" y="987552"/>
            <a:ext cx="11155680" cy="1554480"/>
          </a:xfrm>
          <a:prstGeom prst="rect">
            <a:avLst/>
          </a:prstGeom>
          <a:noFill/>
          <a:ln/>
        </p:spPr>
        <p:txBody>
          <a:bodyPr wrap="square" lIns="0" tIns="0" rIns="0" bIns="0" rtlCol="0" anchor="t"/>
          <a:lstStyle/>
          <a:p>
            <a:pPr indent="0" marL="0">
              <a:buNone/>
            </a:pPr>
            <a:r>
              <a:rPr lang="en-US" sz="1600" dirty="0">
                <a:solidFill>
                  <a:srgbClr val="334155"/>
                </a:solidFill>
              </a:rPr>
              <a:t>Before Git, teams emailed zip files: notes-api-final, notes-api-final2, notes-api-USE-THIS. Nobody knew which copy was live. If a change broke production, you could not go back to yesterday’s files with a command. Two people edited the same file and overwrote each other.</a:t>
            </a:r>
            <a:endParaRPr lang="en-US" sz="1600" dirty="0"/>
          </a:p>
        </p:txBody>
      </p:sp>
      <p:sp>
        <p:nvSpPr>
          <p:cNvPr id="5" name="Shape 3"/>
          <p:cNvSpPr/>
          <p:nvPr/>
        </p:nvSpPr>
        <p:spPr>
          <a:xfrm>
            <a:off x="502920" y="2697480"/>
            <a:ext cx="11155680" cy="3520440"/>
          </a:xfrm>
          <a:prstGeom prst="roundRect">
            <a:avLst>
              <a:gd name="adj" fmla="val 2078"/>
            </a:avLst>
          </a:prstGeom>
          <a:solidFill>
            <a:srgbClr val="FEF3C7"/>
          </a:solidFill>
          <a:ln/>
        </p:spPr>
      </p:sp>
      <p:sp>
        <p:nvSpPr>
          <p:cNvPr id="6" name="Text 4"/>
          <p:cNvSpPr txBox="1"/>
          <p:nvPr/>
        </p:nvSpPr>
        <p:spPr>
          <a:xfrm>
            <a:off x="667512" y="2807208"/>
            <a:ext cx="10826496" cy="292608"/>
          </a:xfrm>
          <a:prstGeom prst="rect">
            <a:avLst/>
          </a:prstGeom>
          <a:noFill/>
          <a:ln/>
        </p:spPr>
        <p:txBody>
          <a:bodyPr wrap="square" lIns="0" tIns="0" rIns="0" bIns="0" rtlCol="0" anchor="ctr"/>
          <a:lstStyle/>
          <a:p>
            <a:pPr indent="0" marL="0">
              <a:buNone/>
            </a:pPr>
            <a:r>
              <a:rPr lang="en-US" sz="1300" b="1" dirty="0">
                <a:solidFill>
                  <a:srgbClr val="B45309"/>
                </a:solidFill>
              </a:rPr>
              <a:t>Version control means</a:t>
            </a:r>
            <a:endParaRPr lang="en-US" sz="1300" dirty="0"/>
          </a:p>
        </p:txBody>
      </p:sp>
      <p:sp>
        <p:nvSpPr>
          <p:cNvPr id="7" name="Text 5"/>
          <p:cNvSpPr txBox="1"/>
          <p:nvPr/>
        </p:nvSpPr>
        <p:spPr>
          <a:xfrm>
            <a:off x="667512" y="3118104"/>
            <a:ext cx="10826496" cy="2971800"/>
          </a:xfrm>
          <a:prstGeom prst="rect">
            <a:avLst/>
          </a:prstGeom>
          <a:noFill/>
          <a:ln/>
        </p:spPr>
        <p:txBody>
          <a:bodyPr wrap="square" lIns="0" tIns="0" rIns="0" bIns="0" rtlCol="0" anchor="t"/>
          <a:lstStyle/>
          <a:p>
            <a:pPr indent="0" marL="0">
              <a:buNone/>
            </a:pPr>
            <a:r>
              <a:rPr lang="en-US" sz="1400" dirty="0">
                <a:solidFill>
                  <a:srgbClr val="334155"/>
                </a:solidFill>
              </a:rPr>
              <a:t>A system that records every snapshot of your files, who made it, and why. You can compare versions, undo, and work on a copy (a branch) without breaking the shared line of work.</a:t>
            </a:r>
            <a:endParaRPr lang="en-US" sz="1400" dirty="0"/>
          </a:p>
          <a:p>
            <a:pPr indent="0" marL="0">
              <a:buNone/>
            </a:pPr>
            <a:endParaRPr lang="en-US" sz="1400" dirty="0"/>
          </a:p>
          <a:p>
            <a:pPr indent="0" marL="0">
              <a:buNone/>
            </a:pPr>
            <a:r>
              <a:rPr lang="en-US" sz="1400" dirty="0">
                <a:solidFill>
                  <a:srgbClr val="334155"/>
                </a:solidFill>
              </a:rPr>
              <a:t>Git is the most common version-control tool in DevOps jobs. It is not the same thing as GitHub.</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What a repository is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Repository</a:t>
            </a:r>
            <a:endParaRPr lang="en-US" sz="1100" dirty="0"/>
          </a:p>
        </p:txBody>
      </p:sp>
      <p:sp>
        <p:nvSpPr>
          <p:cNvPr id="4" name="Text 2"/>
          <p:cNvSpPr txBox="1"/>
          <p:nvPr/>
        </p:nvSpPr>
        <p:spPr>
          <a:xfrm>
            <a:off x="502920" y="987552"/>
            <a:ext cx="11155680" cy="1600200"/>
          </a:xfrm>
          <a:prstGeom prst="rect">
            <a:avLst/>
          </a:prstGeom>
          <a:noFill/>
          <a:ln/>
        </p:spPr>
        <p:txBody>
          <a:bodyPr wrap="square" lIns="0" tIns="0" rIns="0" bIns="0" rtlCol="0" anchor="t"/>
          <a:lstStyle/>
          <a:p>
            <a:pPr indent="0" marL="0">
              <a:buNone/>
            </a:pPr>
            <a:r>
              <a:rPr lang="en-US" sz="1600" dirty="0">
                <a:solidFill>
                  <a:srgbClr val="334155"/>
                </a:solidFill>
              </a:rPr>
              <a:t>A repository (repo) is a project folder plus a hidden .git directory. That hidden folder is the database of commits. If you delete .git, you still have files, but you lost history. git init creates .git. git clone copies someone else’s repo, including history.</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73968" cy="914400"/>
        </p:xfrm>
        <a:graphic>
          <a:graphicData uri="http://schemas.openxmlformats.org/drawingml/2006/table">
            <a:tbl>
              <a:tblPr/>
              <a:tblGrid>
                <a:gridCol w="3108960"/>
                <a:gridCol w="8065008"/>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Word</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Meaning</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Working tree</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The files you see and edit (README.md, notes.txt).</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Staging area (index)</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The list of changes chosen for the *next* commit. Filled by git add.</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Local repository</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The history on your laptop, inside .git.</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Remote repository</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Usually GitHub, nicknamed origin.</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Git versus GitHub</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Do not mix these</a:t>
            </a:r>
            <a:endParaRPr lang="en-US" sz="1100" dirty="0"/>
          </a:p>
        </p:txBody>
      </p:sp>
      <p:sp>
        <p:nvSpPr>
          <p:cNvPr id="4" name="Shape 2"/>
          <p:cNvSpPr/>
          <p:nvPr/>
        </p:nvSpPr>
        <p:spPr>
          <a:xfrm>
            <a:off x="502920" y="1005840"/>
            <a:ext cx="5532120" cy="5212080"/>
          </a:xfrm>
          <a:prstGeom prst="roundRect">
            <a:avLst>
              <a:gd name="adj" fmla="val 1404"/>
            </a:avLst>
          </a:prstGeom>
          <a:solidFill>
            <a:srgbClr val="1E293B"/>
          </a:solidFill>
          <a:ln/>
        </p:spPr>
      </p:sp>
      <p:sp>
        <p:nvSpPr>
          <p:cNvPr id="5" name="Text 3"/>
          <p:cNvSpPr txBox="1"/>
          <p:nvPr/>
        </p:nvSpPr>
        <p:spPr>
          <a:xfrm>
            <a:off x="667512" y="1115568"/>
            <a:ext cx="5202936" cy="292608"/>
          </a:xfrm>
          <a:prstGeom prst="rect">
            <a:avLst/>
          </a:prstGeom>
          <a:noFill/>
          <a:ln/>
        </p:spPr>
        <p:txBody>
          <a:bodyPr wrap="square" lIns="0" tIns="0" rIns="0" bIns="0" rtlCol="0" anchor="ctr"/>
          <a:lstStyle/>
          <a:p>
            <a:pPr indent="0" marL="0">
              <a:buNone/>
            </a:pPr>
            <a:r>
              <a:rPr lang="en-US" sz="1300" b="1" dirty="0">
                <a:solidFill>
                  <a:srgbClr val="FFFFFF"/>
                </a:solidFill>
              </a:rPr>
              <a:t>Git (the tool)</a:t>
            </a:r>
            <a:endParaRPr lang="en-US" sz="1300" dirty="0"/>
          </a:p>
        </p:txBody>
      </p:sp>
      <p:sp>
        <p:nvSpPr>
          <p:cNvPr id="6" name="Text 4"/>
          <p:cNvSpPr txBox="1"/>
          <p:nvPr/>
        </p:nvSpPr>
        <p:spPr>
          <a:xfrm>
            <a:off x="667512" y="1426464"/>
            <a:ext cx="5202936" cy="4663440"/>
          </a:xfrm>
          <a:prstGeom prst="rect">
            <a:avLst/>
          </a:prstGeom>
          <a:noFill/>
          <a:ln/>
        </p:spPr>
        <p:txBody>
          <a:bodyPr wrap="square" lIns="0" tIns="0" rIns="0" bIns="0" rtlCol="0" anchor="t"/>
          <a:lstStyle/>
          <a:p>
            <a:pPr indent="0" marL="0">
              <a:buNone/>
            </a:pPr>
            <a:r>
              <a:rPr lang="en-US" sz="1400" dirty="0">
                <a:solidFill>
                  <a:srgbClr val="CBD5E1"/>
                </a:solidFill>
              </a:rPr>
              <a:t>Runs on your computer.</a:t>
            </a:r>
            <a:endParaRPr lang="en-US" sz="1400" dirty="0"/>
          </a:p>
          <a:p>
            <a:pPr indent="0" marL="0">
              <a:buNone/>
            </a:pPr>
            <a:r>
              <a:rPr lang="en-US" sz="1400" dirty="0">
                <a:solidFill>
                  <a:srgbClr val="CBD5E1"/>
                </a:solidFill>
              </a:rPr>
              <a:t>Works offline.</a:t>
            </a:r>
            <a:endParaRPr lang="en-US" sz="1400" dirty="0"/>
          </a:p>
          <a:p>
            <a:pPr indent="0" marL="0">
              <a:buNone/>
            </a:pPr>
            <a:r>
              <a:rPr lang="en-US" sz="1400" dirty="0">
                <a:solidFill>
                  <a:srgbClr val="CBD5E1"/>
                </a:solidFill>
              </a:rPr>
              <a:t>Commands: add, commit, branch, merge, log.</a:t>
            </a:r>
            <a:endParaRPr lang="en-US" sz="1400" dirty="0"/>
          </a:p>
          <a:p>
            <a:pPr indent="0" marL="0">
              <a:buNone/>
            </a:pPr>
            <a:r>
              <a:rPr lang="en-US" sz="1400" dirty="0">
                <a:solidFill>
                  <a:srgbClr val="CBD5E1"/>
                </a:solidFill>
              </a:rPr>
              <a:t>Stores snapshots locally.</a:t>
            </a:r>
            <a:endParaRPr lang="en-US" sz="1400" dirty="0"/>
          </a:p>
          <a:p>
            <a:pPr indent="0" marL="0">
              <a:buNone/>
            </a:pPr>
            <a:r>
              <a:rPr lang="en-US" sz="1400" dirty="0">
                <a:solidFill>
                  <a:srgbClr val="CBD5E1"/>
                </a:solidFill>
              </a:rPr>
              <a:t>You can use Git with no GitHub at all.</a:t>
            </a:r>
            <a:endParaRPr lang="en-US" sz="1400" dirty="0"/>
          </a:p>
          <a:p>
            <a:pPr indent="0" marL="0">
              <a:buNone/>
            </a:pPr>
            <a:endParaRPr lang="en-US" sz="1400" dirty="0"/>
          </a:p>
          <a:p>
            <a:pPr indent="0" marL="0">
              <a:buNone/>
            </a:pPr>
            <a:r>
              <a:rPr lang="en-US" sz="1400" dirty="0">
                <a:solidFill>
                  <a:srgbClr val="CBD5E1"/>
                </a:solidFill>
              </a:rPr>
              <a:t>Interview: “Git is version control.”</a:t>
            </a:r>
            <a:endParaRPr lang="en-US" sz="1400" dirty="0"/>
          </a:p>
        </p:txBody>
      </p:sp>
      <p:sp>
        <p:nvSpPr>
          <p:cNvPr id="7" name="Shape 5"/>
          <p:cNvSpPr/>
          <p:nvPr/>
        </p:nvSpPr>
        <p:spPr>
          <a:xfrm>
            <a:off x="6217920" y="1005840"/>
            <a:ext cx="5440680" cy="5212080"/>
          </a:xfrm>
          <a:prstGeom prst="roundRect">
            <a:avLst>
              <a:gd name="adj" fmla="val 1404"/>
            </a:avLst>
          </a:prstGeom>
          <a:solidFill>
            <a:srgbClr val="0F766E"/>
          </a:solidFill>
          <a:ln/>
        </p:spPr>
      </p:sp>
      <p:sp>
        <p:nvSpPr>
          <p:cNvPr id="8" name="Text 6"/>
          <p:cNvSpPr txBox="1"/>
          <p:nvPr/>
        </p:nvSpPr>
        <p:spPr>
          <a:xfrm>
            <a:off x="6382512" y="1115568"/>
            <a:ext cx="5111496" cy="292608"/>
          </a:xfrm>
          <a:prstGeom prst="rect">
            <a:avLst/>
          </a:prstGeom>
          <a:noFill/>
          <a:ln/>
        </p:spPr>
        <p:txBody>
          <a:bodyPr wrap="square" lIns="0" tIns="0" rIns="0" bIns="0" rtlCol="0" anchor="ctr"/>
          <a:lstStyle/>
          <a:p>
            <a:pPr indent="0" marL="0">
              <a:buNone/>
            </a:pPr>
            <a:r>
              <a:rPr lang="en-US" sz="1300" b="1" dirty="0">
                <a:solidFill>
                  <a:srgbClr val="FFFFFF"/>
                </a:solidFill>
              </a:rPr>
              <a:t>GitHub (the website)</a:t>
            </a:r>
            <a:endParaRPr lang="en-US" sz="1300" dirty="0"/>
          </a:p>
        </p:txBody>
      </p:sp>
      <p:sp>
        <p:nvSpPr>
          <p:cNvPr id="9" name="Text 7"/>
          <p:cNvSpPr txBox="1"/>
          <p:nvPr/>
        </p:nvSpPr>
        <p:spPr>
          <a:xfrm>
            <a:off x="6382512" y="1426464"/>
            <a:ext cx="5111496" cy="4663440"/>
          </a:xfrm>
          <a:prstGeom prst="rect">
            <a:avLst/>
          </a:prstGeom>
          <a:noFill/>
          <a:ln/>
        </p:spPr>
        <p:txBody>
          <a:bodyPr wrap="square" lIns="0" tIns="0" rIns="0" bIns="0" rtlCol="0" anchor="t"/>
          <a:lstStyle/>
          <a:p>
            <a:pPr indent="0" marL="0">
              <a:buNone/>
            </a:pPr>
            <a:r>
              <a:rPr lang="en-US" sz="1400" dirty="0">
                <a:solidFill>
                  <a:srgbClr val="CCFBF1"/>
                </a:solidFill>
              </a:rPr>
              <a:t>Hosts Git repos on the internet.</a:t>
            </a:r>
            <a:endParaRPr lang="en-US" sz="1400" dirty="0"/>
          </a:p>
          <a:p>
            <a:pPr indent="0" marL="0">
              <a:buNone/>
            </a:pPr>
            <a:r>
              <a:rPr lang="en-US" sz="1400" dirty="0">
                <a:solidFill>
                  <a:srgbClr val="CCFBF1"/>
                </a:solidFill>
              </a:rPr>
              <a:t>Adds pull requests, issues, permissions.</a:t>
            </a:r>
            <a:endParaRPr lang="en-US" sz="1400" dirty="0"/>
          </a:p>
          <a:p>
            <a:pPr indent="0" marL="0">
              <a:buNone/>
            </a:pPr>
            <a:r>
              <a:rPr lang="en-US" sz="1400" dirty="0">
                <a:solidFill>
                  <a:srgbClr val="CCFBF1"/>
                </a:solidFill>
              </a:rPr>
              <a:t>Protects main so random pushes fail.</a:t>
            </a:r>
            <a:endParaRPr lang="en-US" sz="1400" dirty="0"/>
          </a:p>
          <a:p>
            <a:pPr indent="0" marL="0">
              <a:buNone/>
            </a:pPr>
            <a:r>
              <a:rPr lang="en-US" sz="1400" dirty="0">
                <a:solidFill>
                  <a:srgbClr val="CCFBF1"/>
                </a:solidFill>
              </a:rPr>
              <a:t>GitLab and Azure Repos are similar products.</a:t>
            </a:r>
            <a:endParaRPr lang="en-US" sz="1400" dirty="0"/>
          </a:p>
          <a:p>
            <a:pPr indent="0" marL="0">
              <a:buNone/>
            </a:pPr>
            <a:endParaRPr lang="en-US" sz="1400" dirty="0"/>
          </a:p>
          <a:p>
            <a:pPr indent="0" marL="0">
              <a:buNone/>
            </a:pPr>
            <a:r>
              <a:rPr lang="en-US" sz="1400" dirty="0">
                <a:solidFill>
                  <a:srgbClr val="CCFBF1"/>
                </a:solidFill>
              </a:rPr>
              <a:t>Interview: “GitHub hosts the shared Git repo and the review process.”</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Same idea, different product names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Workplace map</a:t>
            </a:r>
            <a:endParaRPr lang="en-US" sz="1100" dirty="0"/>
          </a:p>
        </p:txBody>
      </p:sp>
      <p:sp>
        <p:nvSpPr>
          <p:cNvPr id="4" name="Text 2"/>
          <p:cNvSpPr txBox="1"/>
          <p:nvPr/>
        </p:nvSpPr>
        <p:spPr>
          <a:xfrm>
            <a:off x="502920" y="987552"/>
            <a:ext cx="11155680" cy="1280160"/>
          </a:xfrm>
          <a:prstGeom prst="rect">
            <a:avLst/>
          </a:prstGeom>
          <a:noFill/>
          <a:ln/>
        </p:spPr>
        <p:txBody>
          <a:bodyPr wrap="square" lIns="0" tIns="0" rIns="0" bIns="0" rtlCol="0" anchor="t"/>
          <a:lstStyle/>
          <a:p>
            <a:pPr indent="0" marL="0">
              <a:buNone/>
            </a:pPr>
            <a:r>
              <a:rPr lang="en-US" sz="1600" dirty="0">
                <a:solidFill>
                  <a:srgbClr val="334155"/>
                </a:solidFill>
              </a:rPr>
              <a:t>Jobs may say GitHub, GitLab, Bitbucket, or Azure Repos. The Git commands stay the same. What changes is the website: where you click “New pull request”, and how you log in.</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11173968" cy="914400"/>
        </p:xfrm>
        <a:graphic>
          <a:graphicData uri="http://schemas.openxmlformats.org/drawingml/2006/table">
            <a:tbl>
              <a:tblPr/>
              <a:tblGrid>
                <a:gridCol w="2194560"/>
                <a:gridCol w="4572000"/>
                <a:gridCol w="440740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Host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You will hear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Git commands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GitHub</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Pull request, Actions (later lecture)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clone, push, pull — same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GitLab</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Merge request (their name for a PR)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same Git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Azure Repos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Common in Microsoft shops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same Git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Bitbucket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Still Git under the hood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same Git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Diagram: where your code lives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Four places</a:t>
            </a:r>
            <a:endParaRPr lang="en-US" sz="1100" dirty="0"/>
          </a:p>
        </p:txBody>
      </p:sp>
      <p:sp>
        <p:nvSpPr>
          <p:cNvPr id="4" name="Shape 2"/>
          <p:cNvSpPr/>
          <p:nvPr/>
        </p:nvSpPr>
        <p:spPr>
          <a:xfrm>
            <a:off x="457200" y="1234440"/>
            <a:ext cx="2468880" cy="2194560"/>
          </a:xfrm>
          <a:prstGeom prst="roundRect">
            <a:avLst>
              <a:gd name="adj" fmla="val 3333"/>
            </a:avLst>
          </a:prstGeom>
          <a:solidFill>
            <a:srgbClr val="F1F5F9"/>
          </a:solidFill>
          <a:ln/>
        </p:spPr>
      </p:sp>
      <p:sp>
        <p:nvSpPr>
          <p:cNvPr id="5" name="Text 3"/>
          <p:cNvSpPr txBox="1"/>
          <p:nvPr/>
        </p:nvSpPr>
        <p:spPr>
          <a:xfrm>
            <a:off x="530352" y="1344168"/>
            <a:ext cx="2322576" cy="365760"/>
          </a:xfrm>
          <a:prstGeom prst="rect">
            <a:avLst/>
          </a:prstGeom>
          <a:noFill/>
          <a:ln/>
        </p:spPr>
        <p:txBody>
          <a:bodyPr wrap="square" lIns="0" tIns="0" rIns="0" bIns="0" rtlCol="0" anchor="ctr"/>
          <a:lstStyle/>
          <a:p>
            <a:pPr algn="ctr" indent="0" marL="0">
              <a:buNone/>
            </a:pPr>
            <a:r>
              <a:rPr lang="en-US" sz="1400" b="1" dirty="0">
                <a:solidFill>
                  <a:srgbClr val="0F172A"/>
                </a:solidFill>
              </a:rPr>
              <a:t>1. Working files</a:t>
            </a:r>
            <a:endParaRPr lang="en-US" sz="1400" dirty="0"/>
          </a:p>
        </p:txBody>
      </p:sp>
      <p:sp>
        <p:nvSpPr>
          <p:cNvPr id="6" name="Text 4"/>
          <p:cNvSpPr txBox="1"/>
          <p:nvPr/>
        </p:nvSpPr>
        <p:spPr>
          <a:xfrm>
            <a:off x="530352" y="1709928"/>
            <a:ext cx="2322576" cy="1627632"/>
          </a:xfrm>
          <a:prstGeom prst="rect">
            <a:avLst/>
          </a:prstGeom>
          <a:noFill/>
          <a:ln/>
        </p:spPr>
        <p:txBody>
          <a:bodyPr wrap="square" lIns="0" tIns="0" rIns="0" bIns="0" rtlCol="0" anchor="ctr"/>
          <a:lstStyle/>
          <a:p>
            <a:pPr algn="ctr" indent="0" marL="0">
              <a:buNone/>
            </a:pPr>
            <a:r>
              <a:rPr lang="en-US" sz="1200" dirty="0">
                <a:solidFill>
                  <a:srgbClr val="334155"/>
                </a:solidFill>
              </a:rPr>
              <a:t>You edit notes.txt here. This is not saved in history until you commit.</a:t>
            </a:r>
            <a:endParaRPr lang="en-US" sz="1200" dirty="0"/>
          </a:p>
        </p:txBody>
      </p:sp>
      <p:sp>
        <p:nvSpPr>
          <p:cNvPr id="7" name="Text 5"/>
          <p:cNvSpPr txBox="1"/>
          <p:nvPr/>
        </p:nvSpPr>
        <p:spPr>
          <a:xfrm>
            <a:off x="2926080" y="201168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8" name="Shape 6"/>
          <p:cNvSpPr/>
          <p:nvPr/>
        </p:nvSpPr>
        <p:spPr>
          <a:xfrm>
            <a:off x="3246120" y="1234440"/>
            <a:ext cx="2468880" cy="2194560"/>
          </a:xfrm>
          <a:prstGeom prst="roundRect">
            <a:avLst>
              <a:gd name="adj" fmla="val 3333"/>
            </a:avLst>
          </a:prstGeom>
          <a:solidFill>
            <a:srgbClr val="ECFDF5"/>
          </a:solidFill>
          <a:ln/>
        </p:spPr>
      </p:sp>
      <p:sp>
        <p:nvSpPr>
          <p:cNvPr id="9" name="Text 7"/>
          <p:cNvSpPr txBox="1"/>
          <p:nvPr/>
        </p:nvSpPr>
        <p:spPr>
          <a:xfrm>
            <a:off x="3319272" y="1344168"/>
            <a:ext cx="2322576" cy="365760"/>
          </a:xfrm>
          <a:prstGeom prst="rect">
            <a:avLst/>
          </a:prstGeom>
          <a:noFill/>
          <a:ln/>
        </p:spPr>
        <p:txBody>
          <a:bodyPr wrap="square" lIns="0" tIns="0" rIns="0" bIns="0" rtlCol="0" anchor="ctr"/>
          <a:lstStyle/>
          <a:p>
            <a:pPr algn="ctr" indent="0" marL="0">
              <a:buNone/>
            </a:pPr>
            <a:r>
              <a:rPr lang="en-US" sz="1400" b="1" dirty="0">
                <a:solidFill>
                  <a:srgbClr val="0F766E"/>
                </a:solidFill>
              </a:rPr>
              <a:t>2. Staging</a:t>
            </a:r>
            <a:endParaRPr lang="en-US" sz="1400" dirty="0"/>
          </a:p>
        </p:txBody>
      </p:sp>
      <p:sp>
        <p:nvSpPr>
          <p:cNvPr id="10" name="Text 8"/>
          <p:cNvSpPr txBox="1"/>
          <p:nvPr/>
        </p:nvSpPr>
        <p:spPr>
          <a:xfrm>
            <a:off x="3319272" y="1709928"/>
            <a:ext cx="2322576" cy="1627632"/>
          </a:xfrm>
          <a:prstGeom prst="rect">
            <a:avLst/>
          </a:prstGeom>
          <a:noFill/>
          <a:ln/>
        </p:spPr>
        <p:txBody>
          <a:bodyPr wrap="square" lIns="0" tIns="0" rIns="0" bIns="0" rtlCol="0" anchor="ctr"/>
          <a:lstStyle/>
          <a:p>
            <a:pPr algn="ctr" indent="0" marL="0">
              <a:buNone/>
            </a:pPr>
            <a:r>
              <a:rPr lang="en-US" sz="1200" dirty="0">
                <a:solidFill>
                  <a:srgbClr val="334155"/>
                </a:solidFill>
              </a:rPr>
              <a:t>git add chooses what goes in the next snapshot.</a:t>
            </a:r>
            <a:endParaRPr lang="en-US" sz="1200" dirty="0"/>
          </a:p>
        </p:txBody>
      </p:sp>
      <p:sp>
        <p:nvSpPr>
          <p:cNvPr id="11" name="Text 9"/>
          <p:cNvSpPr txBox="1"/>
          <p:nvPr/>
        </p:nvSpPr>
        <p:spPr>
          <a:xfrm>
            <a:off x="5715000" y="201168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12" name="Shape 10"/>
          <p:cNvSpPr/>
          <p:nvPr/>
        </p:nvSpPr>
        <p:spPr>
          <a:xfrm>
            <a:off x="6035040" y="1234440"/>
            <a:ext cx="2468880" cy="2194560"/>
          </a:xfrm>
          <a:prstGeom prst="roundRect">
            <a:avLst>
              <a:gd name="adj" fmla="val 3333"/>
            </a:avLst>
          </a:prstGeom>
          <a:solidFill>
            <a:srgbClr val="CCFBF1"/>
          </a:solidFill>
          <a:ln/>
        </p:spPr>
      </p:sp>
      <p:sp>
        <p:nvSpPr>
          <p:cNvPr id="13" name="Text 11"/>
          <p:cNvSpPr txBox="1"/>
          <p:nvPr/>
        </p:nvSpPr>
        <p:spPr>
          <a:xfrm>
            <a:off x="6108192" y="1344168"/>
            <a:ext cx="2322576" cy="365760"/>
          </a:xfrm>
          <a:prstGeom prst="rect">
            <a:avLst/>
          </a:prstGeom>
          <a:noFill/>
          <a:ln/>
        </p:spPr>
        <p:txBody>
          <a:bodyPr wrap="square" lIns="0" tIns="0" rIns="0" bIns="0" rtlCol="0" anchor="ctr"/>
          <a:lstStyle/>
          <a:p>
            <a:pPr algn="ctr" indent="0" marL="0">
              <a:buNone/>
            </a:pPr>
            <a:r>
              <a:rPr lang="en-US" sz="1400" b="1" dirty="0">
                <a:solidFill>
                  <a:srgbClr val="0F766E"/>
                </a:solidFill>
              </a:rPr>
              <a:t>3. Local Git</a:t>
            </a:r>
            <a:endParaRPr lang="en-US" sz="1400" dirty="0"/>
          </a:p>
        </p:txBody>
      </p:sp>
      <p:sp>
        <p:nvSpPr>
          <p:cNvPr id="14" name="Text 12"/>
          <p:cNvSpPr txBox="1"/>
          <p:nvPr/>
        </p:nvSpPr>
        <p:spPr>
          <a:xfrm>
            <a:off x="6108192" y="1709928"/>
            <a:ext cx="2322576" cy="1627632"/>
          </a:xfrm>
          <a:prstGeom prst="rect">
            <a:avLst/>
          </a:prstGeom>
          <a:noFill/>
          <a:ln/>
        </p:spPr>
        <p:txBody>
          <a:bodyPr wrap="square" lIns="0" tIns="0" rIns="0" bIns="0" rtlCol="0" anchor="ctr"/>
          <a:lstStyle/>
          <a:p>
            <a:pPr algn="ctr" indent="0" marL="0">
              <a:buNone/>
            </a:pPr>
            <a:r>
              <a:rPr lang="en-US" sz="1200" dirty="0">
                <a:solidFill>
                  <a:srgbClr val="334155"/>
                </a:solidFill>
              </a:rPr>
              <a:t>git commit writes a snapshot into .git on your laptop.</a:t>
            </a:r>
            <a:endParaRPr lang="en-US" sz="1200" dirty="0"/>
          </a:p>
        </p:txBody>
      </p:sp>
      <p:sp>
        <p:nvSpPr>
          <p:cNvPr id="15" name="Text 13"/>
          <p:cNvSpPr txBox="1"/>
          <p:nvPr/>
        </p:nvSpPr>
        <p:spPr>
          <a:xfrm>
            <a:off x="8503920" y="201168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16" name="Shape 14"/>
          <p:cNvSpPr/>
          <p:nvPr/>
        </p:nvSpPr>
        <p:spPr>
          <a:xfrm>
            <a:off x="8823960" y="1234440"/>
            <a:ext cx="2834640" cy="2194560"/>
          </a:xfrm>
          <a:prstGeom prst="roundRect">
            <a:avLst>
              <a:gd name="adj" fmla="val 3333"/>
            </a:avLst>
          </a:prstGeom>
          <a:solidFill>
            <a:srgbClr val="0F766E"/>
          </a:solidFill>
          <a:ln/>
        </p:spPr>
      </p:sp>
      <p:sp>
        <p:nvSpPr>
          <p:cNvPr id="17" name="Text 15"/>
          <p:cNvSpPr txBox="1"/>
          <p:nvPr/>
        </p:nvSpPr>
        <p:spPr>
          <a:xfrm>
            <a:off x="8897112" y="1344168"/>
            <a:ext cx="2688336" cy="365760"/>
          </a:xfrm>
          <a:prstGeom prst="rect">
            <a:avLst/>
          </a:prstGeom>
          <a:noFill/>
          <a:ln/>
        </p:spPr>
        <p:txBody>
          <a:bodyPr wrap="square" lIns="0" tIns="0" rIns="0" bIns="0" rtlCol="0" anchor="ctr"/>
          <a:lstStyle/>
          <a:p>
            <a:pPr algn="ctr" indent="0" marL="0">
              <a:buNone/>
            </a:pPr>
            <a:r>
              <a:rPr lang="en-US" sz="1400" b="1" dirty="0">
                <a:solidFill>
                  <a:srgbClr val="FFFFFF"/>
                </a:solidFill>
              </a:rPr>
              <a:t>4. GitHub (origin)</a:t>
            </a:r>
            <a:endParaRPr lang="en-US" sz="1400" dirty="0"/>
          </a:p>
        </p:txBody>
      </p:sp>
      <p:sp>
        <p:nvSpPr>
          <p:cNvPr id="18" name="Text 16"/>
          <p:cNvSpPr txBox="1"/>
          <p:nvPr/>
        </p:nvSpPr>
        <p:spPr>
          <a:xfrm>
            <a:off x="8897112" y="1709928"/>
            <a:ext cx="2688336" cy="1627632"/>
          </a:xfrm>
          <a:prstGeom prst="rect">
            <a:avLst/>
          </a:prstGeom>
          <a:noFill/>
          <a:ln/>
        </p:spPr>
        <p:txBody>
          <a:bodyPr wrap="square" lIns="0" tIns="0" rIns="0" bIns="0" rtlCol="0" anchor="ctr"/>
          <a:lstStyle/>
          <a:p>
            <a:pPr algn="ctr" indent="0" marL="0">
              <a:buNone/>
            </a:pPr>
            <a:r>
              <a:rPr lang="en-US" sz="1200" dirty="0">
                <a:solidFill>
                  <a:srgbClr val="CCFBF1"/>
                </a:solidFill>
              </a:rPr>
              <a:t>git push uploads commits. Teammates git pull.</a:t>
            </a:r>
            <a:endParaRPr lang="en-US" sz="1200" dirty="0"/>
          </a:p>
        </p:txBody>
      </p:sp>
      <p:sp>
        <p:nvSpPr>
          <p:cNvPr id="19" name="Shape 17"/>
          <p:cNvSpPr/>
          <p:nvPr/>
        </p:nvSpPr>
        <p:spPr>
          <a:xfrm>
            <a:off x="502920" y="3703320"/>
            <a:ext cx="11155680" cy="2514600"/>
          </a:xfrm>
          <a:prstGeom prst="roundRect">
            <a:avLst>
              <a:gd name="adj" fmla="val 2909"/>
            </a:avLst>
          </a:prstGeom>
          <a:solidFill>
            <a:srgbClr val="F1F5F9"/>
          </a:solidFill>
          <a:ln/>
        </p:spPr>
      </p:sp>
      <p:sp>
        <p:nvSpPr>
          <p:cNvPr id="20" name="Text 18"/>
          <p:cNvSpPr txBox="1"/>
          <p:nvPr/>
        </p:nvSpPr>
        <p:spPr>
          <a:xfrm>
            <a:off x="667512" y="3813048"/>
            <a:ext cx="10826496" cy="292608"/>
          </a:xfrm>
          <a:prstGeom prst="rect">
            <a:avLst/>
          </a:prstGeom>
          <a:noFill/>
          <a:ln/>
        </p:spPr>
        <p:txBody>
          <a:bodyPr wrap="square" lIns="0" tIns="0" rIns="0" bIns="0" rtlCol="0" anchor="ctr"/>
          <a:lstStyle/>
          <a:p>
            <a:pPr indent="0" marL="0">
              <a:buNone/>
            </a:pPr>
            <a:r>
              <a:rPr lang="en-US" sz="1300" b="1" dirty="0">
                <a:solidFill>
                  <a:srgbClr val="0F766E"/>
                </a:solidFill>
              </a:rPr>
              <a:t>Read this left to right, every time you save work</a:t>
            </a:r>
            <a:endParaRPr lang="en-US" sz="1300" dirty="0"/>
          </a:p>
        </p:txBody>
      </p:sp>
      <p:sp>
        <p:nvSpPr>
          <p:cNvPr id="21" name="Text 19"/>
          <p:cNvSpPr txBox="1"/>
          <p:nvPr/>
        </p:nvSpPr>
        <p:spPr>
          <a:xfrm>
            <a:off x="667512" y="4123944"/>
            <a:ext cx="10826496" cy="1965960"/>
          </a:xfrm>
          <a:prstGeom prst="rect">
            <a:avLst/>
          </a:prstGeom>
          <a:noFill/>
          <a:ln/>
        </p:spPr>
        <p:txBody>
          <a:bodyPr wrap="square" lIns="0" tIns="0" rIns="0" bIns="0" rtlCol="0" anchor="t"/>
          <a:lstStyle/>
          <a:p>
            <a:pPr indent="0" marL="0">
              <a:buNone/>
            </a:pPr>
            <a:r>
              <a:rPr lang="en-US" sz="1400" dirty="0">
                <a:solidFill>
                  <a:srgbClr val="334155"/>
                </a:solidFill>
              </a:rPr>
              <a:t>Edit → git status → git add (only the files you mean) → git commit -m "message" → git push.</a:t>
            </a:r>
            <a:endParaRPr lang="en-US" sz="1400" dirty="0"/>
          </a:p>
          <a:p>
            <a:pPr indent="0" marL="0">
              <a:buNone/>
            </a:pPr>
            <a:endParaRPr lang="en-US" sz="1400" dirty="0"/>
          </a:p>
          <a:p>
            <a:pPr indent="0" marL="0">
              <a:buNone/>
            </a:pPr>
            <a:r>
              <a:rPr lang="en-US" sz="1400" dirty="0">
                <a:solidFill>
                  <a:srgbClr val="334155"/>
                </a:solidFill>
              </a:rPr>
              <a:t>If you skip add, the commit does not include your new edits. If you skip commit, push has nothing new to send.</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lIns="0" tIns="0" rIns="0" bIns="0" rtlCol="0"/>
          <a:lstStyle/>
          <a:p>
            <a:pPr indent="0" marL="0">
              <a:buNone/>
            </a:pPr>
            <a:r>
              <a:rPr lang="en-US" sz="3200" b="1" dirty="0">
                <a:solidFill>
                  <a:schemeClr val="bg1"/>
                </a:solidFill>
              </a:rPr>
              <a:t>Daily Git commands</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lIns="0" tIns="0" rIns="0" bIns="0" rtlCol="0"/>
          <a:lstStyle/>
          <a:p>
            <a:pPr indent="0" marL="0">
              <a:buNone/>
            </a:pPr>
            <a:r>
              <a:rPr lang="en-US" sz="1800" dirty="0">
                <a:solidFill>
                  <a:srgbClr val="94A3B8"/>
                </a:solidFill>
              </a:rPr>
              <a:t>status, add, commit, log, diff, restore, ignore</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Start a repo: init or clone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First command</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11173968" cy="914400"/>
        </p:xfrm>
        <a:graphic>
          <a:graphicData uri="http://schemas.openxmlformats.org/drawingml/2006/table">
            <a:tbl>
              <a:tblPr/>
              <a:tblGrid>
                <a:gridCol w="4206240"/>
                <a:gridCol w="3017520"/>
                <a:gridCol w="395020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Command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When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happens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 init -b main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Empty folder you own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Creates .git. First branch is named main.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 clone https://github.com/org/repo.git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The repo already exists on GitHub</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Downloads files + full history. Sets origin for you.</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cd repo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After clone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You must be inside the folder for Git commands to see .git.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5" name="Shape 2"/>
          <p:cNvSpPr/>
          <p:nvPr/>
        </p:nvSpPr>
        <p:spPr>
          <a:xfrm>
            <a:off x="502920" y="3977640"/>
            <a:ext cx="11155680" cy="2240280"/>
          </a:xfrm>
          <a:prstGeom prst="roundRect">
            <a:avLst>
              <a:gd name="adj" fmla="val 3265"/>
            </a:avLst>
          </a:prstGeom>
          <a:solidFill>
            <a:srgbClr val="ECFDF5"/>
          </a:solidFill>
          <a:ln/>
        </p:spPr>
      </p:sp>
      <p:sp>
        <p:nvSpPr>
          <p:cNvPr id="6" name="Text 3"/>
          <p:cNvSpPr txBox="1"/>
          <p:nvPr/>
        </p:nvSpPr>
        <p:spPr>
          <a:xfrm>
            <a:off x="667512" y="4087368"/>
            <a:ext cx="10826496" cy="292608"/>
          </a:xfrm>
          <a:prstGeom prst="rect">
            <a:avLst/>
          </a:prstGeom>
          <a:noFill/>
          <a:ln/>
        </p:spPr>
        <p:txBody>
          <a:bodyPr wrap="square" lIns="0" tIns="0" rIns="0" bIns="0" rtlCol="0" anchor="ctr"/>
          <a:lstStyle/>
          <a:p>
            <a:pPr indent="0" marL="0">
              <a:buNone/>
            </a:pPr>
            <a:r>
              <a:rPr lang="en-US" sz="1300" b="1" dirty="0">
                <a:solidFill>
                  <a:srgbClr val="0F766E"/>
                </a:solidFill>
              </a:rPr>
              <a:t>Beginner rule</a:t>
            </a:r>
            <a:endParaRPr lang="en-US" sz="1300" dirty="0"/>
          </a:p>
        </p:txBody>
      </p:sp>
      <p:sp>
        <p:nvSpPr>
          <p:cNvPr id="7" name="Text 4"/>
          <p:cNvSpPr txBox="1"/>
          <p:nvPr/>
        </p:nvSpPr>
        <p:spPr>
          <a:xfrm>
            <a:off x="667512" y="4398264"/>
            <a:ext cx="10826496" cy="1691640"/>
          </a:xfrm>
          <a:prstGeom prst="rect">
            <a:avLst/>
          </a:prstGeom>
          <a:noFill/>
          <a:ln/>
        </p:spPr>
        <p:txBody>
          <a:bodyPr wrap="square" lIns="0" tIns="0" rIns="0" bIns="0" rtlCol="0" anchor="t"/>
          <a:lstStyle/>
          <a:p>
            <a:pPr indent="0" marL="0">
              <a:buNone/>
            </a:pPr>
            <a:r>
              <a:rPr lang="en-US" sz="1400" dirty="0">
                <a:solidFill>
                  <a:srgbClr val="334155"/>
                </a:solidFill>
              </a:rPr>
              <a:t>If git status says “not a git repository”, you are in the wrong folder. Run pwd (Lecture 1) and cd into the project. Git looks for .git in this folder or a parent, not “somewhere on the disk”.</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git status — always look before you add</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status</a:t>
            </a:r>
            <a:endParaRPr lang="en-US" sz="1100" dirty="0"/>
          </a:p>
        </p:txBody>
      </p:sp>
      <p:sp>
        <p:nvSpPr>
          <p:cNvPr id="4" name="Text 2"/>
          <p:cNvSpPr txBox="1"/>
          <p:nvPr/>
        </p:nvSpPr>
        <p:spPr>
          <a:xfrm>
            <a:off x="502920" y="987552"/>
            <a:ext cx="11155680" cy="1417320"/>
          </a:xfrm>
          <a:prstGeom prst="rect">
            <a:avLst/>
          </a:prstGeom>
          <a:noFill/>
          <a:ln/>
        </p:spPr>
        <p:txBody>
          <a:bodyPr wrap="square" lIns="0" tIns="0" rIns="0" bIns="0" rtlCol="0" anchor="t"/>
          <a:lstStyle/>
          <a:p>
            <a:pPr indent="0" marL="0">
              <a:buNone/>
            </a:pPr>
            <a:r>
              <a:rPr lang="en-US" sz="1600" dirty="0">
                <a:solidFill>
                  <a:srgbClr val="334155"/>
                </a:solidFill>
              </a:rPr>
              <a:t>git status is the most important command. It tells you which files are new, which are modified, and which are staged. Run it before git add and before git commit. In the lab you will see a file go from “untracked” to “staged” to “clean”.</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2514600"/>
          <a:ext cx="11173968" cy="914400"/>
        </p:xfrm>
        <a:graphic>
          <a:graphicData uri="http://schemas.openxmlformats.org/drawingml/2006/table">
            <a:tbl>
              <a:tblPr/>
              <a:tblGrid>
                <a:gridCol w="2560320"/>
                <a:gridCol w="4114800"/>
                <a:gridCol w="449884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Status word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you do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Untracked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has never saved this file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add it — or add it to .gitignore if it is junk/secret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Modified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knows the file; you changed it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diff to read the change, then add if you want it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Staged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Chosen for the next commit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commit, or git restore --staged file to unstage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Clean / nothing to commit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Working tree matches last commit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You can pull or start a new branch</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Staging: git add is a choice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Why add exists</a:t>
            </a:r>
            <a:endParaRPr lang="en-US" sz="1100" dirty="0"/>
          </a:p>
        </p:txBody>
      </p:sp>
      <p:sp>
        <p:nvSpPr>
          <p:cNvPr id="4" name="Text 2"/>
          <p:cNvSpPr txBox="1"/>
          <p:nvPr/>
        </p:nvSpPr>
        <p:spPr>
          <a:xfrm>
            <a:off x="502920" y="987552"/>
            <a:ext cx="11155680" cy="1280160"/>
          </a:xfrm>
          <a:prstGeom prst="rect">
            <a:avLst/>
          </a:prstGeom>
          <a:noFill/>
          <a:ln/>
        </p:spPr>
        <p:txBody>
          <a:bodyPr wrap="square" lIns="0" tIns="0" rIns="0" bIns="0" rtlCol="0" anchor="t"/>
          <a:lstStyle/>
          <a:p>
            <a:pPr indent="0" marL="0">
              <a:buNone/>
            </a:pPr>
            <a:r>
              <a:rPr lang="en-US" sz="1600" dirty="0">
                <a:solidFill>
                  <a:srgbClr val="334155"/>
                </a:solidFill>
              </a:rPr>
              <a:t>You can edit five files and commit only two. That is the point of staging. git add notes.txt stages one file. git add . stages everything not ignored — including a secret if you were careless.</a:t>
            </a:r>
            <a:endParaRPr lang="en-US" sz="1600" dirty="0"/>
          </a:p>
        </p:txBody>
      </p:sp>
      <p:sp>
        <p:nvSpPr>
          <p:cNvPr id="5" name="Shape 3"/>
          <p:cNvSpPr/>
          <p:nvPr/>
        </p:nvSpPr>
        <p:spPr>
          <a:xfrm>
            <a:off x="502920" y="2377440"/>
            <a:ext cx="5532120" cy="3840480"/>
          </a:xfrm>
          <a:prstGeom prst="roundRect">
            <a:avLst>
              <a:gd name="adj" fmla="val 1905"/>
            </a:avLst>
          </a:prstGeom>
          <a:solidFill>
            <a:srgbClr val="ECFDF5"/>
          </a:solidFill>
          <a:ln/>
        </p:spPr>
      </p:sp>
      <p:sp>
        <p:nvSpPr>
          <p:cNvPr id="6" name="Text 4"/>
          <p:cNvSpPr txBox="1"/>
          <p:nvPr/>
        </p:nvSpPr>
        <p:spPr>
          <a:xfrm>
            <a:off x="667512" y="2487168"/>
            <a:ext cx="5202936" cy="292608"/>
          </a:xfrm>
          <a:prstGeom prst="rect">
            <a:avLst/>
          </a:prstGeom>
          <a:noFill/>
          <a:ln/>
        </p:spPr>
        <p:txBody>
          <a:bodyPr wrap="square" lIns="0" tIns="0" rIns="0" bIns="0" rtlCol="0" anchor="ctr"/>
          <a:lstStyle/>
          <a:p>
            <a:pPr indent="0" marL="0">
              <a:buNone/>
            </a:pPr>
            <a:r>
              <a:rPr lang="en-US" sz="1300" b="1" dirty="0">
                <a:solidFill>
                  <a:srgbClr val="0F766E"/>
                </a:solidFill>
              </a:rPr>
              <a:t>Do this</a:t>
            </a:r>
            <a:endParaRPr lang="en-US" sz="1300" dirty="0"/>
          </a:p>
        </p:txBody>
      </p:sp>
      <p:sp>
        <p:nvSpPr>
          <p:cNvPr id="7" name="Text 5"/>
          <p:cNvSpPr txBox="1"/>
          <p:nvPr/>
        </p:nvSpPr>
        <p:spPr>
          <a:xfrm>
            <a:off x="667512" y="2798064"/>
            <a:ext cx="5202936" cy="3291840"/>
          </a:xfrm>
          <a:prstGeom prst="rect">
            <a:avLst/>
          </a:prstGeom>
          <a:noFill/>
          <a:ln/>
        </p:spPr>
        <p:txBody>
          <a:bodyPr wrap="square" lIns="0" tIns="0" rIns="0" bIns="0" rtlCol="0" anchor="t"/>
          <a:lstStyle/>
          <a:p>
            <a:pPr indent="0" marL="0">
              <a:buNone/>
            </a:pPr>
            <a:r>
              <a:rPr lang="en-US" sz="1400" dirty="0">
                <a:solidFill>
                  <a:srgbClr val="334155"/>
                </a:solidFill>
              </a:rPr>
              <a:t>git status</a:t>
            </a:r>
            <a:endParaRPr lang="en-US" sz="1400" dirty="0"/>
          </a:p>
          <a:p>
            <a:pPr indent="0" marL="0">
              <a:buNone/>
            </a:pPr>
            <a:r>
              <a:rPr lang="en-US" sz="1400" dirty="0">
                <a:solidFill>
                  <a:srgbClr val="334155"/>
                </a:solidFill>
              </a:rPr>
              <a:t>git add notes.txt</a:t>
            </a:r>
            <a:endParaRPr lang="en-US" sz="1400" dirty="0"/>
          </a:p>
          <a:p>
            <a:pPr indent="0" marL="0">
              <a:buNone/>
            </a:pPr>
            <a:r>
              <a:rPr lang="en-US" sz="1400" dirty="0">
                <a:solidFill>
                  <a:srgbClr val="334155"/>
                </a:solidFill>
              </a:rPr>
              <a:t>git status</a:t>
            </a:r>
            <a:endParaRPr lang="en-US" sz="1400" dirty="0"/>
          </a:p>
          <a:p>
            <a:pPr indent="0" marL="0">
              <a:buNone/>
            </a:pPr>
            <a:r>
              <a:rPr lang="en-US" sz="1400" dirty="0">
                <a:solidFill>
                  <a:srgbClr val="334155"/>
                </a:solidFill>
              </a:rPr>
              <a:t>git commit -m "Add my course note"</a:t>
            </a:r>
            <a:endParaRPr lang="en-US" sz="1400" dirty="0"/>
          </a:p>
          <a:p>
            <a:pPr indent="0" marL="0">
              <a:buNone/>
            </a:pPr>
            <a:endParaRPr lang="en-US" sz="1400" dirty="0"/>
          </a:p>
          <a:p>
            <a:pPr indent="0" marL="0">
              <a:buNone/>
            </a:pPr>
            <a:r>
              <a:rPr lang="en-US" sz="1400" dirty="0">
                <a:solidFill>
                  <a:srgbClr val="334155"/>
                </a:solidFill>
              </a:rPr>
              <a:t>You saw exactly what would be committed.</a:t>
            </a:r>
            <a:endParaRPr lang="en-US" sz="1400" dirty="0"/>
          </a:p>
        </p:txBody>
      </p:sp>
      <p:sp>
        <p:nvSpPr>
          <p:cNvPr id="8" name="Shape 6"/>
          <p:cNvSpPr/>
          <p:nvPr/>
        </p:nvSpPr>
        <p:spPr>
          <a:xfrm>
            <a:off x="6217920" y="2377440"/>
            <a:ext cx="5440680" cy="3840480"/>
          </a:xfrm>
          <a:prstGeom prst="roundRect">
            <a:avLst>
              <a:gd name="adj" fmla="val 1905"/>
            </a:avLst>
          </a:prstGeom>
          <a:solidFill>
            <a:srgbClr val="FEF3C7"/>
          </a:solidFill>
          <a:ln/>
        </p:spPr>
      </p:sp>
      <p:sp>
        <p:nvSpPr>
          <p:cNvPr id="9" name="Text 7"/>
          <p:cNvSpPr txBox="1"/>
          <p:nvPr/>
        </p:nvSpPr>
        <p:spPr>
          <a:xfrm>
            <a:off x="6382512" y="2487168"/>
            <a:ext cx="5111496" cy="292608"/>
          </a:xfrm>
          <a:prstGeom prst="rect">
            <a:avLst/>
          </a:prstGeom>
          <a:noFill/>
          <a:ln/>
        </p:spPr>
        <p:txBody>
          <a:bodyPr wrap="square" lIns="0" tIns="0" rIns="0" bIns="0" rtlCol="0" anchor="ctr"/>
          <a:lstStyle/>
          <a:p>
            <a:pPr indent="0" marL="0">
              <a:buNone/>
            </a:pPr>
            <a:r>
              <a:rPr lang="en-US" sz="1300" b="1" dirty="0">
                <a:solidFill>
                  <a:srgbClr val="B45309"/>
                </a:solidFill>
              </a:rPr>
              <a:t>Be careful</a:t>
            </a:r>
            <a:endParaRPr lang="en-US" sz="1300" dirty="0"/>
          </a:p>
        </p:txBody>
      </p:sp>
      <p:sp>
        <p:nvSpPr>
          <p:cNvPr id="10" name="Text 8"/>
          <p:cNvSpPr txBox="1"/>
          <p:nvPr/>
        </p:nvSpPr>
        <p:spPr>
          <a:xfrm>
            <a:off x="6382512" y="2798064"/>
            <a:ext cx="5111496" cy="3291840"/>
          </a:xfrm>
          <a:prstGeom prst="rect">
            <a:avLst/>
          </a:prstGeom>
          <a:noFill/>
          <a:ln/>
        </p:spPr>
        <p:txBody>
          <a:bodyPr wrap="square" lIns="0" tIns="0" rIns="0" bIns="0" rtlCol="0" anchor="t"/>
          <a:lstStyle/>
          <a:p>
            <a:pPr indent="0" marL="0">
              <a:buNone/>
            </a:pPr>
            <a:r>
              <a:rPr lang="en-US" sz="1400" dirty="0">
                <a:solidFill>
                  <a:srgbClr val="334155"/>
                </a:solidFill>
              </a:rPr>
              <a:t>git add .</a:t>
            </a:r>
            <a:endParaRPr lang="en-US" sz="1400" dirty="0"/>
          </a:p>
          <a:p>
            <a:pPr indent="0" marL="0">
              <a:buNone/>
            </a:pPr>
            <a:endParaRPr lang="en-US" sz="1400" dirty="0"/>
          </a:p>
          <a:p>
            <a:pPr indent="0" marL="0">
              <a:buNone/>
            </a:pPr>
            <a:r>
              <a:rPr lang="en-US" sz="1400" dirty="0">
                <a:solidFill>
                  <a:srgbClr val="334155"/>
                </a:solidFill>
              </a:rPr>
              <a:t>Fast, and dangerous for beginners. It can stage .env, a key file, or a huge log.</a:t>
            </a:r>
            <a:endParaRPr lang="en-US" sz="1400" dirty="0"/>
          </a:p>
          <a:p>
            <a:pPr indent="0" marL="0">
              <a:buNone/>
            </a:pPr>
            <a:endParaRPr lang="en-US" sz="1400" dirty="0"/>
          </a:p>
          <a:p>
            <a:pPr indent="0" marL="0">
              <a:buNone/>
            </a:pPr>
            <a:r>
              <a:rPr lang="en-US" sz="1400" dirty="0">
                <a:solidFill>
                  <a:srgbClr val="334155"/>
                </a:solidFill>
              </a:rPr>
              <a:t>If status shows a file you do not understand, do not add it.</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git commit — a snapshot with a message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commit</a:t>
            </a:r>
            <a:endParaRPr lang="en-US" sz="1100" dirty="0"/>
          </a:p>
        </p:txBody>
      </p:sp>
      <p:sp>
        <p:nvSpPr>
          <p:cNvPr id="4" name="Text 2"/>
          <p:cNvSpPr txBox="1"/>
          <p:nvPr/>
        </p:nvSpPr>
        <p:spPr>
          <a:xfrm>
            <a:off x="502920" y="987552"/>
            <a:ext cx="11155680" cy="1325880"/>
          </a:xfrm>
          <a:prstGeom prst="rect">
            <a:avLst/>
          </a:prstGeom>
          <a:noFill/>
          <a:ln/>
        </p:spPr>
        <p:txBody>
          <a:bodyPr wrap="square" lIns="0" tIns="0" rIns="0" bIns="0" rtlCol="0" anchor="t"/>
          <a:lstStyle/>
          <a:p>
            <a:pPr indent="0" marL="0">
              <a:buNone/>
            </a:pPr>
            <a:r>
              <a:rPr lang="en-US" sz="1600" dirty="0">
                <a:solidFill>
                  <a:srgbClr val="334155"/>
                </a:solidFill>
              </a:rPr>
              <a:t>A commit is a snapshot of the staged files, plus: who you are, the time, a message, and a pointer to the previous commit. History is a chain. The message is for humans in six months, including you.</a:t>
            </a:r>
            <a:endParaRPr lang="en-US" sz="1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2423160"/>
          <a:ext cx="11173968" cy="914400"/>
        </p:xfrm>
        <a:graphic>
          <a:graphicData uri="http://schemas.openxmlformats.org/drawingml/2006/table">
            <a:tbl>
              <a:tblPr/>
              <a:tblGrid>
                <a:gridCol w="2194560"/>
                <a:gridCol w="4937760"/>
                <a:gridCol w="404164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Bad message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Good message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fix</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Fix typo in notes-api README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Says what and where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asdf</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Add .gitignore so .env is never committed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Future you can search this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final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Explain GitHub PR steps in README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There is no final in Git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6" name="Text 3"/>
          <p:cNvSpPr txBox="1"/>
          <p:nvPr/>
        </p:nvSpPr>
        <p:spPr>
          <a:xfrm>
            <a:off x="502920" y="5623560"/>
            <a:ext cx="11155680" cy="640080"/>
          </a:xfrm>
          <a:prstGeom prst="rect">
            <a:avLst/>
          </a:prstGeom>
          <a:noFill/>
          <a:ln/>
        </p:spPr>
        <p:txBody>
          <a:bodyPr wrap="square" lIns="0" tIns="0" rIns="0" bIns="0" rtlCol="0" anchor="ctr"/>
          <a:lstStyle/>
          <a:p>
            <a:pPr indent="0" marL="0">
              <a:buNone/>
            </a:pPr>
            <a:r>
              <a:rPr lang="en-US" sz="1500" dirty="0">
                <a:solidFill>
                  <a:srgbClr val="334155"/>
                </a:solidFill>
              </a:rPr>
              <a:t>Pattern: start with a verb — Add, Fix, Remove, Explain. One commit = one idea, not “all the files I touched today”.</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git log and git diff — see history and changes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log and diff</a:t>
            </a:r>
            <a:endParaRPr lang="en-US" sz="1100" dirty="0"/>
          </a:p>
        </p:txBody>
      </p:sp>
      <p:sp>
        <p:nvSpPr>
          <p:cNvPr id="4" name="Shape 2"/>
          <p:cNvSpPr/>
          <p:nvPr/>
        </p:nvSpPr>
        <p:spPr>
          <a:xfrm>
            <a:off x="502920" y="1005840"/>
            <a:ext cx="5532120" cy="5212080"/>
          </a:xfrm>
          <a:prstGeom prst="roundRect">
            <a:avLst>
              <a:gd name="adj" fmla="val 1404"/>
            </a:avLst>
          </a:prstGeom>
          <a:solidFill>
            <a:srgbClr val="F1F5F9"/>
          </a:solidFill>
          <a:ln/>
        </p:spPr>
      </p:sp>
      <p:sp>
        <p:nvSpPr>
          <p:cNvPr id="5" name="Text 3"/>
          <p:cNvSpPr txBox="1"/>
          <p:nvPr/>
        </p:nvSpPr>
        <p:spPr>
          <a:xfrm>
            <a:off x="667512" y="1115568"/>
            <a:ext cx="5202936" cy="292608"/>
          </a:xfrm>
          <a:prstGeom prst="rect">
            <a:avLst/>
          </a:prstGeom>
          <a:noFill/>
          <a:ln/>
        </p:spPr>
        <p:txBody>
          <a:bodyPr wrap="square" lIns="0" tIns="0" rIns="0" bIns="0" rtlCol="0" anchor="ctr"/>
          <a:lstStyle/>
          <a:p>
            <a:pPr indent="0" marL="0">
              <a:buNone/>
            </a:pPr>
            <a:r>
              <a:rPr lang="en-US" sz="1300" b="1" dirty="0">
                <a:solidFill>
                  <a:srgbClr val="0F172A"/>
                </a:solidFill>
              </a:rPr>
              <a:t>git log --oneline</a:t>
            </a:r>
            <a:endParaRPr lang="en-US" sz="1300" dirty="0"/>
          </a:p>
        </p:txBody>
      </p:sp>
      <p:sp>
        <p:nvSpPr>
          <p:cNvPr id="6" name="Text 4"/>
          <p:cNvSpPr txBox="1"/>
          <p:nvPr/>
        </p:nvSpPr>
        <p:spPr>
          <a:xfrm>
            <a:off x="667512" y="1426464"/>
            <a:ext cx="5202936" cy="4663440"/>
          </a:xfrm>
          <a:prstGeom prst="rect">
            <a:avLst/>
          </a:prstGeom>
          <a:noFill/>
          <a:ln/>
        </p:spPr>
        <p:txBody>
          <a:bodyPr wrap="square" lIns="0" tIns="0" rIns="0" bIns="0" rtlCol="0" anchor="t"/>
          <a:lstStyle/>
          <a:p>
            <a:pPr indent="0" marL="0">
              <a:buNone/>
            </a:pPr>
            <a:r>
              <a:rPr lang="en-US" sz="1400" dirty="0">
                <a:solidFill>
                  <a:srgbClr val="334155"/>
                </a:solidFill>
              </a:rPr>
              <a:t>Shows one line per commit: a short id and the message.</a:t>
            </a:r>
            <a:endParaRPr lang="en-US" sz="1400" dirty="0"/>
          </a:p>
          <a:p>
            <a:pPr indent="0" marL="0">
              <a:buNone/>
            </a:pPr>
            <a:endParaRPr lang="en-US" sz="1400" dirty="0"/>
          </a:p>
          <a:p>
            <a:pPr indent="0" marL="0">
              <a:buNone/>
            </a:pPr>
            <a:r>
              <a:rPr lang="en-US" sz="1400" dirty="0">
                <a:solidFill>
                  <a:srgbClr val="334155"/>
                </a:solidFill>
              </a:rPr>
              <a:t>Use it to answer: “what did we ship?” and “what was the last change?”</a:t>
            </a:r>
            <a:endParaRPr lang="en-US" sz="1400" dirty="0"/>
          </a:p>
          <a:p>
            <a:pPr indent="0" marL="0">
              <a:buNone/>
            </a:pPr>
            <a:endParaRPr lang="en-US" sz="1400" dirty="0"/>
          </a:p>
          <a:p>
            <a:pPr indent="0" marL="0">
              <a:buNone/>
            </a:pPr>
            <a:r>
              <a:rPr lang="en-US" sz="1400" dirty="0">
                <a:solidFill>
                  <a:srgbClr val="334155"/>
                </a:solidFill>
              </a:rPr>
              <a:t>git log (without --oneline) shows author and date too. Scroll with Enter; quit with q.</a:t>
            </a:r>
            <a:endParaRPr lang="en-US" sz="1400" dirty="0"/>
          </a:p>
        </p:txBody>
      </p:sp>
      <p:sp>
        <p:nvSpPr>
          <p:cNvPr id="7" name="Shape 5"/>
          <p:cNvSpPr/>
          <p:nvPr/>
        </p:nvSpPr>
        <p:spPr>
          <a:xfrm>
            <a:off x="6217920" y="1005840"/>
            <a:ext cx="5440680" cy="5212080"/>
          </a:xfrm>
          <a:prstGeom prst="roundRect">
            <a:avLst>
              <a:gd name="adj" fmla="val 1404"/>
            </a:avLst>
          </a:prstGeom>
          <a:solidFill>
            <a:srgbClr val="ECFDF5"/>
          </a:solidFill>
          <a:ln/>
        </p:spPr>
      </p:sp>
      <p:sp>
        <p:nvSpPr>
          <p:cNvPr id="8" name="Text 6"/>
          <p:cNvSpPr txBox="1"/>
          <p:nvPr/>
        </p:nvSpPr>
        <p:spPr>
          <a:xfrm>
            <a:off x="6382512" y="1115568"/>
            <a:ext cx="5111496" cy="292608"/>
          </a:xfrm>
          <a:prstGeom prst="rect">
            <a:avLst/>
          </a:prstGeom>
          <a:noFill/>
          <a:ln/>
        </p:spPr>
        <p:txBody>
          <a:bodyPr wrap="square" lIns="0" tIns="0" rIns="0" bIns="0" rtlCol="0" anchor="ctr"/>
          <a:lstStyle/>
          <a:p>
            <a:pPr indent="0" marL="0">
              <a:buNone/>
            </a:pPr>
            <a:r>
              <a:rPr lang="en-US" sz="1300" b="1" dirty="0">
                <a:solidFill>
                  <a:srgbClr val="0F766E"/>
                </a:solidFill>
              </a:rPr>
              <a:t>git diff</a:t>
            </a:r>
            <a:endParaRPr lang="en-US" sz="1300" dirty="0"/>
          </a:p>
        </p:txBody>
      </p:sp>
      <p:sp>
        <p:nvSpPr>
          <p:cNvPr id="9" name="Text 7"/>
          <p:cNvSpPr txBox="1"/>
          <p:nvPr/>
        </p:nvSpPr>
        <p:spPr>
          <a:xfrm>
            <a:off x="6382512" y="1426464"/>
            <a:ext cx="5111496" cy="4663440"/>
          </a:xfrm>
          <a:prstGeom prst="rect">
            <a:avLst/>
          </a:prstGeom>
          <a:noFill/>
          <a:ln/>
        </p:spPr>
        <p:txBody>
          <a:bodyPr wrap="square" lIns="0" tIns="0" rIns="0" bIns="0" rtlCol="0" anchor="t"/>
          <a:lstStyle/>
          <a:p>
            <a:pPr indent="0" marL="0">
              <a:buNone/>
            </a:pPr>
            <a:r>
              <a:rPr lang="en-US" sz="1400" dirty="0">
                <a:solidFill>
                  <a:srgbClr val="334155"/>
                </a:solidFill>
              </a:rPr>
              <a:t>Shows the unstaged edits: lines starting with + were added, lines with - were removed.</a:t>
            </a:r>
            <a:endParaRPr lang="en-US" sz="1400" dirty="0"/>
          </a:p>
          <a:p>
            <a:pPr indent="0" marL="0">
              <a:buNone/>
            </a:pPr>
            <a:endParaRPr lang="en-US" sz="1400" dirty="0"/>
          </a:p>
          <a:p>
            <a:pPr indent="0" marL="0">
              <a:buNone/>
            </a:pPr>
            <a:r>
              <a:rPr lang="en-US" sz="1400" dirty="0">
                <a:solidFill>
                  <a:srgbClr val="334155"/>
                </a:solidFill>
              </a:rPr>
              <a:t>git diff --staged shows what is already in staging, about to be committed.</a:t>
            </a:r>
            <a:endParaRPr lang="en-US" sz="1400" dirty="0"/>
          </a:p>
          <a:p>
            <a:pPr indent="0" marL="0">
              <a:buNone/>
            </a:pPr>
            <a:endParaRPr lang="en-US" sz="1400" dirty="0"/>
          </a:p>
          <a:p>
            <a:pPr indent="0" marL="0">
              <a:buNone/>
            </a:pPr>
            <a:r>
              <a:rPr lang="en-US" sz="1400" dirty="0">
                <a:solidFill>
                  <a:srgbClr val="334155"/>
                </a:solidFill>
              </a:rPr>
              <a:t>If diff is empty but you edited a file, you already staged it — check status.</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Undo uncommitted work: git restore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Safe undo</a:t>
            </a:r>
            <a:endParaRPr lang="en-US" sz="1100" dirty="0"/>
          </a:p>
        </p:txBody>
      </p:sp>
      <p:sp>
        <p:nvSpPr>
          <p:cNvPr id="4" name="Text 2"/>
          <p:cNvSpPr txBox="1"/>
          <p:nvPr/>
        </p:nvSpPr>
        <p:spPr>
          <a:xfrm>
            <a:off x="502920" y="987552"/>
            <a:ext cx="11155680" cy="1371600"/>
          </a:xfrm>
          <a:prstGeom prst="rect">
            <a:avLst/>
          </a:prstGeom>
          <a:noFill/>
          <a:ln/>
        </p:spPr>
        <p:txBody>
          <a:bodyPr wrap="square" lIns="0" tIns="0" rIns="0" bIns="0" rtlCol="0" anchor="t"/>
          <a:lstStyle/>
          <a:p>
            <a:pPr indent="0" marL="0">
              <a:buNone/>
            </a:pPr>
            <a:r>
              <a:rPr lang="en-US" sz="1600" dirty="0">
                <a:solidFill>
                  <a:srgbClr val="334155"/>
                </a:solidFill>
              </a:rPr>
              <a:t>You edited the wrong file and have not committed. git restore notes.txt throws away those edits and puts back the last committed version. This is allowed because nobody else has your uncommitted typing.</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2468880"/>
          <a:ext cx="11173968" cy="914400"/>
        </p:xfrm>
        <a:graphic>
          <a:graphicData uri="http://schemas.openxmlformats.org/drawingml/2006/table">
            <a:tbl>
              <a:tblPr/>
              <a:tblGrid>
                <a:gridCol w="3840480"/>
                <a:gridCol w="3657600"/>
                <a:gridCol w="367588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Situation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Command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Never do this (yet)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I edited a file, not committed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restore file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Do not reboot the PC to “undo”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I staged a file by mistake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restore --staged file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The file stays; it just leaves staging</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I already pushed a bad commit to GitHub</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Fix with a new commit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Do not git push --force on a shared branch</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6" name="Text 3"/>
          <p:cNvSpPr txBox="1"/>
          <p:nvPr/>
        </p:nvSpPr>
        <p:spPr>
          <a:xfrm>
            <a:off x="502920" y="5669280"/>
            <a:ext cx="11155680" cy="594360"/>
          </a:xfrm>
          <a:prstGeom prst="rect">
            <a:avLst/>
          </a:prstGeom>
          <a:noFill/>
          <a:ln/>
        </p:spPr>
        <p:txBody>
          <a:bodyPr wrap="square" lIns="0" tIns="0" rIns="0" bIns="0" rtlCol="0" anchor="ctr"/>
          <a:lstStyle/>
          <a:p>
            <a:pPr indent="0" marL="0">
              <a:buNone/>
            </a:pPr>
            <a:r>
              <a:rPr lang="en-US" sz="1500" dirty="0">
                <a:solidFill>
                  <a:srgbClr val="334155"/>
                </a:solidFill>
              </a:rPr>
              <a:t>We do not teach rebase or history rewriting today. Shared history that others pulled is not yours to secretly change.</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What must never be committed</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Secrets</a:t>
            </a:r>
            <a:endParaRPr lang="en-US" sz="1100" dirty="0"/>
          </a:p>
        </p:txBody>
      </p:sp>
      <p:sp>
        <p:nvSpPr>
          <p:cNvPr id="4" name="Text 2"/>
          <p:cNvSpPr txBox="1"/>
          <p:nvPr/>
        </p:nvSpPr>
        <p:spPr>
          <a:xfrm>
            <a:off x="502920" y="960120"/>
            <a:ext cx="11155680" cy="1325880"/>
          </a:xfrm>
          <a:prstGeom prst="rect">
            <a:avLst/>
          </a:prstGeom>
          <a:noFill/>
          <a:ln/>
        </p:spPr>
        <p:txBody>
          <a:bodyPr wrap="square" lIns="0" tIns="0" rIns="0" bIns="0" rtlCol="0" anchor="t"/>
          <a:lstStyle/>
          <a:p>
            <a:pPr indent="0" marL="0">
              <a:buNone/>
            </a:pPr>
            <a:r>
              <a:rPr lang="en-US" sz="1600" dirty="0">
                <a:solidFill>
                  <a:srgbClr val="334155"/>
                </a:solidFill>
              </a:rPr>
              <a:t>Git history keeps files forever unless you do advanced surgery. If you commit a cloud key and then delete it in the next commit, the key is still in the old snapshot. Anyone with clone access can find it. Rotate the key (make a new one, disable the old one).</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11173968" cy="914400"/>
        </p:xfrm>
        <a:graphic>
          <a:graphicData uri="http://schemas.openxmlformats.org/drawingml/2006/table">
            <a:tbl>
              <a:tblPr/>
              <a:tblGrid>
                <a:gridCol w="5586984"/>
                <a:gridCol w="5586984"/>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Never commit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Safe to commit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.env with real tokens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.env.example with replace-me values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AWS access key, password, private .pem</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Documentation of which env var the app needs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.venv/, node_modules/ (huge, regenerable)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requirements.txt or package.json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id_rsa private SSH key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README that says “use SSH or HTTPS”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.gitignore tells Git to skip files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gitignore</a:t>
            </a:r>
            <a:endParaRPr lang="en-US" sz="1100" dirty="0"/>
          </a:p>
        </p:txBody>
      </p:sp>
      <p:sp>
        <p:nvSpPr>
          <p:cNvPr id="4" name="Text 2"/>
          <p:cNvSpPr txBox="1"/>
          <p:nvPr/>
        </p:nvSpPr>
        <p:spPr>
          <a:xfrm>
            <a:off x="502920" y="987552"/>
            <a:ext cx="11155680" cy="1234440"/>
          </a:xfrm>
          <a:prstGeom prst="rect">
            <a:avLst/>
          </a:prstGeom>
          <a:noFill/>
          <a:ln/>
        </p:spPr>
        <p:txBody>
          <a:bodyPr wrap="square" lIns="0" tIns="0" rIns="0" bIns="0" rtlCol="0" anchor="t"/>
          <a:lstStyle/>
          <a:p>
            <a:pPr indent="0" marL="0">
              <a:buNone/>
            </a:pPr>
            <a:r>
              <a:rPr lang="en-US" sz="1600" dirty="0">
                <a:solidFill>
                  <a:srgbClr val="334155"/>
                </a:solidFill>
              </a:rPr>
              <a:t>A file named .gitignore lists patterns. Git will not show those files as “please add me”. You still must not git add -f a secret. Our notes-api starter already ignores .env, keys, and .venv.</a:t>
            </a:r>
            <a:endParaRPr lang="en-US" sz="1600" dirty="0"/>
          </a:p>
        </p:txBody>
      </p:sp>
      <p:sp>
        <p:nvSpPr>
          <p:cNvPr id="5" name="Shape 3"/>
          <p:cNvSpPr/>
          <p:nvPr/>
        </p:nvSpPr>
        <p:spPr>
          <a:xfrm>
            <a:off x="502920" y="2331720"/>
            <a:ext cx="11155680" cy="3886200"/>
          </a:xfrm>
          <a:prstGeom prst="roundRect">
            <a:avLst>
              <a:gd name="adj" fmla="val 1882"/>
            </a:avLst>
          </a:prstGeom>
          <a:solidFill>
            <a:srgbClr val="0F172A"/>
          </a:solidFill>
          <a:ln/>
        </p:spPr>
      </p:sp>
      <p:sp>
        <p:nvSpPr>
          <p:cNvPr id="6" name="Text 4"/>
          <p:cNvSpPr txBox="1"/>
          <p:nvPr/>
        </p:nvSpPr>
        <p:spPr>
          <a:xfrm>
            <a:off x="667512" y="2441448"/>
            <a:ext cx="10826496" cy="292608"/>
          </a:xfrm>
          <a:prstGeom prst="rect">
            <a:avLst/>
          </a:prstGeom>
          <a:noFill/>
          <a:ln/>
        </p:spPr>
        <p:txBody>
          <a:bodyPr wrap="square" lIns="0" tIns="0" rIns="0" bIns="0" rtlCol="0" anchor="ctr"/>
          <a:lstStyle/>
          <a:p>
            <a:pPr indent="0" marL="0">
              <a:buNone/>
            </a:pPr>
            <a:r>
              <a:rPr lang="en-US" sz="1300" b="1" dirty="0">
                <a:solidFill>
                  <a:srgbClr val="FFFFFF"/>
                </a:solidFill>
              </a:rPr>
              <a:t>Example .gitignore (already in notes-api)</a:t>
            </a:r>
            <a:endParaRPr lang="en-US" sz="1300" dirty="0"/>
          </a:p>
        </p:txBody>
      </p:sp>
      <p:sp>
        <p:nvSpPr>
          <p:cNvPr id="7" name="Text 5"/>
          <p:cNvSpPr txBox="1"/>
          <p:nvPr/>
        </p:nvSpPr>
        <p:spPr>
          <a:xfrm>
            <a:off x="667512" y="2752344"/>
            <a:ext cx="10826496" cy="3337560"/>
          </a:xfrm>
          <a:prstGeom prst="rect">
            <a:avLst/>
          </a:prstGeom>
          <a:noFill/>
          <a:ln/>
        </p:spPr>
        <p:txBody>
          <a:bodyPr wrap="square" lIns="0" tIns="0" rIns="0" bIns="0" rtlCol="0" anchor="t"/>
          <a:lstStyle/>
          <a:p>
            <a:pPr indent="0" marL="0">
              <a:buNone/>
            </a:pPr>
            <a:r>
              <a:rPr lang="en-US" sz="1400" dirty="0">
                <a:solidFill>
                  <a:srgbClr val="94A3B8"/>
                </a:solidFill>
              </a:rPr>
              <a:t>.env</a:t>
            </a:r>
            <a:endParaRPr lang="en-US" sz="1400" dirty="0"/>
          </a:p>
          <a:p>
            <a:pPr indent="0" marL="0">
              <a:buNone/>
            </a:pPr>
            <a:r>
              <a:rPr lang="en-US" sz="1400" dirty="0">
                <a:solidFill>
                  <a:srgbClr val="94A3B8"/>
                </a:solidFill>
              </a:rPr>
              <a:t>*.pem</a:t>
            </a:r>
            <a:endParaRPr lang="en-US" sz="1400" dirty="0"/>
          </a:p>
          <a:p>
            <a:pPr indent="0" marL="0">
              <a:buNone/>
            </a:pPr>
            <a:r>
              <a:rPr lang="en-US" sz="1400" dirty="0">
                <a:solidFill>
                  <a:srgbClr val="94A3B8"/>
                </a:solidFill>
              </a:rPr>
              <a:t>*.key</a:t>
            </a:r>
            <a:endParaRPr lang="en-US" sz="1400" dirty="0"/>
          </a:p>
          <a:p>
            <a:pPr indent="0" marL="0">
              <a:buNone/>
            </a:pPr>
            <a:r>
              <a:rPr lang="en-US" sz="1400" dirty="0">
                <a:solidFill>
                  <a:srgbClr val="94A3B8"/>
                </a:solidFill>
              </a:rPr>
              <a:t>.venv/</a:t>
            </a:r>
            <a:endParaRPr lang="en-US" sz="1400" dirty="0"/>
          </a:p>
          <a:p>
            <a:pPr indent="0" marL="0">
              <a:buNone/>
            </a:pPr>
            <a:r>
              <a:rPr lang="en-US" sz="1400" dirty="0">
                <a:solidFill>
                  <a:srgbClr val="94A3B8"/>
                </a:solidFill>
              </a:rPr>
              <a:t>node_modules/</a:t>
            </a:r>
            <a:endParaRPr lang="en-US" sz="1400" dirty="0"/>
          </a:p>
          <a:p>
            <a:pPr indent="0" marL="0">
              <a:buNone/>
            </a:pPr>
            <a:endParaRPr lang="en-US" sz="1400" dirty="0"/>
          </a:p>
          <a:p>
            <a:pPr indent="0" marL="0">
              <a:buNone/>
            </a:pPr>
            <a:r>
              <a:rPr lang="en-US" sz="1400" dirty="0">
                <a:solidFill>
                  <a:srgbClr val="94A3B8"/>
                </a:solidFill>
              </a:rPr>
              <a:t>Commit the .gitignore file itself. That is how the whole team gets the same protection.</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lIns="0" tIns="0" rIns="0" bIns="0" rtlCol="0"/>
          <a:lstStyle/>
          <a:p>
            <a:pPr indent="0" marL="0">
              <a:buNone/>
            </a:pPr>
            <a:r>
              <a:rPr lang="en-US" sz="3200" b="1" dirty="0">
                <a:solidFill>
                  <a:schemeClr val="bg1"/>
                </a:solidFill>
              </a:rPr>
              <a:t>Branches, remotes, and pull requests</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lIns="0" tIns="0" rIns="0" bIns="0" rtlCol="0"/>
          <a:lstStyle/>
          <a:p>
            <a:pPr indent="0" marL="0">
              <a:buNone/>
            </a:pPr>
            <a:r>
              <a:rPr lang="en-US" sz="1800" dirty="0">
                <a:solidFill>
                  <a:srgbClr val="94A3B8"/>
                </a:solidFill>
              </a:rPr>
              <a:t>This is how a team uses Git — not how a solo zip file worked</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Why branches exist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branches</a:t>
            </a:r>
            <a:endParaRPr lang="en-US" sz="1100" dirty="0"/>
          </a:p>
        </p:txBody>
      </p:sp>
      <p:sp>
        <p:nvSpPr>
          <p:cNvPr id="4" name="Text 2"/>
          <p:cNvSpPr txBox="1"/>
          <p:nvPr/>
        </p:nvSpPr>
        <p:spPr>
          <a:xfrm>
            <a:off x="502920" y="987552"/>
            <a:ext cx="11155680" cy="1417320"/>
          </a:xfrm>
          <a:prstGeom prst="rect">
            <a:avLst/>
          </a:prstGeom>
          <a:noFill/>
          <a:ln/>
        </p:spPr>
        <p:txBody>
          <a:bodyPr wrap="square" lIns="0" tIns="0" rIns="0" bIns="0" rtlCol="0" anchor="t"/>
          <a:lstStyle/>
          <a:p>
            <a:pPr indent="0" marL="0">
              <a:buNone/>
            </a:pPr>
            <a:r>
              <a:rPr lang="en-US" sz="1600" dirty="0">
                <a:solidFill>
                  <a:srgbClr val="334155"/>
                </a:solidFill>
              </a:rPr>
              <a:t>main (sometimes still called master) is the line you want to be always releasable. A feature branch is a copy of that line where you try an idea. If the idea is bad, you delete the branch. main stays clean. If the idea is good, you merge after a review.</a:t>
            </a:r>
            <a:endParaRPr lang="en-US" sz="1600" dirty="0"/>
          </a:p>
        </p:txBody>
      </p:sp>
      <p:sp>
        <p:nvSpPr>
          <p:cNvPr id="5" name="Shape 3"/>
          <p:cNvSpPr/>
          <p:nvPr/>
        </p:nvSpPr>
        <p:spPr>
          <a:xfrm>
            <a:off x="502920" y="2560320"/>
            <a:ext cx="3474720" cy="3611880"/>
          </a:xfrm>
          <a:prstGeom prst="roundRect">
            <a:avLst>
              <a:gd name="adj" fmla="val 2105"/>
            </a:avLst>
          </a:prstGeom>
          <a:solidFill>
            <a:srgbClr val="0F766E"/>
          </a:solidFill>
          <a:ln/>
        </p:spPr>
      </p:sp>
      <p:sp>
        <p:nvSpPr>
          <p:cNvPr id="6" name="Text 4"/>
          <p:cNvSpPr txBox="1"/>
          <p:nvPr/>
        </p:nvSpPr>
        <p:spPr>
          <a:xfrm>
            <a:off x="576072" y="2670048"/>
            <a:ext cx="3328416" cy="365760"/>
          </a:xfrm>
          <a:prstGeom prst="rect">
            <a:avLst/>
          </a:prstGeom>
          <a:noFill/>
          <a:ln/>
        </p:spPr>
        <p:txBody>
          <a:bodyPr wrap="square" lIns="0" tIns="0" rIns="0" bIns="0" rtlCol="0" anchor="ctr"/>
          <a:lstStyle/>
          <a:p>
            <a:pPr algn="ctr" indent="0" marL="0">
              <a:buNone/>
            </a:pPr>
            <a:r>
              <a:rPr lang="en-US" sz="1400" b="1" dirty="0">
                <a:solidFill>
                  <a:srgbClr val="FFFFFF"/>
                </a:solidFill>
              </a:rPr>
              <a:t>main</a:t>
            </a:r>
            <a:endParaRPr lang="en-US" sz="1400" dirty="0"/>
          </a:p>
        </p:txBody>
      </p:sp>
      <p:sp>
        <p:nvSpPr>
          <p:cNvPr id="7" name="Text 5"/>
          <p:cNvSpPr txBox="1"/>
          <p:nvPr/>
        </p:nvSpPr>
        <p:spPr>
          <a:xfrm>
            <a:off x="576072" y="3035808"/>
            <a:ext cx="3328416" cy="3044952"/>
          </a:xfrm>
          <a:prstGeom prst="rect">
            <a:avLst/>
          </a:prstGeom>
          <a:noFill/>
          <a:ln/>
        </p:spPr>
        <p:txBody>
          <a:bodyPr wrap="square" lIns="0" tIns="0" rIns="0" bIns="0" rtlCol="0" anchor="ctr"/>
          <a:lstStyle/>
          <a:p>
            <a:pPr algn="ctr" indent="0" marL="0">
              <a:buNone/>
            </a:pPr>
            <a:r>
              <a:rPr lang="en-US" sz="1200" dirty="0">
                <a:solidFill>
                  <a:srgbClr val="CCFBF1"/>
                </a:solidFill>
              </a:rPr>
              <a:t>The shared, protected line. Production should come from here later in the course.</a:t>
            </a:r>
            <a:endParaRPr lang="en-US" sz="1200" dirty="0"/>
          </a:p>
        </p:txBody>
      </p:sp>
      <p:sp>
        <p:nvSpPr>
          <p:cNvPr id="8" name="Shape 6"/>
          <p:cNvSpPr/>
          <p:nvPr/>
        </p:nvSpPr>
        <p:spPr>
          <a:xfrm>
            <a:off x="4297680" y="2560320"/>
            <a:ext cx="3474720" cy="3611880"/>
          </a:xfrm>
          <a:prstGeom prst="roundRect">
            <a:avLst>
              <a:gd name="adj" fmla="val 2105"/>
            </a:avLst>
          </a:prstGeom>
          <a:solidFill>
            <a:srgbClr val="ECFDF5"/>
          </a:solidFill>
          <a:ln/>
        </p:spPr>
      </p:sp>
      <p:sp>
        <p:nvSpPr>
          <p:cNvPr id="9" name="Text 7"/>
          <p:cNvSpPr txBox="1"/>
          <p:nvPr/>
        </p:nvSpPr>
        <p:spPr>
          <a:xfrm>
            <a:off x="4370832" y="2670048"/>
            <a:ext cx="3328416" cy="365760"/>
          </a:xfrm>
          <a:prstGeom prst="rect">
            <a:avLst/>
          </a:prstGeom>
          <a:noFill/>
          <a:ln/>
        </p:spPr>
        <p:txBody>
          <a:bodyPr wrap="square" lIns="0" tIns="0" rIns="0" bIns="0" rtlCol="0" anchor="ctr"/>
          <a:lstStyle/>
          <a:p>
            <a:pPr algn="ctr" indent="0" marL="0">
              <a:buNone/>
            </a:pPr>
            <a:r>
              <a:rPr lang="en-US" sz="1400" b="1" dirty="0">
                <a:solidFill>
                  <a:srgbClr val="0F766E"/>
                </a:solidFill>
              </a:rPr>
              <a:t>add-my-note</a:t>
            </a:r>
            <a:endParaRPr lang="en-US" sz="1400" dirty="0"/>
          </a:p>
        </p:txBody>
      </p:sp>
      <p:sp>
        <p:nvSpPr>
          <p:cNvPr id="10" name="Text 8"/>
          <p:cNvSpPr txBox="1"/>
          <p:nvPr/>
        </p:nvSpPr>
        <p:spPr>
          <a:xfrm>
            <a:off x="4370832" y="3035808"/>
            <a:ext cx="3328416" cy="3044952"/>
          </a:xfrm>
          <a:prstGeom prst="rect">
            <a:avLst/>
          </a:prstGeom>
          <a:noFill/>
          <a:ln/>
        </p:spPr>
        <p:txBody>
          <a:bodyPr wrap="square" lIns="0" tIns="0" rIns="0" bIns="0" rtlCol="0" anchor="ctr"/>
          <a:lstStyle/>
          <a:p>
            <a:pPr algn="ctr" indent="0" marL="0">
              <a:buNone/>
            </a:pPr>
            <a:r>
              <a:rPr lang="en-US" sz="1200" dirty="0">
                <a:solidFill>
                  <a:srgbClr val="334155"/>
                </a:solidFill>
              </a:rPr>
              <a:t>Your work. git checkout -b add-my-note. Commit here as many times as you need.</a:t>
            </a:r>
            <a:endParaRPr lang="en-US" sz="1200" dirty="0"/>
          </a:p>
        </p:txBody>
      </p:sp>
      <p:sp>
        <p:nvSpPr>
          <p:cNvPr id="11" name="Shape 9"/>
          <p:cNvSpPr/>
          <p:nvPr/>
        </p:nvSpPr>
        <p:spPr>
          <a:xfrm>
            <a:off x="8092440" y="2560320"/>
            <a:ext cx="3566160" cy="3611880"/>
          </a:xfrm>
          <a:prstGeom prst="roundRect">
            <a:avLst>
              <a:gd name="adj" fmla="val 2051"/>
            </a:avLst>
          </a:prstGeom>
          <a:solidFill>
            <a:srgbClr val="F1F5F9"/>
          </a:solidFill>
          <a:ln/>
        </p:spPr>
      </p:sp>
      <p:sp>
        <p:nvSpPr>
          <p:cNvPr id="12" name="Text 10"/>
          <p:cNvSpPr txBox="1"/>
          <p:nvPr/>
        </p:nvSpPr>
        <p:spPr>
          <a:xfrm>
            <a:off x="8165592" y="2670048"/>
            <a:ext cx="3419856" cy="365760"/>
          </a:xfrm>
          <a:prstGeom prst="rect">
            <a:avLst/>
          </a:prstGeom>
          <a:noFill/>
          <a:ln/>
        </p:spPr>
        <p:txBody>
          <a:bodyPr wrap="square" lIns="0" tIns="0" rIns="0" bIns="0" rtlCol="0" anchor="ctr"/>
          <a:lstStyle/>
          <a:p>
            <a:pPr algn="ctr" indent="0" marL="0">
              <a:buNone/>
            </a:pPr>
            <a:r>
              <a:rPr lang="en-US" sz="1400" b="1" dirty="0">
                <a:solidFill>
                  <a:srgbClr val="0F172A"/>
                </a:solidFill>
              </a:rPr>
              <a:t>Pull request</a:t>
            </a:r>
            <a:endParaRPr lang="en-US" sz="1400" dirty="0"/>
          </a:p>
        </p:txBody>
      </p:sp>
      <p:sp>
        <p:nvSpPr>
          <p:cNvPr id="13" name="Text 11"/>
          <p:cNvSpPr txBox="1"/>
          <p:nvPr/>
        </p:nvSpPr>
        <p:spPr>
          <a:xfrm>
            <a:off x="8165592" y="3035808"/>
            <a:ext cx="3419856" cy="3044952"/>
          </a:xfrm>
          <a:prstGeom prst="rect">
            <a:avLst/>
          </a:prstGeom>
          <a:noFill/>
          <a:ln/>
        </p:spPr>
        <p:txBody>
          <a:bodyPr wrap="square" lIns="0" tIns="0" rIns="0" bIns="0" rtlCol="0" anchor="ctr"/>
          <a:lstStyle/>
          <a:p>
            <a:pPr algn="ctr" indent="0" marL="0">
              <a:buNone/>
            </a:pPr>
            <a:r>
              <a:rPr lang="en-US" sz="1200" dirty="0">
                <a:solidFill>
                  <a:srgbClr val="334155"/>
                </a:solidFill>
              </a:rPr>
              <a:t>Ask GitHub to merge add-my-note into main after a human looks.</a:t>
            </a:r>
            <a:endParaRPr lang="en-US" sz="12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Branch commands you will type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branch commands</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024128"/>
          <a:ext cx="11173968" cy="914400"/>
        </p:xfrm>
        <a:graphic>
          <a:graphicData uri="http://schemas.openxmlformats.org/drawingml/2006/table">
            <a:tbl>
              <a:tblPr/>
              <a:tblGrid>
                <a:gridCol w="4389120"/>
                <a:gridCol w="678484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Command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 branch</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List branches. * shows the one you are on.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 checkout -b add-my-note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Create add-my-note from the current commit and switch to 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 checkout main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Switch back to main. Uncommitted files can follow you — commit or restore first.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 merge add-my-note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While on main: bring add-my-note’s commits into main. Local only until you push.</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 branch -d add-my-note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Delete the local branch after it is merged. Optional cleanup.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Diagram: GitHub Flow (what jobs expect)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the team loop</a:t>
            </a:r>
            <a:endParaRPr lang="en-US" sz="1100" dirty="0"/>
          </a:p>
        </p:txBody>
      </p:sp>
      <p:sp>
        <p:nvSpPr>
          <p:cNvPr id="4" name="Shape 2"/>
          <p:cNvSpPr/>
          <p:nvPr/>
        </p:nvSpPr>
        <p:spPr>
          <a:xfrm>
            <a:off x="457200" y="1097280"/>
            <a:ext cx="1847088" cy="2331720"/>
          </a:xfrm>
          <a:prstGeom prst="roundRect">
            <a:avLst>
              <a:gd name="adj" fmla="val 3960"/>
            </a:avLst>
          </a:prstGeom>
          <a:solidFill>
            <a:srgbClr val="F1F5F9"/>
          </a:solidFill>
          <a:ln/>
        </p:spPr>
      </p:sp>
      <p:sp>
        <p:nvSpPr>
          <p:cNvPr id="5" name="Text 3"/>
          <p:cNvSpPr txBox="1"/>
          <p:nvPr/>
        </p:nvSpPr>
        <p:spPr>
          <a:xfrm>
            <a:off x="530352" y="1207008"/>
            <a:ext cx="1700784" cy="365760"/>
          </a:xfrm>
          <a:prstGeom prst="rect">
            <a:avLst/>
          </a:prstGeom>
          <a:noFill/>
          <a:ln/>
        </p:spPr>
        <p:txBody>
          <a:bodyPr wrap="square" lIns="0" tIns="0" rIns="0" bIns="0" rtlCol="0" anchor="ctr"/>
          <a:lstStyle/>
          <a:p>
            <a:pPr algn="ctr" indent="0" marL="0">
              <a:buNone/>
            </a:pPr>
            <a:r>
              <a:rPr lang="en-US" sz="1400" b="1" dirty="0">
                <a:solidFill>
                  <a:srgbClr val="0F172A"/>
                </a:solidFill>
              </a:rPr>
              <a:t>1  Update main</a:t>
            </a:r>
            <a:endParaRPr lang="en-US" sz="1400" dirty="0"/>
          </a:p>
        </p:txBody>
      </p:sp>
      <p:sp>
        <p:nvSpPr>
          <p:cNvPr id="6" name="Text 4"/>
          <p:cNvSpPr txBox="1"/>
          <p:nvPr/>
        </p:nvSpPr>
        <p:spPr>
          <a:xfrm>
            <a:off x="530352" y="1572768"/>
            <a:ext cx="1700784" cy="1764792"/>
          </a:xfrm>
          <a:prstGeom prst="rect">
            <a:avLst/>
          </a:prstGeom>
          <a:noFill/>
          <a:ln/>
        </p:spPr>
        <p:txBody>
          <a:bodyPr wrap="square" lIns="0" tIns="0" rIns="0" bIns="0" rtlCol="0" anchor="ctr"/>
          <a:lstStyle/>
          <a:p>
            <a:pPr algn="ctr" indent="0" marL="0">
              <a:buNone/>
            </a:pPr>
            <a:r>
              <a:rPr lang="en-US" sz="1200" dirty="0">
                <a:solidFill>
                  <a:srgbClr val="334155"/>
                </a:solidFill>
              </a:rPr>
              <a:t>git checkout main then git pull</a:t>
            </a:r>
            <a:endParaRPr lang="en-US" sz="1200" dirty="0"/>
          </a:p>
        </p:txBody>
      </p:sp>
      <p:sp>
        <p:nvSpPr>
          <p:cNvPr id="7" name="Shape 5"/>
          <p:cNvSpPr/>
          <p:nvPr/>
        </p:nvSpPr>
        <p:spPr>
          <a:xfrm>
            <a:off x="2404872" y="1097280"/>
            <a:ext cx="1847088" cy="2331720"/>
          </a:xfrm>
          <a:prstGeom prst="roundRect">
            <a:avLst>
              <a:gd name="adj" fmla="val 3960"/>
            </a:avLst>
          </a:prstGeom>
          <a:solidFill>
            <a:srgbClr val="F1F5F9"/>
          </a:solidFill>
          <a:ln/>
        </p:spPr>
      </p:sp>
      <p:sp>
        <p:nvSpPr>
          <p:cNvPr id="8" name="Text 6"/>
          <p:cNvSpPr txBox="1"/>
          <p:nvPr/>
        </p:nvSpPr>
        <p:spPr>
          <a:xfrm>
            <a:off x="2478024" y="1207008"/>
            <a:ext cx="1700784" cy="365760"/>
          </a:xfrm>
          <a:prstGeom prst="rect">
            <a:avLst/>
          </a:prstGeom>
          <a:noFill/>
          <a:ln/>
        </p:spPr>
        <p:txBody>
          <a:bodyPr wrap="square" lIns="0" tIns="0" rIns="0" bIns="0" rtlCol="0" anchor="ctr"/>
          <a:lstStyle/>
          <a:p>
            <a:pPr algn="ctr" indent="0" marL="0">
              <a:buNone/>
            </a:pPr>
            <a:r>
              <a:rPr lang="en-US" sz="1400" b="1" dirty="0">
                <a:solidFill>
                  <a:srgbClr val="0F172A"/>
                </a:solidFill>
              </a:rPr>
              <a:t>2  New branch</a:t>
            </a:r>
            <a:endParaRPr lang="en-US" sz="1400" dirty="0"/>
          </a:p>
        </p:txBody>
      </p:sp>
      <p:sp>
        <p:nvSpPr>
          <p:cNvPr id="9" name="Text 7"/>
          <p:cNvSpPr txBox="1"/>
          <p:nvPr/>
        </p:nvSpPr>
        <p:spPr>
          <a:xfrm>
            <a:off x="2478024" y="1572768"/>
            <a:ext cx="1700784" cy="1764792"/>
          </a:xfrm>
          <a:prstGeom prst="rect">
            <a:avLst/>
          </a:prstGeom>
          <a:noFill/>
          <a:ln/>
        </p:spPr>
        <p:txBody>
          <a:bodyPr wrap="square" lIns="0" tIns="0" rIns="0" bIns="0" rtlCol="0" anchor="ctr"/>
          <a:lstStyle/>
          <a:p>
            <a:pPr algn="ctr" indent="0" marL="0">
              <a:buNone/>
            </a:pPr>
            <a:r>
              <a:rPr lang="en-US" sz="1200" dirty="0">
                <a:solidFill>
                  <a:srgbClr val="334155"/>
                </a:solidFill>
              </a:rPr>
              <a:t>git checkout -b feature-name</a:t>
            </a:r>
            <a:endParaRPr lang="en-US" sz="1200" dirty="0"/>
          </a:p>
        </p:txBody>
      </p:sp>
      <p:sp>
        <p:nvSpPr>
          <p:cNvPr id="10" name="Shape 8"/>
          <p:cNvSpPr/>
          <p:nvPr/>
        </p:nvSpPr>
        <p:spPr>
          <a:xfrm>
            <a:off x="4352544" y="1097280"/>
            <a:ext cx="1847088" cy="2331720"/>
          </a:xfrm>
          <a:prstGeom prst="roundRect">
            <a:avLst>
              <a:gd name="adj" fmla="val 3960"/>
            </a:avLst>
          </a:prstGeom>
          <a:solidFill>
            <a:srgbClr val="F1F5F9"/>
          </a:solidFill>
          <a:ln/>
        </p:spPr>
      </p:sp>
      <p:sp>
        <p:nvSpPr>
          <p:cNvPr id="11" name="Text 9"/>
          <p:cNvSpPr txBox="1"/>
          <p:nvPr/>
        </p:nvSpPr>
        <p:spPr>
          <a:xfrm>
            <a:off x="4425696" y="1207008"/>
            <a:ext cx="1700784" cy="365760"/>
          </a:xfrm>
          <a:prstGeom prst="rect">
            <a:avLst/>
          </a:prstGeom>
          <a:noFill/>
          <a:ln/>
        </p:spPr>
        <p:txBody>
          <a:bodyPr wrap="square" lIns="0" tIns="0" rIns="0" bIns="0" rtlCol="0" anchor="ctr"/>
          <a:lstStyle/>
          <a:p>
            <a:pPr algn="ctr" indent="0" marL="0">
              <a:buNone/>
            </a:pPr>
            <a:r>
              <a:rPr lang="en-US" sz="1400" b="1" dirty="0">
                <a:solidFill>
                  <a:srgbClr val="0F172A"/>
                </a:solidFill>
              </a:rPr>
              <a:t>3  Commit</a:t>
            </a:r>
            <a:endParaRPr lang="en-US" sz="1400" dirty="0"/>
          </a:p>
        </p:txBody>
      </p:sp>
      <p:sp>
        <p:nvSpPr>
          <p:cNvPr id="12" name="Text 10"/>
          <p:cNvSpPr txBox="1"/>
          <p:nvPr/>
        </p:nvSpPr>
        <p:spPr>
          <a:xfrm>
            <a:off x="4425696" y="1572768"/>
            <a:ext cx="1700784" cy="1764792"/>
          </a:xfrm>
          <a:prstGeom prst="rect">
            <a:avLst/>
          </a:prstGeom>
          <a:noFill/>
          <a:ln/>
        </p:spPr>
        <p:txBody>
          <a:bodyPr wrap="square" lIns="0" tIns="0" rIns="0" bIns="0" rtlCol="0" anchor="ctr"/>
          <a:lstStyle/>
          <a:p>
            <a:pPr algn="ctr" indent="0" marL="0">
              <a:buNone/>
            </a:pPr>
            <a:r>
              <a:rPr lang="en-US" sz="1200" dirty="0">
                <a:solidFill>
                  <a:srgbClr val="334155"/>
                </a:solidFill>
              </a:rPr>
              <a:t>edit, status, add, commit</a:t>
            </a:r>
            <a:endParaRPr lang="en-US" sz="1200" dirty="0"/>
          </a:p>
        </p:txBody>
      </p:sp>
      <p:sp>
        <p:nvSpPr>
          <p:cNvPr id="13" name="Shape 11"/>
          <p:cNvSpPr/>
          <p:nvPr/>
        </p:nvSpPr>
        <p:spPr>
          <a:xfrm>
            <a:off x="6300216" y="1097280"/>
            <a:ext cx="1847088" cy="2331720"/>
          </a:xfrm>
          <a:prstGeom prst="roundRect">
            <a:avLst>
              <a:gd name="adj" fmla="val 3960"/>
            </a:avLst>
          </a:prstGeom>
          <a:solidFill>
            <a:srgbClr val="F1F5F9"/>
          </a:solidFill>
          <a:ln/>
        </p:spPr>
      </p:sp>
      <p:sp>
        <p:nvSpPr>
          <p:cNvPr id="14" name="Text 12"/>
          <p:cNvSpPr txBox="1"/>
          <p:nvPr/>
        </p:nvSpPr>
        <p:spPr>
          <a:xfrm>
            <a:off x="6373368" y="1207008"/>
            <a:ext cx="1700784" cy="365760"/>
          </a:xfrm>
          <a:prstGeom prst="rect">
            <a:avLst/>
          </a:prstGeom>
          <a:noFill/>
          <a:ln/>
        </p:spPr>
        <p:txBody>
          <a:bodyPr wrap="square" lIns="0" tIns="0" rIns="0" bIns="0" rtlCol="0" anchor="ctr"/>
          <a:lstStyle/>
          <a:p>
            <a:pPr algn="ctr" indent="0" marL="0">
              <a:buNone/>
            </a:pPr>
            <a:r>
              <a:rPr lang="en-US" sz="1400" b="1" dirty="0">
                <a:solidFill>
                  <a:srgbClr val="0F172A"/>
                </a:solidFill>
              </a:rPr>
              <a:t>4  Push</a:t>
            </a:r>
            <a:endParaRPr lang="en-US" sz="1400" dirty="0"/>
          </a:p>
        </p:txBody>
      </p:sp>
      <p:sp>
        <p:nvSpPr>
          <p:cNvPr id="15" name="Text 13"/>
          <p:cNvSpPr txBox="1"/>
          <p:nvPr/>
        </p:nvSpPr>
        <p:spPr>
          <a:xfrm>
            <a:off x="6373368" y="1572768"/>
            <a:ext cx="1700784" cy="1764792"/>
          </a:xfrm>
          <a:prstGeom prst="rect">
            <a:avLst/>
          </a:prstGeom>
          <a:noFill/>
          <a:ln/>
        </p:spPr>
        <p:txBody>
          <a:bodyPr wrap="square" lIns="0" tIns="0" rIns="0" bIns="0" rtlCol="0" anchor="ctr"/>
          <a:lstStyle/>
          <a:p>
            <a:pPr algn="ctr" indent="0" marL="0">
              <a:buNone/>
            </a:pPr>
            <a:r>
              <a:rPr lang="en-US" sz="1200" dirty="0">
                <a:solidFill>
                  <a:srgbClr val="334155"/>
                </a:solidFill>
              </a:rPr>
              <a:t>git push -u origin feature-name</a:t>
            </a:r>
            <a:endParaRPr lang="en-US" sz="1200" dirty="0"/>
          </a:p>
        </p:txBody>
      </p:sp>
      <p:sp>
        <p:nvSpPr>
          <p:cNvPr id="16" name="Shape 14"/>
          <p:cNvSpPr/>
          <p:nvPr/>
        </p:nvSpPr>
        <p:spPr>
          <a:xfrm>
            <a:off x="8247888" y="1097280"/>
            <a:ext cx="1847088" cy="2331720"/>
          </a:xfrm>
          <a:prstGeom prst="roundRect">
            <a:avLst>
              <a:gd name="adj" fmla="val 3960"/>
            </a:avLst>
          </a:prstGeom>
          <a:solidFill>
            <a:srgbClr val="F1F5F9"/>
          </a:solidFill>
          <a:ln/>
        </p:spPr>
      </p:sp>
      <p:sp>
        <p:nvSpPr>
          <p:cNvPr id="17" name="Text 15"/>
          <p:cNvSpPr txBox="1"/>
          <p:nvPr/>
        </p:nvSpPr>
        <p:spPr>
          <a:xfrm>
            <a:off x="8321040" y="1207008"/>
            <a:ext cx="1700784" cy="365760"/>
          </a:xfrm>
          <a:prstGeom prst="rect">
            <a:avLst/>
          </a:prstGeom>
          <a:noFill/>
          <a:ln/>
        </p:spPr>
        <p:txBody>
          <a:bodyPr wrap="square" lIns="0" tIns="0" rIns="0" bIns="0" rtlCol="0" anchor="ctr"/>
          <a:lstStyle/>
          <a:p>
            <a:pPr algn="ctr" indent="0" marL="0">
              <a:buNone/>
            </a:pPr>
            <a:r>
              <a:rPr lang="en-US" sz="1400" b="1" dirty="0">
                <a:solidFill>
                  <a:srgbClr val="0F172A"/>
                </a:solidFill>
              </a:rPr>
              <a:t>5  Pull request</a:t>
            </a:r>
            <a:endParaRPr lang="en-US" sz="1400" dirty="0"/>
          </a:p>
        </p:txBody>
      </p:sp>
      <p:sp>
        <p:nvSpPr>
          <p:cNvPr id="18" name="Text 16"/>
          <p:cNvSpPr txBox="1"/>
          <p:nvPr/>
        </p:nvSpPr>
        <p:spPr>
          <a:xfrm>
            <a:off x="8321040" y="1572768"/>
            <a:ext cx="1700784" cy="1764792"/>
          </a:xfrm>
          <a:prstGeom prst="rect">
            <a:avLst/>
          </a:prstGeom>
          <a:noFill/>
          <a:ln/>
        </p:spPr>
        <p:txBody>
          <a:bodyPr wrap="square" lIns="0" tIns="0" rIns="0" bIns="0" rtlCol="0" anchor="ctr"/>
          <a:lstStyle/>
          <a:p>
            <a:pPr algn="ctr" indent="0" marL="0">
              <a:buNone/>
            </a:pPr>
            <a:r>
              <a:rPr lang="en-US" sz="1200" dirty="0">
                <a:solidFill>
                  <a:srgbClr val="334155"/>
                </a:solidFill>
              </a:rPr>
              <a:t>Ask to merge into main</a:t>
            </a:r>
            <a:endParaRPr lang="en-US" sz="1200" dirty="0"/>
          </a:p>
        </p:txBody>
      </p:sp>
      <p:sp>
        <p:nvSpPr>
          <p:cNvPr id="19" name="Shape 17"/>
          <p:cNvSpPr/>
          <p:nvPr/>
        </p:nvSpPr>
        <p:spPr>
          <a:xfrm>
            <a:off x="10195560" y="1097280"/>
            <a:ext cx="1847088" cy="2331720"/>
          </a:xfrm>
          <a:prstGeom prst="roundRect">
            <a:avLst>
              <a:gd name="adj" fmla="val 3960"/>
            </a:avLst>
          </a:prstGeom>
          <a:solidFill>
            <a:srgbClr val="0F766E"/>
          </a:solidFill>
          <a:ln/>
        </p:spPr>
      </p:sp>
      <p:sp>
        <p:nvSpPr>
          <p:cNvPr id="20" name="Text 18"/>
          <p:cNvSpPr txBox="1"/>
          <p:nvPr/>
        </p:nvSpPr>
        <p:spPr>
          <a:xfrm>
            <a:off x="10268712" y="1207008"/>
            <a:ext cx="1700784" cy="365760"/>
          </a:xfrm>
          <a:prstGeom prst="rect">
            <a:avLst/>
          </a:prstGeom>
          <a:noFill/>
          <a:ln/>
        </p:spPr>
        <p:txBody>
          <a:bodyPr wrap="square" lIns="0" tIns="0" rIns="0" bIns="0" rtlCol="0" anchor="ctr"/>
          <a:lstStyle/>
          <a:p>
            <a:pPr algn="ctr" indent="0" marL="0">
              <a:buNone/>
            </a:pPr>
            <a:r>
              <a:rPr lang="en-US" sz="1400" b="1" dirty="0">
                <a:solidFill>
                  <a:srgbClr val="FFFFFF"/>
                </a:solidFill>
              </a:rPr>
              <a:t>6  Review + merge</a:t>
            </a:r>
            <a:endParaRPr lang="en-US" sz="1400" dirty="0"/>
          </a:p>
        </p:txBody>
      </p:sp>
      <p:sp>
        <p:nvSpPr>
          <p:cNvPr id="21" name="Text 19"/>
          <p:cNvSpPr txBox="1"/>
          <p:nvPr/>
        </p:nvSpPr>
        <p:spPr>
          <a:xfrm>
            <a:off x="10268712" y="1572768"/>
            <a:ext cx="1700784" cy="1764792"/>
          </a:xfrm>
          <a:prstGeom prst="rect">
            <a:avLst/>
          </a:prstGeom>
          <a:noFill/>
          <a:ln/>
        </p:spPr>
        <p:txBody>
          <a:bodyPr wrap="square" lIns="0" tIns="0" rIns="0" bIns="0" rtlCol="0" anchor="ctr"/>
          <a:lstStyle/>
          <a:p>
            <a:pPr algn="ctr" indent="0" marL="0">
              <a:buNone/>
            </a:pPr>
            <a:r>
              <a:rPr lang="en-US" sz="1200" dirty="0">
                <a:solidFill>
                  <a:srgbClr val="CCFBF1"/>
                </a:solidFill>
              </a:rPr>
              <a:t>Human reads; GitHub merges</a:t>
            </a:r>
            <a:endParaRPr lang="en-US" sz="1200" dirty="0"/>
          </a:p>
        </p:txBody>
      </p:sp>
      <p:sp>
        <p:nvSpPr>
          <p:cNvPr id="22" name="Shape 20"/>
          <p:cNvSpPr/>
          <p:nvPr/>
        </p:nvSpPr>
        <p:spPr>
          <a:xfrm>
            <a:off x="502920" y="3703320"/>
            <a:ext cx="11155680" cy="2514600"/>
          </a:xfrm>
          <a:prstGeom prst="roundRect">
            <a:avLst>
              <a:gd name="adj" fmla="val 2909"/>
            </a:avLst>
          </a:prstGeom>
          <a:solidFill>
            <a:srgbClr val="FEF3C7"/>
          </a:solidFill>
          <a:ln/>
        </p:spPr>
      </p:sp>
      <p:sp>
        <p:nvSpPr>
          <p:cNvPr id="23" name="Text 21"/>
          <p:cNvSpPr txBox="1"/>
          <p:nvPr/>
        </p:nvSpPr>
        <p:spPr>
          <a:xfrm>
            <a:off x="667512" y="3813048"/>
            <a:ext cx="10826496" cy="292608"/>
          </a:xfrm>
          <a:prstGeom prst="rect">
            <a:avLst/>
          </a:prstGeom>
          <a:noFill/>
          <a:ln/>
        </p:spPr>
        <p:txBody>
          <a:bodyPr wrap="square" lIns="0" tIns="0" rIns="0" bIns="0" rtlCol="0" anchor="ctr"/>
          <a:lstStyle/>
          <a:p>
            <a:pPr indent="0" marL="0">
              <a:buNone/>
            </a:pPr>
            <a:r>
              <a:rPr lang="en-US" sz="1300" b="1" dirty="0">
                <a:solidFill>
                  <a:srgbClr val="B45309"/>
                </a:solidFill>
              </a:rPr>
              <a:t>Do not skip the review</a:t>
            </a:r>
            <a:endParaRPr lang="en-US" sz="1300" dirty="0"/>
          </a:p>
        </p:txBody>
      </p:sp>
      <p:sp>
        <p:nvSpPr>
          <p:cNvPr id="24" name="Text 22"/>
          <p:cNvSpPr txBox="1"/>
          <p:nvPr/>
        </p:nvSpPr>
        <p:spPr>
          <a:xfrm>
            <a:off x="667512" y="4123944"/>
            <a:ext cx="10826496" cy="1965960"/>
          </a:xfrm>
          <a:prstGeom prst="rect">
            <a:avLst/>
          </a:prstGeom>
          <a:noFill/>
          <a:ln/>
        </p:spPr>
        <p:txBody>
          <a:bodyPr wrap="square" lIns="0" tIns="0" rIns="0" bIns="0" rtlCol="0" anchor="t"/>
          <a:lstStyle/>
          <a:p>
            <a:pPr indent="0" marL="0">
              <a:buNone/>
            </a:pPr>
            <a:r>
              <a:rPr lang="en-US" sz="1400" dirty="0">
                <a:solidFill>
                  <a:srgbClr val="334155"/>
                </a:solidFill>
              </a:rPr>
              <a:t>Pushing straight to main is how “it worked on my laptop” becomes everyone’s outage. Protect main in GitHub: require a pull request, dismiss stale reviews, deny force push.</a:t>
            </a:r>
            <a:endParaRPr lang="en-US" sz="1400" dirty="0"/>
          </a:p>
          <a:p>
            <a:pPr indent="0" marL="0">
              <a:buNone/>
            </a:pPr>
            <a:endParaRPr lang="en-US" sz="1400" dirty="0"/>
          </a:p>
          <a:p>
            <a:pPr indent="0" marL="0">
              <a:buNone/>
            </a:pPr>
            <a:r>
              <a:rPr lang="en-US" sz="1400" dirty="0">
                <a:solidFill>
                  <a:srgbClr val="334155"/>
                </a:solidFill>
              </a:rPr>
              <a:t>You can merge your own PR in this class. At work, another person should click Merge.</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origin, clone, fetch, pull, push</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remotes</a:t>
            </a:r>
            <a:endParaRPr lang="en-US" sz="1100" dirty="0"/>
          </a:p>
        </p:txBody>
      </p:sp>
      <p:sp>
        <p:nvSpPr>
          <p:cNvPr id="4" name="Text 2"/>
          <p:cNvSpPr txBox="1"/>
          <p:nvPr/>
        </p:nvSpPr>
        <p:spPr>
          <a:xfrm>
            <a:off x="502920" y="960120"/>
            <a:ext cx="11155680" cy="1234440"/>
          </a:xfrm>
          <a:prstGeom prst="rect">
            <a:avLst/>
          </a:prstGeom>
          <a:noFill/>
          <a:ln/>
        </p:spPr>
        <p:txBody>
          <a:bodyPr wrap="square" lIns="0" tIns="0" rIns="0" bIns="0" rtlCol="0" anchor="t"/>
          <a:lstStyle/>
          <a:p>
            <a:pPr indent="0" marL="0">
              <a:buNone/>
            </a:pPr>
            <a:r>
              <a:rPr lang="en-US" sz="1600" dirty="0">
                <a:solidFill>
                  <a:srgbClr val="334155"/>
                </a:solidFill>
              </a:rPr>
              <a:t>origin is just a nickname. It almost always means “the GitHub URL for this repo”. git remote -v prints it. The first time you create a repo locally, you add origin yourself. clone sets origin for you.</a:t>
            </a:r>
            <a:endParaRPr lang="en-US" sz="1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2286000"/>
          <a:ext cx="11173968" cy="914400"/>
        </p:xfrm>
        <a:graphic>
          <a:graphicData uri="http://schemas.openxmlformats.org/drawingml/2006/table">
            <a:tbl>
              <a:tblPr/>
              <a:tblGrid>
                <a:gridCol w="2286000"/>
                <a:gridCol w="2377440"/>
                <a:gridCol w="3017520"/>
                <a:gridCol w="349300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Command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Downloads?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Changes your files?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Use when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clone URL</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Yes, full history</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Creates a new folder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First time you get the project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fetch</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Yes, new commits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No merge yet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You want to look before merging</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pull</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Yes — merge into current branch</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Your branch should match GitHub</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push</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No — you upload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Updates GitHub</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After local commits on your branch</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6" name="Text 3"/>
          <p:cNvSpPr txBox="1"/>
          <p:nvPr/>
        </p:nvSpPr>
        <p:spPr>
          <a:xfrm>
            <a:off x="502920" y="5715000"/>
            <a:ext cx="11155680" cy="502920"/>
          </a:xfrm>
          <a:prstGeom prst="rect">
            <a:avLst/>
          </a:prstGeom>
          <a:noFill/>
          <a:ln/>
        </p:spPr>
        <p:txBody>
          <a:bodyPr wrap="square" lIns="0" tIns="0" rIns="0" bIns="0" rtlCol="0" anchor="ctr"/>
          <a:lstStyle/>
          <a:p>
            <a:pPr indent="0" marL="0">
              <a:buNone/>
            </a:pPr>
            <a:r>
              <a:rPr lang="en-US" sz="1500" dirty="0">
                <a:solidFill>
                  <a:srgbClr val="334155"/>
                </a:solidFill>
              </a:rPr>
              <a:t>Habit: git checkout main &amp;&amp; git pull  before you create a new branch. Otherwise you start from old main.</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Fork versus clone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interview trap</a:t>
            </a:r>
            <a:endParaRPr lang="en-US" sz="1100" dirty="0"/>
          </a:p>
        </p:txBody>
      </p:sp>
      <p:sp>
        <p:nvSpPr>
          <p:cNvPr id="4" name="Shape 2"/>
          <p:cNvSpPr/>
          <p:nvPr/>
        </p:nvSpPr>
        <p:spPr>
          <a:xfrm>
            <a:off x="502920" y="1005840"/>
            <a:ext cx="5532120" cy="5212080"/>
          </a:xfrm>
          <a:prstGeom prst="roundRect">
            <a:avLst>
              <a:gd name="adj" fmla="val 1404"/>
            </a:avLst>
          </a:prstGeom>
          <a:solidFill>
            <a:srgbClr val="F1F5F9"/>
          </a:solidFill>
          <a:ln/>
        </p:spPr>
      </p:sp>
      <p:sp>
        <p:nvSpPr>
          <p:cNvPr id="5" name="Text 3"/>
          <p:cNvSpPr txBox="1"/>
          <p:nvPr/>
        </p:nvSpPr>
        <p:spPr>
          <a:xfrm>
            <a:off x="667512" y="1115568"/>
            <a:ext cx="5202936" cy="292608"/>
          </a:xfrm>
          <a:prstGeom prst="rect">
            <a:avLst/>
          </a:prstGeom>
          <a:noFill/>
          <a:ln/>
        </p:spPr>
        <p:txBody>
          <a:bodyPr wrap="square" lIns="0" tIns="0" rIns="0" bIns="0" rtlCol="0" anchor="ctr"/>
          <a:lstStyle/>
          <a:p>
            <a:pPr indent="0" marL="0">
              <a:buNone/>
            </a:pPr>
            <a:r>
              <a:rPr lang="en-US" sz="1300" b="1" dirty="0">
                <a:solidFill>
                  <a:srgbClr val="0F172A"/>
                </a:solidFill>
              </a:rPr>
              <a:t>Clone</a:t>
            </a:r>
            <a:endParaRPr lang="en-US" sz="1300" dirty="0"/>
          </a:p>
        </p:txBody>
      </p:sp>
      <p:sp>
        <p:nvSpPr>
          <p:cNvPr id="6" name="Text 4"/>
          <p:cNvSpPr txBox="1"/>
          <p:nvPr/>
        </p:nvSpPr>
        <p:spPr>
          <a:xfrm>
            <a:off x="667512" y="1426464"/>
            <a:ext cx="5202936" cy="4663440"/>
          </a:xfrm>
          <a:prstGeom prst="rect">
            <a:avLst/>
          </a:prstGeom>
          <a:noFill/>
          <a:ln/>
        </p:spPr>
        <p:txBody>
          <a:bodyPr wrap="square" lIns="0" tIns="0" rIns="0" bIns="0" rtlCol="0" anchor="t"/>
          <a:lstStyle/>
          <a:p>
            <a:pPr indent="0" marL="0">
              <a:buNone/>
            </a:pPr>
            <a:r>
              <a:rPr lang="en-US" sz="1400" dirty="0">
                <a:solidFill>
                  <a:srgbClr val="334155"/>
                </a:solidFill>
              </a:rPr>
              <a:t>Copies a repository onto your laptop.</a:t>
            </a:r>
            <a:endParaRPr lang="en-US" sz="1400" dirty="0"/>
          </a:p>
          <a:p>
            <a:pPr indent="0" marL="0">
              <a:buNone/>
            </a:pPr>
            <a:endParaRPr lang="en-US" sz="1400" dirty="0"/>
          </a:p>
          <a:p>
            <a:pPr indent="0" marL="0">
              <a:buNone/>
            </a:pPr>
            <a:r>
              <a:rPr lang="en-US" sz="1400" dirty="0">
                <a:solidFill>
                  <a:srgbClr val="334155"/>
                </a:solidFill>
              </a:rPr>
              <a:t>If it is your repo, you can push.</a:t>
            </a:r>
            <a:endParaRPr lang="en-US" sz="1400" dirty="0"/>
          </a:p>
          <a:p>
            <a:pPr indent="0" marL="0">
              <a:buNone/>
            </a:pPr>
            <a:r>
              <a:rPr lang="en-US" sz="1400" dirty="0">
                <a:solidFill>
                  <a:srgbClr val="334155"/>
                </a:solidFill>
              </a:rPr>
              <a:t>If it is someone else’s and you are not a collaborator, push will be denied.</a:t>
            </a:r>
            <a:endParaRPr lang="en-US" sz="1400" dirty="0"/>
          </a:p>
          <a:p>
            <a:pPr indent="0" marL="0">
              <a:buNone/>
            </a:pPr>
            <a:endParaRPr lang="en-US" sz="1400" dirty="0"/>
          </a:p>
          <a:p>
            <a:pPr indent="0" marL="0">
              <a:buNone/>
            </a:pPr>
            <a:r>
              <a:rPr lang="en-US" sz="1400" dirty="0">
                <a:solidFill>
                  <a:srgbClr val="334155"/>
                </a:solidFill>
              </a:rPr>
              <a:t>Command: git clone URL</a:t>
            </a:r>
            <a:endParaRPr lang="en-US" sz="1400" dirty="0"/>
          </a:p>
        </p:txBody>
      </p:sp>
      <p:sp>
        <p:nvSpPr>
          <p:cNvPr id="7" name="Shape 5"/>
          <p:cNvSpPr/>
          <p:nvPr/>
        </p:nvSpPr>
        <p:spPr>
          <a:xfrm>
            <a:off x="6217920" y="1005840"/>
            <a:ext cx="5440680" cy="5212080"/>
          </a:xfrm>
          <a:prstGeom prst="roundRect">
            <a:avLst>
              <a:gd name="adj" fmla="val 1404"/>
            </a:avLst>
          </a:prstGeom>
          <a:solidFill>
            <a:srgbClr val="ECFDF5"/>
          </a:solidFill>
          <a:ln/>
        </p:spPr>
      </p:sp>
      <p:sp>
        <p:nvSpPr>
          <p:cNvPr id="8" name="Text 6"/>
          <p:cNvSpPr txBox="1"/>
          <p:nvPr/>
        </p:nvSpPr>
        <p:spPr>
          <a:xfrm>
            <a:off x="6382512" y="1115568"/>
            <a:ext cx="5111496" cy="292608"/>
          </a:xfrm>
          <a:prstGeom prst="rect">
            <a:avLst/>
          </a:prstGeom>
          <a:noFill/>
          <a:ln/>
        </p:spPr>
        <p:txBody>
          <a:bodyPr wrap="square" lIns="0" tIns="0" rIns="0" bIns="0" rtlCol="0" anchor="ctr"/>
          <a:lstStyle/>
          <a:p>
            <a:pPr indent="0" marL="0">
              <a:buNone/>
            </a:pPr>
            <a:r>
              <a:rPr lang="en-US" sz="1300" b="1" dirty="0">
                <a:solidFill>
                  <a:srgbClr val="0F766E"/>
                </a:solidFill>
              </a:rPr>
              <a:t>Fork</a:t>
            </a:r>
            <a:endParaRPr lang="en-US" sz="1300" dirty="0"/>
          </a:p>
        </p:txBody>
      </p:sp>
      <p:sp>
        <p:nvSpPr>
          <p:cNvPr id="9" name="Text 7"/>
          <p:cNvSpPr txBox="1"/>
          <p:nvPr/>
        </p:nvSpPr>
        <p:spPr>
          <a:xfrm>
            <a:off x="6382512" y="1426464"/>
            <a:ext cx="5111496" cy="4663440"/>
          </a:xfrm>
          <a:prstGeom prst="rect">
            <a:avLst/>
          </a:prstGeom>
          <a:noFill/>
          <a:ln/>
        </p:spPr>
        <p:txBody>
          <a:bodyPr wrap="square" lIns="0" tIns="0" rIns="0" bIns="0" rtlCol="0" anchor="t"/>
          <a:lstStyle/>
          <a:p>
            <a:pPr indent="0" marL="0">
              <a:buNone/>
            </a:pPr>
            <a:r>
              <a:rPr lang="en-US" sz="1400" dirty="0">
                <a:solidFill>
                  <a:srgbClr val="334155"/>
                </a:solidFill>
              </a:rPr>
              <a:t>A GitHub button. It copies the repo under *your* GitHub user.</a:t>
            </a:r>
            <a:endParaRPr lang="en-US" sz="1400" dirty="0"/>
          </a:p>
          <a:p>
            <a:pPr indent="0" marL="0">
              <a:buNone/>
            </a:pPr>
            <a:endParaRPr lang="en-US" sz="1400" dirty="0"/>
          </a:p>
          <a:p>
            <a:pPr indent="0" marL="0">
              <a:buNone/>
            </a:pPr>
            <a:r>
              <a:rPr lang="en-US" sz="1400" dirty="0">
                <a:solidFill>
                  <a:srgbClr val="334155"/>
                </a:solidFill>
              </a:rPr>
              <a:t>You clone *your fork*, push to *your fork*, then open a pull request back to the original project.</a:t>
            </a:r>
            <a:endParaRPr lang="en-US" sz="1400" dirty="0"/>
          </a:p>
          <a:p>
            <a:pPr indent="0" marL="0">
              <a:buNone/>
            </a:pPr>
            <a:endParaRPr lang="en-US" sz="1400" dirty="0"/>
          </a:p>
          <a:p>
            <a:pPr indent="0" marL="0">
              <a:buNone/>
            </a:pPr>
            <a:r>
              <a:rPr lang="en-US" sz="1400" dirty="0">
                <a:solidFill>
                  <a:srgbClr val="334155"/>
                </a:solidFill>
              </a:rPr>
              <a:t>Used for open source, or when you do not have write access.</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Pull request, step by step</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PR</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11173968" cy="914400"/>
        </p:xfrm>
        <a:graphic>
          <a:graphicData uri="http://schemas.openxmlformats.org/drawingml/2006/table">
            <a:tbl>
              <a:tblPr/>
              <a:tblGrid>
                <a:gridCol w="1097280"/>
                <a:gridCol w="1828800"/>
                <a:gridCol w="824788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Step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Where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you do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Laptop</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Branch, commits, git push -u origin add-my-note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GitHub</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Yellow banner or Pull requests → New. Base = main. Compare = your branch.</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GitHub</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Title: what changed. Body: why. Link an issue if you have one.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GitHub</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Request reviewers. Wait. Answer comments with new commits on the same branch.</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GitHub</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Merge. Then delete the remote branch. git checkout main &amp;&amp; git pull locally.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Protecting main and code review</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main is not a scratchpad</a:t>
            </a:r>
            <a:endParaRPr lang="en-US" sz="1100" dirty="0"/>
          </a:p>
        </p:txBody>
      </p:sp>
      <p:sp>
        <p:nvSpPr>
          <p:cNvPr id="4" name="Text 2"/>
          <p:cNvSpPr txBox="1"/>
          <p:nvPr/>
        </p:nvSpPr>
        <p:spPr>
          <a:xfrm>
            <a:off x="502920" y="987552"/>
            <a:ext cx="11155680" cy="1325880"/>
          </a:xfrm>
          <a:prstGeom prst="rect">
            <a:avLst/>
          </a:prstGeom>
          <a:noFill/>
          <a:ln/>
        </p:spPr>
        <p:txBody>
          <a:bodyPr wrap="square" lIns="0" tIns="0" rIns="0" bIns="0" rtlCol="0" anchor="t"/>
          <a:lstStyle/>
          <a:p>
            <a:pPr indent="0" marL="0">
              <a:buNone/>
            </a:pPr>
            <a:r>
              <a:rPr lang="en-US" sz="1600" dirty="0">
                <a:solidFill>
                  <a:srgbClr val="334155"/>
                </a:solidFill>
              </a:rPr>
              <a:t>On GitHub: Settings → Branches → Add rule for main. Require a pull request. Disallow force pushes. Optionally require one approval. That is “protecting the main branch” from the curriculum.</a:t>
            </a:r>
            <a:endParaRPr lang="en-US" sz="1600" dirty="0"/>
          </a:p>
        </p:txBody>
      </p:sp>
      <p:sp>
        <p:nvSpPr>
          <p:cNvPr id="5" name="Shape 3"/>
          <p:cNvSpPr/>
          <p:nvPr/>
        </p:nvSpPr>
        <p:spPr>
          <a:xfrm>
            <a:off x="502920" y="2468880"/>
            <a:ext cx="5532120" cy="3749040"/>
          </a:xfrm>
          <a:prstGeom prst="roundRect">
            <a:avLst>
              <a:gd name="adj" fmla="val 1951"/>
            </a:avLst>
          </a:prstGeom>
          <a:solidFill>
            <a:srgbClr val="ECFDF5"/>
          </a:solidFill>
          <a:ln/>
        </p:spPr>
      </p:sp>
      <p:sp>
        <p:nvSpPr>
          <p:cNvPr id="6" name="Text 4"/>
          <p:cNvSpPr txBox="1"/>
          <p:nvPr/>
        </p:nvSpPr>
        <p:spPr>
          <a:xfrm>
            <a:off x="667512" y="2578608"/>
            <a:ext cx="5202936" cy="292608"/>
          </a:xfrm>
          <a:prstGeom prst="rect">
            <a:avLst/>
          </a:prstGeom>
          <a:noFill/>
          <a:ln/>
        </p:spPr>
        <p:txBody>
          <a:bodyPr wrap="square" lIns="0" tIns="0" rIns="0" bIns="0" rtlCol="0" anchor="ctr"/>
          <a:lstStyle/>
          <a:p>
            <a:pPr indent="0" marL="0">
              <a:buNone/>
            </a:pPr>
            <a:r>
              <a:rPr lang="en-US" sz="1300" b="1" dirty="0">
                <a:solidFill>
                  <a:srgbClr val="0F766E"/>
                </a:solidFill>
              </a:rPr>
              <a:t>Code review asks</a:t>
            </a:r>
            <a:endParaRPr lang="en-US" sz="1300" dirty="0"/>
          </a:p>
        </p:txBody>
      </p:sp>
      <p:sp>
        <p:nvSpPr>
          <p:cNvPr id="7" name="Text 5"/>
          <p:cNvSpPr txBox="1"/>
          <p:nvPr/>
        </p:nvSpPr>
        <p:spPr>
          <a:xfrm>
            <a:off x="667512" y="2889504"/>
            <a:ext cx="5202936" cy="3200400"/>
          </a:xfrm>
          <a:prstGeom prst="rect">
            <a:avLst/>
          </a:prstGeom>
          <a:noFill/>
          <a:ln/>
        </p:spPr>
        <p:txBody>
          <a:bodyPr wrap="square" lIns="0" tIns="0" rIns="0" bIns="0" rtlCol="0" anchor="t"/>
          <a:lstStyle/>
          <a:p>
            <a:pPr indent="0" marL="0">
              <a:buNone/>
            </a:pPr>
            <a:r>
              <a:rPr lang="en-US" sz="1400" dirty="0">
                <a:solidFill>
                  <a:srgbClr val="334155"/>
                </a:solidFill>
              </a:rPr>
              <a:t>What changed? Why? How do we know it works? Did they commit a secret? Is the commit message usable?</a:t>
            </a:r>
            <a:endParaRPr lang="en-US" sz="1400" dirty="0"/>
          </a:p>
          <a:p>
            <a:pPr indent="0" marL="0">
              <a:buNone/>
            </a:pPr>
            <a:endParaRPr lang="en-US" sz="1400" dirty="0"/>
          </a:p>
          <a:p>
            <a:pPr indent="0" marL="0">
              <a:buNone/>
            </a:pPr>
            <a:r>
              <a:rPr lang="en-US" sz="1400" dirty="0">
                <a:solidFill>
                  <a:srgbClr val="334155"/>
                </a:solidFill>
              </a:rPr>
              <a:t>You are not attacking the person. You are protecting main.</a:t>
            </a:r>
            <a:endParaRPr lang="en-US" sz="1400" dirty="0"/>
          </a:p>
        </p:txBody>
      </p:sp>
      <p:sp>
        <p:nvSpPr>
          <p:cNvPr id="8" name="Shape 6"/>
          <p:cNvSpPr/>
          <p:nvPr/>
        </p:nvSpPr>
        <p:spPr>
          <a:xfrm>
            <a:off x="6217920" y="2468880"/>
            <a:ext cx="5440680" cy="3749040"/>
          </a:xfrm>
          <a:prstGeom prst="roundRect">
            <a:avLst>
              <a:gd name="adj" fmla="val 1951"/>
            </a:avLst>
          </a:prstGeom>
          <a:solidFill>
            <a:srgbClr val="F1F5F9"/>
          </a:solidFill>
          <a:ln/>
        </p:spPr>
      </p:sp>
      <p:sp>
        <p:nvSpPr>
          <p:cNvPr id="9" name="Text 7"/>
          <p:cNvSpPr txBox="1"/>
          <p:nvPr/>
        </p:nvSpPr>
        <p:spPr>
          <a:xfrm>
            <a:off x="6382512" y="2578608"/>
            <a:ext cx="5111496" cy="292608"/>
          </a:xfrm>
          <a:prstGeom prst="rect">
            <a:avLst/>
          </a:prstGeom>
          <a:noFill/>
          <a:ln/>
        </p:spPr>
        <p:txBody>
          <a:bodyPr wrap="square" lIns="0" tIns="0" rIns="0" bIns="0" rtlCol="0" anchor="ctr"/>
          <a:lstStyle/>
          <a:p>
            <a:pPr indent="0" marL="0">
              <a:buNone/>
            </a:pPr>
            <a:r>
              <a:rPr lang="en-US" sz="1300" b="1" dirty="0">
                <a:solidFill>
                  <a:srgbClr val="0F172A"/>
                </a:solidFill>
              </a:rPr>
              <a:t>Merge buttons (names only)</a:t>
            </a:r>
            <a:endParaRPr lang="en-US" sz="1300" dirty="0"/>
          </a:p>
        </p:txBody>
      </p:sp>
      <p:sp>
        <p:nvSpPr>
          <p:cNvPr id="10" name="Text 8"/>
          <p:cNvSpPr txBox="1"/>
          <p:nvPr/>
        </p:nvSpPr>
        <p:spPr>
          <a:xfrm>
            <a:off x="6382512" y="2889504"/>
            <a:ext cx="5111496" cy="3200400"/>
          </a:xfrm>
          <a:prstGeom prst="rect">
            <a:avLst/>
          </a:prstGeom>
          <a:noFill/>
          <a:ln/>
        </p:spPr>
        <p:txBody>
          <a:bodyPr wrap="square" lIns="0" tIns="0" rIns="0" bIns="0" rtlCol="0" anchor="t"/>
          <a:lstStyle/>
          <a:p>
            <a:pPr indent="0" marL="0">
              <a:buNone/>
            </a:pPr>
            <a:r>
              <a:rPr lang="en-US" sz="1400" dirty="0">
                <a:solidFill>
                  <a:srgbClr val="334155"/>
                </a:solidFill>
              </a:rPr>
              <a:t>Create a merge commit — keeps all history.</a:t>
            </a:r>
            <a:endParaRPr lang="en-US" sz="1400" dirty="0"/>
          </a:p>
          <a:p>
            <a:pPr indent="0" marL="0">
              <a:buNone/>
            </a:pPr>
            <a:r>
              <a:rPr lang="en-US" sz="1400" dirty="0">
                <a:solidFill>
                  <a:srgbClr val="334155"/>
                </a:solidFill>
              </a:rPr>
              <a:t>Squash — one commit on main.</a:t>
            </a:r>
            <a:endParaRPr lang="en-US" sz="1400" dirty="0"/>
          </a:p>
          <a:p>
            <a:pPr indent="0" marL="0">
              <a:buNone/>
            </a:pPr>
            <a:r>
              <a:rPr lang="en-US" sz="1400" dirty="0">
                <a:solidFill>
                  <a:srgbClr val="334155"/>
                </a:solidFill>
              </a:rPr>
              <a:t>Rebase and merge — later lecture.</a:t>
            </a:r>
            <a:endParaRPr lang="en-US" sz="1400" dirty="0"/>
          </a:p>
          <a:p>
            <a:pPr indent="0" marL="0">
              <a:buNone/>
            </a:pPr>
            <a:endParaRPr lang="en-US" sz="1400" dirty="0"/>
          </a:p>
          <a:p>
            <a:pPr indent="0" marL="0">
              <a:buNone/>
            </a:pPr>
            <a:r>
              <a:rPr lang="en-US" sz="1400" dirty="0">
                <a:solidFill>
                  <a:srgbClr val="334155"/>
                </a:solidFill>
              </a:rPr>
              <a:t>For class, “Create a merge commit” is fine. Do not panic at the names.</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Merge conflict — Git will not guess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conflict</a:t>
            </a:r>
            <a:endParaRPr lang="en-US" sz="1100" dirty="0"/>
          </a:p>
        </p:txBody>
      </p:sp>
      <p:sp>
        <p:nvSpPr>
          <p:cNvPr id="4" name="Text 2"/>
          <p:cNvSpPr txBox="1"/>
          <p:nvPr/>
        </p:nvSpPr>
        <p:spPr>
          <a:xfrm>
            <a:off x="502920" y="960120"/>
            <a:ext cx="11155680" cy="1143000"/>
          </a:xfrm>
          <a:prstGeom prst="rect">
            <a:avLst/>
          </a:prstGeom>
          <a:noFill/>
          <a:ln/>
        </p:spPr>
        <p:txBody>
          <a:bodyPr wrap="square" lIns="0" tIns="0" rIns="0" bIns="0" rtlCol="0" anchor="t"/>
          <a:lstStyle/>
          <a:p>
            <a:pPr indent="0" marL="0">
              <a:buNone/>
            </a:pPr>
            <a:r>
              <a:rPr lang="en-US" sz="1600" dirty="0">
                <a:solidFill>
                  <a:srgbClr val="334155"/>
                </a:solidFill>
              </a:rPr>
              <a:t>A conflict happens when two branches changed the same lines. Git inserts markers. You edit the file, git add, and commit. We do not demo this in today’s terminal lab. You merge through the GitHub pull-request screen.</a:t>
            </a:r>
            <a:endParaRPr lang="en-US" sz="1600" dirty="0"/>
          </a:p>
        </p:txBody>
      </p:sp>
      <p:sp>
        <p:nvSpPr>
          <p:cNvPr id="5" name="Shape 3"/>
          <p:cNvSpPr/>
          <p:nvPr/>
        </p:nvSpPr>
        <p:spPr>
          <a:xfrm>
            <a:off x="502920" y="2194560"/>
            <a:ext cx="11155680" cy="4023360"/>
          </a:xfrm>
          <a:prstGeom prst="roundRect">
            <a:avLst>
              <a:gd name="adj" fmla="val 1818"/>
            </a:avLst>
          </a:prstGeom>
          <a:solidFill>
            <a:srgbClr val="0F172A"/>
          </a:solidFill>
          <a:ln/>
        </p:spPr>
      </p:sp>
      <p:sp>
        <p:nvSpPr>
          <p:cNvPr id="6" name="Text 4"/>
          <p:cNvSpPr txBox="1"/>
          <p:nvPr/>
        </p:nvSpPr>
        <p:spPr>
          <a:xfrm>
            <a:off x="667512" y="2304288"/>
            <a:ext cx="10826496" cy="292608"/>
          </a:xfrm>
          <a:prstGeom prst="rect">
            <a:avLst/>
          </a:prstGeom>
          <a:noFill/>
          <a:ln/>
        </p:spPr>
        <p:txBody>
          <a:bodyPr wrap="square" lIns="0" tIns="0" rIns="0" bIns="0" rtlCol="0" anchor="ctr"/>
          <a:lstStyle/>
          <a:p>
            <a:pPr indent="0" marL="0">
              <a:buNone/>
            </a:pPr>
            <a:r>
              <a:rPr lang="en-US" sz="1300" b="1" dirty="0">
                <a:solidFill>
                  <a:srgbClr val="FFFFFF"/>
                </a:solidFill>
              </a:rPr>
              <a:t>What the file looks like</a:t>
            </a:r>
            <a:endParaRPr lang="en-US" sz="1300" dirty="0"/>
          </a:p>
        </p:txBody>
      </p:sp>
      <p:sp>
        <p:nvSpPr>
          <p:cNvPr id="7" name="Text 5"/>
          <p:cNvSpPr txBox="1"/>
          <p:nvPr/>
        </p:nvSpPr>
        <p:spPr>
          <a:xfrm>
            <a:off x="667512" y="2615184"/>
            <a:ext cx="10826496" cy="3474720"/>
          </a:xfrm>
          <a:prstGeom prst="rect">
            <a:avLst/>
          </a:prstGeom>
          <a:noFill/>
          <a:ln/>
        </p:spPr>
        <p:txBody>
          <a:bodyPr wrap="square" lIns="0" tIns="0" rIns="0" bIns="0" rtlCol="0" anchor="t"/>
          <a:lstStyle/>
          <a:p>
            <a:pPr indent="0" marL="0">
              <a:buNone/>
            </a:pPr>
            <a:r>
              <a:rPr lang="en-US" sz="1400" dirty="0">
                <a:solidFill>
                  <a:srgbClr val="94A3B8"/>
                </a:solidFill>
              </a:rPr>
              <a:t>&lt;&lt;&lt;&lt;&lt;&lt;&lt; HEAD</a:t>
            </a:r>
            <a:endParaRPr lang="en-US" sz="1400" dirty="0"/>
          </a:p>
          <a:p>
            <a:pPr indent="0" marL="0">
              <a:buNone/>
            </a:pPr>
            <a:r>
              <a:rPr lang="en-US" sz="1400" dirty="0">
                <a:solidFill>
                  <a:srgbClr val="94A3B8"/>
                </a:solidFill>
              </a:rPr>
              <a:t>version A</a:t>
            </a:r>
            <a:endParaRPr lang="en-US" sz="1400" dirty="0"/>
          </a:p>
          <a:p>
            <a:pPr indent="0" marL="0">
              <a:buNone/>
            </a:pPr>
            <a:r>
              <a:rPr lang="en-US" sz="1400" dirty="0">
                <a:solidFill>
                  <a:srgbClr val="94A3B8"/>
                </a:solidFill>
              </a:rPr>
              <a:t>=======</a:t>
            </a:r>
            <a:endParaRPr lang="en-US" sz="1400" dirty="0"/>
          </a:p>
          <a:p>
            <a:pPr indent="0" marL="0">
              <a:buNone/>
            </a:pPr>
            <a:r>
              <a:rPr lang="en-US" sz="1400" dirty="0">
                <a:solidFill>
                  <a:srgbClr val="94A3B8"/>
                </a:solidFill>
              </a:rPr>
              <a:t>version B</a:t>
            </a:r>
            <a:endParaRPr lang="en-US" sz="1400" dirty="0"/>
          </a:p>
          <a:p>
            <a:pPr indent="0" marL="0">
              <a:buNone/>
            </a:pPr>
            <a:r>
              <a:rPr lang="en-US" sz="1400" dirty="0">
                <a:solidFill>
                  <a:srgbClr val="94A3B8"/>
                </a:solidFill>
              </a:rPr>
              <a:t>&gt;&gt;&gt;&gt;&gt;&gt;&gt; branch-b</a:t>
            </a:r>
            <a:endParaRPr lang="en-US" sz="1400" dirty="0"/>
          </a:p>
          <a:p>
            <a:pPr indent="0" marL="0">
              <a:buNone/>
            </a:pPr>
            <a:endParaRPr lang="en-US" sz="1400" dirty="0"/>
          </a:p>
          <a:p>
            <a:pPr indent="0" marL="0">
              <a:buNone/>
            </a:pPr>
            <a:r>
              <a:rPr lang="en-US" sz="1400" dirty="0">
                <a:solidFill>
                  <a:srgbClr val="94A3B8"/>
                </a:solidFill>
              </a:rPr>
              <a:t>Delete the markers. Keep version A, or B, or a mix that is correct. Then:</a:t>
            </a:r>
            <a:endParaRPr lang="en-US" sz="1400" dirty="0"/>
          </a:p>
          <a:p>
            <a:pPr indent="0" marL="0">
              <a:buNone/>
            </a:pPr>
            <a:r>
              <a:rPr lang="en-US" sz="1400" dirty="0">
                <a:solidFill>
                  <a:srgbClr val="94A3B8"/>
                </a:solidFill>
              </a:rPr>
              <a:t>git add message.txt</a:t>
            </a:r>
            <a:endParaRPr lang="en-US" sz="1400" dirty="0"/>
          </a:p>
          <a:p>
            <a:pPr indent="0" marL="0">
              <a:buNone/>
            </a:pPr>
            <a:r>
              <a:rPr lang="en-US" sz="1400" dirty="0">
                <a:solidFill>
                  <a:srgbClr val="94A3B8"/>
                </a:solidFill>
              </a:rPr>
              <a:t>git commit -m "Resolve conflict by keeping version A"</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Commands we are not teaching today</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stay safe</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024128"/>
          <a:ext cx="11173968" cy="914400"/>
        </p:xfrm>
        <a:graphic>
          <a:graphicData uri="http://schemas.openxmlformats.org/drawingml/2006/table">
            <a:tbl>
              <a:tblPr/>
              <a:tblGrid>
                <a:gridCol w="3291840"/>
                <a:gridCol w="7882128"/>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Skip today</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git rebase / rebase -i</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Rewrites history. Easy to wreck a shared branch.</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git push --force</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Overwrites GitHub. Can delete a teammate’s commits.</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git reset --hard</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Throws away commits. Easy to lose work.</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git cherry-pick</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Useful later. Not needed for a first PR.</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GitHub Actions YAML</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500" dirty="0">
                          <a:solidFill>
                            <a:srgbClr val="0F172A"/>
                          </a:solidFill>
                          <a:latin typeface="Calibri" pitchFamily="34" charset="0"/>
                          <a:ea typeface="Calibri" pitchFamily="34" charset="-122"/>
                          <a:cs typeface="Calibri" pitchFamily="34" charset="-120"/>
                        </a:rPr>
                        <a:t>Lecture 10. Today the PR has no automatic tests yet.</a:t>
                      </a:r>
                      <a:endParaRPr lang="en-US" sz="15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lIns="0" tIns="0" rIns="0" bIns="0" rtlCol="0"/>
          <a:lstStyle/>
          <a:p>
            <a:pPr indent="0" marL="0">
              <a:buNone/>
            </a:pPr>
            <a:r>
              <a:rPr lang="en-US" sz="3200" b="1" dirty="0">
                <a:solidFill>
                  <a:schemeClr val="bg1"/>
                </a:solidFill>
              </a:rPr>
              <a:t>Lab: this repo, then a GitHub PR</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lIns="0" tIns="0" rIns="0" bIns="0" rtlCol="0"/>
          <a:lstStyle/>
          <a:p>
            <a:pPr indent="0" marL="0">
              <a:buNone/>
            </a:pPr>
            <a:r>
              <a:rPr lang="en-US" sz="1800" dirty="0">
                <a:solidFill>
                  <a:srgbClr val="94A3B8"/>
                </a:solidFill>
              </a:rPr>
              <a:t>No git init. Merge in the GitHub UI.</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Open the instruction list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local</a:t>
            </a:r>
            <a:endParaRPr lang="en-US" sz="1100" dirty="0"/>
          </a:p>
        </p:txBody>
      </p:sp>
      <p:sp>
        <p:nvSpPr>
          <p:cNvPr id="4" name="Shape 2"/>
          <p:cNvSpPr/>
          <p:nvPr/>
        </p:nvSpPr>
        <p:spPr>
          <a:xfrm>
            <a:off x="502920" y="1051560"/>
            <a:ext cx="11155680" cy="5166360"/>
          </a:xfrm>
          <a:prstGeom prst="roundRect">
            <a:avLst>
              <a:gd name="adj" fmla="val 1416"/>
            </a:avLst>
          </a:prstGeom>
          <a:solidFill>
            <a:srgbClr val="0F172A"/>
          </a:solidFill>
          <a:ln/>
        </p:spPr>
      </p:sp>
      <p:sp>
        <p:nvSpPr>
          <p:cNvPr id="5" name="Text 3"/>
          <p:cNvSpPr txBox="1"/>
          <p:nvPr/>
        </p:nvSpPr>
        <p:spPr>
          <a:xfrm>
            <a:off x="667512" y="1161288"/>
            <a:ext cx="10826496" cy="292608"/>
          </a:xfrm>
          <a:prstGeom prst="rect">
            <a:avLst/>
          </a:prstGeom>
          <a:noFill/>
          <a:ln/>
        </p:spPr>
        <p:txBody>
          <a:bodyPr wrap="square" lIns="0" tIns="0" rIns="0" bIns="0" rtlCol="0" anchor="ctr"/>
          <a:lstStyle/>
          <a:p>
            <a:pPr indent="0" marL="0">
              <a:buNone/>
            </a:pPr>
            <a:r>
              <a:rPr lang="en-US" sz="1300" b="1" dirty="0">
                <a:solidFill>
                  <a:srgbClr val="FFFFFF"/>
                </a:solidFill>
              </a:rPr>
              <a:t>Same repo as this course — do not create a new one</a:t>
            </a:r>
            <a:endParaRPr lang="en-US" sz="1300" dirty="0"/>
          </a:p>
        </p:txBody>
      </p:sp>
      <p:sp>
        <p:nvSpPr>
          <p:cNvPr id="6" name="Text 4"/>
          <p:cNvSpPr txBox="1"/>
          <p:nvPr/>
        </p:nvSpPr>
        <p:spPr>
          <a:xfrm>
            <a:off x="667512" y="1472184"/>
            <a:ext cx="10826496" cy="4617720"/>
          </a:xfrm>
          <a:prstGeom prst="rect">
            <a:avLst/>
          </a:prstGeom>
          <a:noFill/>
          <a:ln/>
        </p:spPr>
        <p:txBody>
          <a:bodyPr wrap="square" lIns="0" tIns="0" rIns="0" bIns="0" rtlCol="0" anchor="t"/>
          <a:lstStyle/>
          <a:p>
            <a:pPr indent="0" marL="0">
              <a:buNone/>
            </a:pPr>
            <a:r>
              <a:rPr lang="en-US" sz="1400" dirty="0">
                <a:solidFill>
                  <a:srgbClr val="94A3B8"/>
                </a:solidFill>
              </a:rPr>
              <a:t>File: lec-02/codebase/git-demo-instructions.txt</a:t>
            </a:r>
            <a:endParaRPr lang="en-US" sz="1400" dirty="0"/>
          </a:p>
          <a:p>
            <a:pPr indent="0" marL="0">
              <a:buNone/>
            </a:pPr>
            <a:r>
              <a:rPr lang="en-US" sz="1400" dirty="0">
                <a:solidFill>
                  <a:srgbClr val="94A3B8"/>
                </a:solidFill>
              </a:rPr>
              <a:t>Repo: github.com/mayurb99/Devops_Beginners</a:t>
            </a:r>
            <a:endParaRPr lang="en-US" sz="1400" dirty="0"/>
          </a:p>
          <a:p>
            <a:pPr indent="0" marL="0">
              <a:buNone/>
            </a:pPr>
            <a:endParaRPr lang="en-US" sz="1400" dirty="0"/>
          </a:p>
          <a:p>
            <a:pPr indent="0" marL="0">
              <a:buNone/>
            </a:pPr>
            <a:r>
              <a:rPr lang="en-US" sz="1400" dirty="0">
                <a:solidFill>
                  <a:srgbClr val="94A3B8"/>
                </a:solidFill>
              </a:rPr>
              <a:t>You will type: status, log, branch, checkout -b, diff, restore, add, commit, push.</a:t>
            </a:r>
            <a:endParaRPr lang="en-US" sz="1400" dirty="0"/>
          </a:p>
          <a:p>
            <a:pPr indent="0" marL="0">
              <a:buNone/>
            </a:pPr>
            <a:endParaRPr lang="en-US" sz="1400" dirty="0"/>
          </a:p>
          <a:p>
            <a:pPr indent="0" marL="0">
              <a:buNone/>
            </a:pPr>
            <a:r>
              <a:rPr lang="en-US" sz="1400" dirty="0">
                <a:solidFill>
                  <a:srgbClr val="94A3B8"/>
                </a:solidFill>
              </a:rPr>
              <a:t>You will not type: git init, git merge, or a conflict.</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Merge in the GitHub UI (not the terminal)</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PR</a:t>
            </a:r>
            <a:endParaRPr lang="en-US" sz="11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11173968" cy="914400"/>
        </p:xfrm>
        <a:graphic>
          <a:graphicData uri="http://schemas.openxmlformats.org/drawingml/2006/table">
            <a:tbl>
              <a:tblPr/>
              <a:tblGrid>
                <a:gridCol w="5943600"/>
                <a:gridCol w="523036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On your laptop</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On GitHub (browser)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checkout -b add-my-note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Open the Devops_Beginners repo</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Edit notes-api/notes.txt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Compare &amp; pull request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add, git commit, git push -u origin add-my-note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Base = main, compare = add-my-note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Do not run git merge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Create pull request → Merge pull request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checkout main &amp;&amp; git pull</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Optional: delete the branch on GitHub</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Check before you add</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last look</a:t>
            </a:r>
            <a:endParaRPr lang="en-US" sz="1100" dirty="0"/>
          </a:p>
        </p:txBody>
      </p:sp>
      <p:sp>
        <p:nvSpPr>
          <p:cNvPr id="4" name="Text 2"/>
          <p:cNvSpPr txBox="1"/>
          <p:nvPr/>
        </p:nvSpPr>
        <p:spPr>
          <a:xfrm>
            <a:off x="502920" y="987552"/>
            <a:ext cx="11155680" cy="1280160"/>
          </a:xfrm>
          <a:prstGeom prst="rect">
            <a:avLst/>
          </a:prstGeom>
          <a:noFill/>
          <a:ln/>
        </p:spPr>
        <p:txBody>
          <a:bodyPr wrap="square" lIns="0" tIns="0" rIns="0" bIns="0" rtlCol="0" anchor="t"/>
          <a:lstStyle/>
          <a:p>
            <a:pPr indent="0" marL="0">
              <a:buNone/>
            </a:pPr>
            <a:r>
              <a:rPr lang="en-US" sz="1600" dirty="0">
                <a:solidFill>
                  <a:srgbClr val="334155"/>
                </a:solidFill>
              </a:rPr>
              <a:t>git status must not list .env. notes-api/.gitignore already blocks it. If you created .env for practice, it should appear ignored, not as a new file to commit.</a:t>
            </a:r>
            <a:endParaRPr lang="en-US" sz="1600" dirty="0"/>
          </a:p>
        </p:txBody>
      </p:sp>
      <p:sp>
        <p:nvSpPr>
          <p:cNvPr id="5" name="Shape 3"/>
          <p:cNvSpPr/>
          <p:nvPr/>
        </p:nvSpPr>
        <p:spPr>
          <a:xfrm>
            <a:off x="502920" y="2423160"/>
            <a:ext cx="11155680" cy="3794760"/>
          </a:xfrm>
          <a:prstGeom prst="roundRect">
            <a:avLst>
              <a:gd name="adj" fmla="val 1928"/>
            </a:avLst>
          </a:prstGeom>
          <a:solidFill>
            <a:srgbClr val="FEF3C7"/>
          </a:solidFill>
          <a:ln/>
        </p:spPr>
      </p:sp>
      <p:sp>
        <p:nvSpPr>
          <p:cNvPr id="6" name="Text 4"/>
          <p:cNvSpPr txBox="1"/>
          <p:nvPr/>
        </p:nvSpPr>
        <p:spPr>
          <a:xfrm>
            <a:off x="667512" y="2532888"/>
            <a:ext cx="10826496" cy="292608"/>
          </a:xfrm>
          <a:prstGeom prst="rect">
            <a:avLst/>
          </a:prstGeom>
          <a:noFill/>
          <a:ln/>
        </p:spPr>
        <p:txBody>
          <a:bodyPr wrap="square" lIns="0" tIns="0" rIns="0" bIns="0" rtlCol="0" anchor="ctr"/>
          <a:lstStyle/>
          <a:p>
            <a:pPr indent="0" marL="0">
              <a:buNone/>
            </a:pPr>
            <a:r>
              <a:rPr lang="en-US" sz="1300" b="1" dirty="0">
                <a:solidFill>
                  <a:srgbClr val="B45309"/>
                </a:solidFill>
              </a:rPr>
              <a:t>If you committed a secret by accident</a:t>
            </a:r>
            <a:endParaRPr lang="en-US" sz="1300" dirty="0"/>
          </a:p>
        </p:txBody>
      </p:sp>
      <p:sp>
        <p:nvSpPr>
          <p:cNvPr id="7" name="Text 5"/>
          <p:cNvSpPr txBox="1"/>
          <p:nvPr/>
        </p:nvSpPr>
        <p:spPr>
          <a:xfrm>
            <a:off x="667512" y="2843784"/>
            <a:ext cx="10826496" cy="3246120"/>
          </a:xfrm>
          <a:prstGeom prst="rect">
            <a:avLst/>
          </a:prstGeom>
          <a:noFill/>
          <a:ln/>
        </p:spPr>
        <p:txBody>
          <a:bodyPr wrap="square" lIns="0" tIns="0" rIns="0" bIns="0" rtlCol="0" anchor="t"/>
          <a:lstStyle/>
          <a:p>
            <a:pPr indent="0" marL="0">
              <a:buNone/>
            </a:pPr>
            <a:r>
              <a:rPr lang="en-US" sz="1400" dirty="0">
                <a:solidFill>
                  <a:srgbClr val="334155"/>
                </a:solidFill>
              </a:rPr>
              <a:t>1. Assume it is public. 2. Create a new token/key and disable the old one. 3. Remove the file in a new commit and add it to .gitignore. 4. Tell the instructor. History still contains the old commit — rotating the secret is the real fix.</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972800" cy="1097280"/>
          </a:xfrm>
          <a:prstGeom prst="rect">
            <a:avLst/>
          </a:prstGeom>
          <a:noFill/>
          <a:ln/>
        </p:spPr>
        <p:txBody>
          <a:bodyPr wrap="square" lIns="0" tIns="0" rIns="0" bIns="0" rtlCol="0"/>
          <a:lstStyle/>
          <a:p>
            <a:pPr indent="0" marL="0">
              <a:buNone/>
            </a:pPr>
            <a:r>
              <a:rPr lang="en-US" sz="3200" b="1" dirty="0">
                <a:solidFill>
                  <a:schemeClr val="bg1"/>
                </a:solidFill>
              </a:rPr>
              <a:t>Bonus: Waterfall, Agile, Scrum, Kanban</a:t>
            </a:r>
            <a:endParaRPr lang="en-US" sz="3200" dirty="0"/>
          </a:p>
        </p:txBody>
      </p:sp>
      <p:sp>
        <p:nvSpPr>
          <p:cNvPr id="3" name="Text 0"/>
          <p:cNvSpPr/>
          <p:nvPr>
            <p:ph idx="101" type="body" hasCustomPrompt="1"/>
          </p:nvPr>
        </p:nvSpPr>
        <p:spPr>
          <a:xfrm>
            <a:off x="640080" y="3474720"/>
            <a:ext cx="10515600" cy="1371600"/>
          </a:xfrm>
          <a:prstGeom prst="rect">
            <a:avLst/>
          </a:prstGeom>
          <a:noFill/>
          <a:ln/>
        </p:spPr>
        <p:txBody>
          <a:bodyPr wrap="square" lIns="0" tIns="0" rIns="0" bIns="0" rtlCol="0"/>
          <a:lstStyle/>
          <a:p>
            <a:pPr indent="0" marL="0">
              <a:buNone/>
            </a:pPr>
            <a:r>
              <a:rPr lang="en-US" sz="1800" dirty="0">
                <a:solidFill>
                  <a:srgbClr val="94A3B8"/>
                </a:solidFill>
              </a:rPr>
              <a:t>Interview models that are not in the Git curriculum — diagrams and examples</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Why this bonus exists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interview</a:t>
            </a:r>
            <a:endParaRPr lang="en-US" sz="1100" dirty="0"/>
          </a:p>
        </p:txBody>
      </p:sp>
      <p:sp>
        <p:nvSpPr>
          <p:cNvPr id="4" name="Text 2"/>
          <p:cNvSpPr txBox="1"/>
          <p:nvPr/>
        </p:nvSpPr>
        <p:spPr>
          <a:xfrm>
            <a:off x="502920" y="987552"/>
            <a:ext cx="11155680" cy="1691640"/>
          </a:xfrm>
          <a:prstGeom prst="rect">
            <a:avLst/>
          </a:prstGeom>
          <a:noFill/>
          <a:ln/>
        </p:spPr>
        <p:txBody>
          <a:bodyPr wrap="square" lIns="0" tIns="0" rIns="0" bIns="0" rtlCol="0" anchor="t"/>
          <a:lstStyle/>
          <a:p>
            <a:pPr indent="0" marL="0">
              <a:buNone/>
            </a:pPr>
            <a:r>
              <a:rPr lang="en-US" sz="1600" dirty="0">
                <a:solidFill>
                  <a:srgbClr val="334155"/>
                </a:solidFill>
              </a:rPr>
              <a:t>Lecture 1 taught SDLC stages (need → design → build → test → deploy → operate). Interviewers then ask *how those stages are scheduled*. That is Waterfall vs Agile. DevOps is not a third scheduling religion. DevOps is how code gets to production safely. This section is extra because it is asked, and it is not a named lecture in the course list.</a:t>
            </a:r>
            <a:endParaRPr lang="en-US" sz="1600" dirty="0"/>
          </a:p>
        </p:txBody>
      </p:sp>
      <p:sp>
        <p:nvSpPr>
          <p:cNvPr id="5" name="Shape 3"/>
          <p:cNvSpPr/>
          <p:nvPr/>
        </p:nvSpPr>
        <p:spPr>
          <a:xfrm>
            <a:off x="502920" y="2834640"/>
            <a:ext cx="11155680" cy="3383280"/>
          </a:xfrm>
          <a:prstGeom prst="roundRect">
            <a:avLst>
              <a:gd name="adj" fmla="val 2162"/>
            </a:avLst>
          </a:prstGeom>
          <a:solidFill>
            <a:srgbClr val="ECFDF5"/>
          </a:solidFill>
          <a:ln/>
        </p:spPr>
      </p:sp>
      <p:sp>
        <p:nvSpPr>
          <p:cNvPr id="6" name="Text 4"/>
          <p:cNvSpPr txBox="1"/>
          <p:nvPr/>
        </p:nvSpPr>
        <p:spPr>
          <a:xfrm>
            <a:off x="667512" y="2944368"/>
            <a:ext cx="10826496" cy="292608"/>
          </a:xfrm>
          <a:prstGeom prst="rect">
            <a:avLst/>
          </a:prstGeom>
          <a:noFill/>
          <a:ln/>
        </p:spPr>
        <p:txBody>
          <a:bodyPr wrap="square" lIns="0" tIns="0" rIns="0" bIns="0" rtlCol="0" anchor="ctr"/>
          <a:lstStyle/>
          <a:p>
            <a:pPr indent="0" marL="0">
              <a:buNone/>
            </a:pPr>
            <a:r>
              <a:rPr lang="en-US" sz="1300" b="1" dirty="0">
                <a:solidFill>
                  <a:srgbClr val="0F766E"/>
                </a:solidFill>
              </a:rPr>
              <a:t>Map in one sentence each</a:t>
            </a:r>
            <a:endParaRPr lang="en-US" sz="1300" dirty="0"/>
          </a:p>
        </p:txBody>
      </p:sp>
      <p:sp>
        <p:nvSpPr>
          <p:cNvPr id="7" name="Text 5"/>
          <p:cNvSpPr txBox="1"/>
          <p:nvPr/>
        </p:nvSpPr>
        <p:spPr>
          <a:xfrm>
            <a:off x="667512" y="3255264"/>
            <a:ext cx="10826496" cy="2834640"/>
          </a:xfrm>
          <a:prstGeom prst="rect">
            <a:avLst/>
          </a:prstGeom>
          <a:noFill/>
          <a:ln/>
        </p:spPr>
        <p:txBody>
          <a:bodyPr wrap="square" lIns="0" tIns="0" rIns="0" bIns="0" rtlCol="0" anchor="t"/>
          <a:lstStyle/>
          <a:p>
            <a:pPr indent="0" marL="0">
              <a:buNone/>
            </a:pPr>
            <a:r>
              <a:rPr lang="en-US" sz="1400" dirty="0">
                <a:solidFill>
                  <a:srgbClr val="334155"/>
                </a:solidFill>
              </a:rPr>
              <a:t>Waterfall = one long plan, one late release.</a:t>
            </a:r>
            <a:endParaRPr lang="en-US" sz="1400" dirty="0"/>
          </a:p>
          <a:p>
            <a:pPr indent="0" marL="0">
              <a:buNone/>
            </a:pPr>
            <a:r>
              <a:rPr lang="en-US" sz="1400" dirty="0">
                <a:solidFill>
                  <a:srgbClr val="334155"/>
                </a:solidFill>
              </a:rPr>
              <a:t>Agile = short cycles, frequent working software.</a:t>
            </a:r>
            <a:endParaRPr lang="en-US" sz="1400" dirty="0"/>
          </a:p>
          <a:p>
            <a:pPr indent="0" marL="0">
              <a:buNone/>
            </a:pPr>
            <a:r>
              <a:rPr lang="en-US" sz="1400" dirty="0">
                <a:solidFill>
                  <a:srgbClr val="334155"/>
                </a:solidFill>
              </a:rPr>
              <a:t>Scrum = Agile with time-boxed sprints.</a:t>
            </a:r>
            <a:endParaRPr lang="en-US" sz="1400" dirty="0"/>
          </a:p>
          <a:p>
            <a:pPr indent="0" marL="0">
              <a:buNone/>
            </a:pPr>
            <a:r>
              <a:rPr lang="en-US" sz="1400" dirty="0">
                <a:solidFill>
                  <a:srgbClr val="334155"/>
                </a:solidFill>
              </a:rPr>
              <a:t>Kanban = Agile with a board and WIP limits, no required sprint.</a:t>
            </a:r>
            <a:endParaRPr lang="en-US" sz="1400" dirty="0"/>
          </a:p>
          <a:p>
            <a:pPr indent="0" marL="0">
              <a:buNone/>
            </a:pPr>
            <a:r>
              <a:rPr lang="en-US" sz="1400" dirty="0">
                <a:solidFill>
                  <a:srgbClr val="334155"/>
                </a:solidFill>
              </a:rPr>
              <a:t>DevOps = build, release, run, monitor as one loop.</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Waterfall — one way through, then stop</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Waterfall</a:t>
            </a:r>
            <a:endParaRPr lang="en-US" sz="1100" dirty="0"/>
          </a:p>
        </p:txBody>
      </p:sp>
      <p:sp>
        <p:nvSpPr>
          <p:cNvPr id="4" name="Text 2"/>
          <p:cNvSpPr txBox="1"/>
          <p:nvPr/>
        </p:nvSpPr>
        <p:spPr>
          <a:xfrm>
            <a:off x="502920" y="932688"/>
            <a:ext cx="11155680" cy="1097280"/>
          </a:xfrm>
          <a:prstGeom prst="rect">
            <a:avLst/>
          </a:prstGeom>
          <a:noFill/>
          <a:ln/>
        </p:spPr>
        <p:txBody>
          <a:bodyPr wrap="square" lIns="0" tIns="0" rIns="0" bIns="0" rtlCol="0" anchor="t"/>
          <a:lstStyle/>
          <a:p>
            <a:pPr indent="0" marL="0">
              <a:buNone/>
            </a:pPr>
            <a:r>
              <a:rPr lang="en-US" sz="1600" dirty="0">
                <a:solidFill>
                  <a:srgbClr val="334155"/>
                </a:solidFill>
              </a:rPr>
              <a:t>Waterfall treats SDLC as a staircase. You finish requirements, then design, then build, then test, then go live. You do not go back without a formal change request. The customer often sees the product at the end.</a:t>
            </a:r>
            <a:endParaRPr lang="en-US" sz="1600" dirty="0"/>
          </a:p>
        </p:txBody>
      </p:sp>
      <p:sp>
        <p:nvSpPr>
          <p:cNvPr id="5" name="Shape 3"/>
          <p:cNvSpPr/>
          <p:nvPr/>
        </p:nvSpPr>
        <p:spPr>
          <a:xfrm>
            <a:off x="502920" y="2148840"/>
            <a:ext cx="2103120" cy="1554480"/>
          </a:xfrm>
          <a:prstGeom prst="roundRect">
            <a:avLst>
              <a:gd name="adj" fmla="val 4706"/>
            </a:avLst>
          </a:prstGeom>
          <a:solidFill>
            <a:srgbClr val="F1F5F9"/>
          </a:solidFill>
          <a:ln/>
        </p:spPr>
      </p:sp>
      <p:sp>
        <p:nvSpPr>
          <p:cNvPr id="6" name="Text 4"/>
          <p:cNvSpPr txBox="1"/>
          <p:nvPr/>
        </p:nvSpPr>
        <p:spPr>
          <a:xfrm>
            <a:off x="576072" y="2258568"/>
            <a:ext cx="1956816" cy="365760"/>
          </a:xfrm>
          <a:prstGeom prst="rect">
            <a:avLst/>
          </a:prstGeom>
          <a:noFill/>
          <a:ln/>
        </p:spPr>
        <p:txBody>
          <a:bodyPr wrap="square" lIns="0" tIns="0" rIns="0" bIns="0" rtlCol="0" anchor="ctr"/>
          <a:lstStyle/>
          <a:p>
            <a:pPr algn="ctr" indent="0" marL="0">
              <a:buNone/>
            </a:pPr>
            <a:r>
              <a:rPr lang="en-US" sz="1400" b="1" dirty="0">
                <a:solidFill>
                  <a:srgbClr val="0F172A"/>
                </a:solidFill>
              </a:rPr>
              <a:t>1</a:t>
            </a:r>
            <a:endParaRPr lang="en-US" sz="1400" dirty="0"/>
          </a:p>
        </p:txBody>
      </p:sp>
      <p:sp>
        <p:nvSpPr>
          <p:cNvPr id="7" name="Text 5"/>
          <p:cNvSpPr txBox="1"/>
          <p:nvPr/>
        </p:nvSpPr>
        <p:spPr>
          <a:xfrm>
            <a:off x="576072" y="2624328"/>
            <a:ext cx="1956816" cy="987552"/>
          </a:xfrm>
          <a:prstGeom prst="rect">
            <a:avLst/>
          </a:prstGeom>
          <a:noFill/>
          <a:ln/>
        </p:spPr>
        <p:txBody>
          <a:bodyPr wrap="square" lIns="0" tIns="0" rIns="0" bIns="0" rtlCol="0" anchor="ctr"/>
          <a:lstStyle/>
          <a:p>
            <a:pPr algn="ctr" indent="0" marL="0">
              <a:buNone/>
            </a:pPr>
            <a:r>
              <a:rPr lang="en-US" sz="1200" dirty="0">
                <a:solidFill>
                  <a:srgbClr val="334155"/>
                </a:solidFill>
              </a:rPr>
              <a:t>Requirements</a:t>
            </a:r>
            <a:endParaRPr lang="en-US" sz="1200" dirty="0"/>
          </a:p>
        </p:txBody>
      </p:sp>
      <p:sp>
        <p:nvSpPr>
          <p:cNvPr id="8" name="Text 6"/>
          <p:cNvSpPr txBox="1"/>
          <p:nvPr/>
        </p:nvSpPr>
        <p:spPr>
          <a:xfrm>
            <a:off x="2587752" y="269748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9" name="Shape 7"/>
          <p:cNvSpPr/>
          <p:nvPr/>
        </p:nvSpPr>
        <p:spPr>
          <a:xfrm>
            <a:off x="2788920" y="2148840"/>
            <a:ext cx="2103120" cy="1554480"/>
          </a:xfrm>
          <a:prstGeom prst="roundRect">
            <a:avLst>
              <a:gd name="adj" fmla="val 4706"/>
            </a:avLst>
          </a:prstGeom>
          <a:solidFill>
            <a:srgbClr val="F1F5F9"/>
          </a:solidFill>
          <a:ln/>
        </p:spPr>
      </p:sp>
      <p:sp>
        <p:nvSpPr>
          <p:cNvPr id="10" name="Text 8"/>
          <p:cNvSpPr txBox="1"/>
          <p:nvPr/>
        </p:nvSpPr>
        <p:spPr>
          <a:xfrm>
            <a:off x="2862072" y="2258568"/>
            <a:ext cx="1956816" cy="365760"/>
          </a:xfrm>
          <a:prstGeom prst="rect">
            <a:avLst/>
          </a:prstGeom>
          <a:noFill/>
          <a:ln/>
        </p:spPr>
        <p:txBody>
          <a:bodyPr wrap="square" lIns="0" tIns="0" rIns="0" bIns="0" rtlCol="0" anchor="ctr"/>
          <a:lstStyle/>
          <a:p>
            <a:pPr algn="ctr" indent="0" marL="0">
              <a:buNone/>
            </a:pPr>
            <a:r>
              <a:rPr lang="en-US" sz="1400" b="1" dirty="0">
                <a:solidFill>
                  <a:srgbClr val="0F172A"/>
                </a:solidFill>
              </a:rPr>
              <a:t>2</a:t>
            </a:r>
            <a:endParaRPr lang="en-US" sz="1400" dirty="0"/>
          </a:p>
        </p:txBody>
      </p:sp>
      <p:sp>
        <p:nvSpPr>
          <p:cNvPr id="11" name="Text 9"/>
          <p:cNvSpPr txBox="1"/>
          <p:nvPr/>
        </p:nvSpPr>
        <p:spPr>
          <a:xfrm>
            <a:off x="2862072" y="2624328"/>
            <a:ext cx="1956816" cy="987552"/>
          </a:xfrm>
          <a:prstGeom prst="rect">
            <a:avLst/>
          </a:prstGeom>
          <a:noFill/>
          <a:ln/>
        </p:spPr>
        <p:txBody>
          <a:bodyPr wrap="square" lIns="0" tIns="0" rIns="0" bIns="0" rtlCol="0" anchor="ctr"/>
          <a:lstStyle/>
          <a:p>
            <a:pPr algn="ctr" indent="0" marL="0">
              <a:buNone/>
            </a:pPr>
            <a:r>
              <a:rPr lang="en-US" sz="1200" dirty="0">
                <a:solidFill>
                  <a:srgbClr val="334155"/>
                </a:solidFill>
              </a:rPr>
              <a:t>Design</a:t>
            </a:r>
            <a:endParaRPr lang="en-US" sz="1200" dirty="0"/>
          </a:p>
        </p:txBody>
      </p:sp>
      <p:sp>
        <p:nvSpPr>
          <p:cNvPr id="12" name="Text 10"/>
          <p:cNvSpPr txBox="1"/>
          <p:nvPr/>
        </p:nvSpPr>
        <p:spPr>
          <a:xfrm>
            <a:off x="4873752" y="269748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13" name="Shape 11"/>
          <p:cNvSpPr/>
          <p:nvPr/>
        </p:nvSpPr>
        <p:spPr>
          <a:xfrm>
            <a:off x="5074920" y="2148840"/>
            <a:ext cx="2103120" cy="1554480"/>
          </a:xfrm>
          <a:prstGeom prst="roundRect">
            <a:avLst>
              <a:gd name="adj" fmla="val 4706"/>
            </a:avLst>
          </a:prstGeom>
          <a:solidFill>
            <a:srgbClr val="F1F5F9"/>
          </a:solidFill>
          <a:ln/>
        </p:spPr>
      </p:sp>
      <p:sp>
        <p:nvSpPr>
          <p:cNvPr id="14" name="Text 12"/>
          <p:cNvSpPr txBox="1"/>
          <p:nvPr/>
        </p:nvSpPr>
        <p:spPr>
          <a:xfrm>
            <a:off x="5148072" y="2258568"/>
            <a:ext cx="1956816" cy="365760"/>
          </a:xfrm>
          <a:prstGeom prst="rect">
            <a:avLst/>
          </a:prstGeom>
          <a:noFill/>
          <a:ln/>
        </p:spPr>
        <p:txBody>
          <a:bodyPr wrap="square" lIns="0" tIns="0" rIns="0" bIns="0" rtlCol="0" anchor="ctr"/>
          <a:lstStyle/>
          <a:p>
            <a:pPr algn="ctr" indent="0" marL="0">
              <a:buNone/>
            </a:pPr>
            <a:r>
              <a:rPr lang="en-US" sz="1400" b="1" dirty="0">
                <a:solidFill>
                  <a:srgbClr val="0F172A"/>
                </a:solidFill>
              </a:rPr>
              <a:t>3</a:t>
            </a:r>
            <a:endParaRPr lang="en-US" sz="1400" dirty="0"/>
          </a:p>
        </p:txBody>
      </p:sp>
      <p:sp>
        <p:nvSpPr>
          <p:cNvPr id="15" name="Text 13"/>
          <p:cNvSpPr txBox="1"/>
          <p:nvPr/>
        </p:nvSpPr>
        <p:spPr>
          <a:xfrm>
            <a:off x="5148072" y="2624328"/>
            <a:ext cx="1956816" cy="987552"/>
          </a:xfrm>
          <a:prstGeom prst="rect">
            <a:avLst/>
          </a:prstGeom>
          <a:noFill/>
          <a:ln/>
        </p:spPr>
        <p:txBody>
          <a:bodyPr wrap="square" lIns="0" tIns="0" rIns="0" bIns="0" rtlCol="0" anchor="ctr"/>
          <a:lstStyle/>
          <a:p>
            <a:pPr algn="ctr" indent="0" marL="0">
              <a:buNone/>
            </a:pPr>
            <a:r>
              <a:rPr lang="en-US" sz="1200" dirty="0">
                <a:solidFill>
                  <a:srgbClr val="334155"/>
                </a:solidFill>
              </a:rPr>
              <a:t>Build</a:t>
            </a:r>
            <a:endParaRPr lang="en-US" sz="1200" dirty="0"/>
          </a:p>
        </p:txBody>
      </p:sp>
      <p:sp>
        <p:nvSpPr>
          <p:cNvPr id="16" name="Text 14"/>
          <p:cNvSpPr txBox="1"/>
          <p:nvPr/>
        </p:nvSpPr>
        <p:spPr>
          <a:xfrm>
            <a:off x="7159752" y="269748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17" name="Shape 15"/>
          <p:cNvSpPr/>
          <p:nvPr/>
        </p:nvSpPr>
        <p:spPr>
          <a:xfrm>
            <a:off x="7360920" y="2148840"/>
            <a:ext cx="2103120" cy="1554480"/>
          </a:xfrm>
          <a:prstGeom prst="roundRect">
            <a:avLst>
              <a:gd name="adj" fmla="val 4706"/>
            </a:avLst>
          </a:prstGeom>
          <a:solidFill>
            <a:srgbClr val="F1F5F9"/>
          </a:solidFill>
          <a:ln/>
        </p:spPr>
      </p:sp>
      <p:sp>
        <p:nvSpPr>
          <p:cNvPr id="18" name="Text 16"/>
          <p:cNvSpPr txBox="1"/>
          <p:nvPr/>
        </p:nvSpPr>
        <p:spPr>
          <a:xfrm>
            <a:off x="7434072" y="2258568"/>
            <a:ext cx="1956816" cy="365760"/>
          </a:xfrm>
          <a:prstGeom prst="rect">
            <a:avLst/>
          </a:prstGeom>
          <a:noFill/>
          <a:ln/>
        </p:spPr>
        <p:txBody>
          <a:bodyPr wrap="square" lIns="0" tIns="0" rIns="0" bIns="0" rtlCol="0" anchor="ctr"/>
          <a:lstStyle/>
          <a:p>
            <a:pPr algn="ctr" indent="0" marL="0">
              <a:buNone/>
            </a:pPr>
            <a:r>
              <a:rPr lang="en-US" sz="1400" b="1" dirty="0">
                <a:solidFill>
                  <a:srgbClr val="0F172A"/>
                </a:solidFill>
              </a:rPr>
              <a:t>4</a:t>
            </a:r>
            <a:endParaRPr lang="en-US" sz="1400" dirty="0"/>
          </a:p>
        </p:txBody>
      </p:sp>
      <p:sp>
        <p:nvSpPr>
          <p:cNvPr id="19" name="Text 17"/>
          <p:cNvSpPr txBox="1"/>
          <p:nvPr/>
        </p:nvSpPr>
        <p:spPr>
          <a:xfrm>
            <a:off x="7434072" y="2624328"/>
            <a:ext cx="1956816" cy="987552"/>
          </a:xfrm>
          <a:prstGeom prst="rect">
            <a:avLst/>
          </a:prstGeom>
          <a:noFill/>
          <a:ln/>
        </p:spPr>
        <p:txBody>
          <a:bodyPr wrap="square" lIns="0" tIns="0" rIns="0" bIns="0" rtlCol="0" anchor="ctr"/>
          <a:lstStyle/>
          <a:p>
            <a:pPr algn="ctr" indent="0" marL="0">
              <a:buNone/>
            </a:pPr>
            <a:r>
              <a:rPr lang="en-US" sz="1200" dirty="0">
                <a:solidFill>
                  <a:srgbClr val="334155"/>
                </a:solidFill>
              </a:rPr>
              <a:t>Test</a:t>
            </a:r>
            <a:endParaRPr lang="en-US" sz="1200" dirty="0"/>
          </a:p>
        </p:txBody>
      </p:sp>
      <p:sp>
        <p:nvSpPr>
          <p:cNvPr id="20" name="Text 18"/>
          <p:cNvSpPr txBox="1"/>
          <p:nvPr/>
        </p:nvSpPr>
        <p:spPr>
          <a:xfrm>
            <a:off x="9445752" y="269748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21" name="Shape 19"/>
          <p:cNvSpPr/>
          <p:nvPr/>
        </p:nvSpPr>
        <p:spPr>
          <a:xfrm>
            <a:off x="9646920" y="2148840"/>
            <a:ext cx="2103120" cy="1554480"/>
          </a:xfrm>
          <a:prstGeom prst="roundRect">
            <a:avLst>
              <a:gd name="adj" fmla="val 4706"/>
            </a:avLst>
          </a:prstGeom>
          <a:solidFill>
            <a:srgbClr val="0F766E"/>
          </a:solidFill>
          <a:ln/>
        </p:spPr>
      </p:sp>
      <p:sp>
        <p:nvSpPr>
          <p:cNvPr id="22" name="Text 20"/>
          <p:cNvSpPr txBox="1"/>
          <p:nvPr/>
        </p:nvSpPr>
        <p:spPr>
          <a:xfrm>
            <a:off x="9720072" y="2258568"/>
            <a:ext cx="1956816" cy="36576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Text 21"/>
          <p:cNvSpPr txBox="1"/>
          <p:nvPr/>
        </p:nvSpPr>
        <p:spPr>
          <a:xfrm>
            <a:off x="9720072" y="2624328"/>
            <a:ext cx="1956816" cy="987552"/>
          </a:xfrm>
          <a:prstGeom prst="rect">
            <a:avLst/>
          </a:prstGeom>
          <a:noFill/>
          <a:ln/>
        </p:spPr>
        <p:txBody>
          <a:bodyPr wrap="square" lIns="0" tIns="0" rIns="0" bIns="0" rtlCol="0" anchor="ctr"/>
          <a:lstStyle/>
          <a:p>
            <a:pPr algn="ctr" indent="0" marL="0">
              <a:buNone/>
            </a:pPr>
            <a:r>
              <a:rPr lang="en-US" sz="1200" dirty="0">
                <a:solidFill>
                  <a:srgbClr val="CCFBF1"/>
                </a:solidFill>
              </a:rPr>
              <a:t>Go live</a:t>
            </a:r>
            <a:endParaRPr lang="en-US" sz="1200" dirty="0"/>
          </a:p>
        </p:txBody>
      </p:sp>
      <p:sp>
        <p:nvSpPr>
          <p:cNvPr id="24" name="Shape 22"/>
          <p:cNvSpPr/>
          <p:nvPr/>
        </p:nvSpPr>
        <p:spPr>
          <a:xfrm>
            <a:off x="502920" y="3886200"/>
            <a:ext cx="11155680" cy="2331720"/>
          </a:xfrm>
          <a:prstGeom prst="roundRect">
            <a:avLst>
              <a:gd name="adj" fmla="val 3137"/>
            </a:avLst>
          </a:prstGeom>
          <a:solidFill>
            <a:srgbClr val="F1F5F9"/>
          </a:solidFill>
          <a:ln/>
        </p:spPr>
      </p:sp>
      <p:sp>
        <p:nvSpPr>
          <p:cNvPr id="25" name="Text 23"/>
          <p:cNvSpPr txBox="1"/>
          <p:nvPr/>
        </p:nvSpPr>
        <p:spPr>
          <a:xfrm>
            <a:off x="667512" y="3995928"/>
            <a:ext cx="10826496" cy="292608"/>
          </a:xfrm>
          <a:prstGeom prst="rect">
            <a:avLst/>
          </a:prstGeom>
          <a:noFill/>
          <a:ln/>
        </p:spPr>
        <p:txBody>
          <a:bodyPr wrap="square" lIns="0" tIns="0" rIns="0" bIns="0" rtlCol="0" anchor="ctr"/>
          <a:lstStyle/>
          <a:p>
            <a:pPr indent="0" marL="0">
              <a:buNone/>
            </a:pPr>
            <a:r>
              <a:rPr lang="en-US" sz="1300" b="1" dirty="0">
                <a:solidFill>
                  <a:srgbClr val="0F172A"/>
                </a:solidFill>
              </a:rPr>
              <a:t>Example</a:t>
            </a:r>
            <a:endParaRPr lang="en-US" sz="1300" dirty="0"/>
          </a:p>
        </p:txBody>
      </p:sp>
      <p:sp>
        <p:nvSpPr>
          <p:cNvPr id="26" name="Text 24"/>
          <p:cNvSpPr txBox="1"/>
          <p:nvPr/>
        </p:nvSpPr>
        <p:spPr>
          <a:xfrm>
            <a:off x="667512" y="4306824"/>
            <a:ext cx="10826496" cy="1783080"/>
          </a:xfrm>
          <a:prstGeom prst="rect">
            <a:avLst/>
          </a:prstGeom>
          <a:noFill/>
          <a:ln/>
        </p:spPr>
        <p:txBody>
          <a:bodyPr wrap="square" lIns="0" tIns="0" rIns="0" bIns="0" rtlCol="0" anchor="t"/>
          <a:lstStyle/>
          <a:p>
            <a:pPr indent="0" marL="0">
              <a:buNone/>
            </a:pPr>
            <a:r>
              <a:rPr lang="en-US" sz="1400" dirty="0">
                <a:solidFill>
                  <a:srgbClr val="334155"/>
                </a:solidFill>
              </a:rPr>
              <a:t>A bank wants a regulatory report in 18 months. The law is fixed. Changing scope mid-build is expensive. Waterfall can fit. The risk: you discover a bad design after 12 months of coding, when test finally starts.</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Waterfall — what goes wrong in product teams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Waterfall limits</a:t>
            </a:r>
            <a:endParaRPr lang="en-US" sz="11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024128"/>
          <a:ext cx="11173968" cy="914400"/>
        </p:xfrm>
        <a:graphic>
          <a:graphicData uri="http://schemas.openxmlformats.org/drawingml/2006/table">
            <a:tbl>
              <a:tblPr/>
              <a:tblGrid>
                <a:gridCol w="3200400"/>
                <a:gridCol w="797356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Symptom</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Why Waterfall produced 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Users hate the UI at go-live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They were not shown working software every few weeks.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 9-month delay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 late test phase found issues that were cheap in week 2 and ruinous in month 9.</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Blame at release night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Dev “finished” months ago; Ops first sees the zip at the end. That is the wall from Lecture 1.</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“The spec changed”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The world changed. Waterfall treated the spec as frozen.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Agile — repeat a small SDLC</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Agile</a:t>
            </a:r>
            <a:endParaRPr lang="en-US" sz="1100" dirty="0"/>
          </a:p>
        </p:txBody>
      </p:sp>
      <p:sp>
        <p:nvSpPr>
          <p:cNvPr id="4" name="Text 2"/>
          <p:cNvSpPr txBox="1"/>
          <p:nvPr/>
        </p:nvSpPr>
        <p:spPr>
          <a:xfrm>
            <a:off x="502920" y="932688"/>
            <a:ext cx="11155680" cy="1143000"/>
          </a:xfrm>
          <a:prstGeom prst="rect">
            <a:avLst/>
          </a:prstGeom>
          <a:noFill/>
          <a:ln/>
        </p:spPr>
        <p:txBody>
          <a:bodyPr wrap="square" lIns="0" tIns="0" rIns="0" bIns="0" rtlCol="0" anchor="t"/>
          <a:lstStyle/>
          <a:p>
            <a:pPr indent="0" marL="0">
              <a:buNone/>
            </a:pPr>
            <a:r>
              <a:rPr lang="en-US" sz="1600" dirty="0">
                <a:solidFill>
                  <a:srgbClr val="334155"/>
                </a:solidFill>
              </a:rPr>
              <a:t>Agile is not “no plan”. It is a plan you are allowed to change when you learn. You still analyse, design, build, test, and ship — but in a slice that fits days or weeks, not a year. You show working software often.</a:t>
            </a:r>
            <a:endParaRPr lang="en-US" sz="1600" dirty="0"/>
          </a:p>
        </p:txBody>
      </p:sp>
      <p:sp>
        <p:nvSpPr>
          <p:cNvPr id="5" name="Shape 3"/>
          <p:cNvSpPr/>
          <p:nvPr/>
        </p:nvSpPr>
        <p:spPr>
          <a:xfrm>
            <a:off x="502920" y="2194560"/>
            <a:ext cx="2103120" cy="1691640"/>
          </a:xfrm>
          <a:prstGeom prst="roundRect">
            <a:avLst>
              <a:gd name="adj" fmla="val 4324"/>
            </a:avLst>
          </a:prstGeom>
          <a:solidFill>
            <a:srgbClr val="ECFDF5"/>
          </a:solidFill>
          <a:ln/>
        </p:spPr>
      </p:sp>
      <p:sp>
        <p:nvSpPr>
          <p:cNvPr id="6" name="Text 4"/>
          <p:cNvSpPr txBox="1"/>
          <p:nvPr/>
        </p:nvSpPr>
        <p:spPr>
          <a:xfrm>
            <a:off x="576072" y="2304288"/>
            <a:ext cx="1956816" cy="365760"/>
          </a:xfrm>
          <a:prstGeom prst="rect">
            <a:avLst/>
          </a:prstGeom>
          <a:noFill/>
          <a:ln/>
        </p:spPr>
        <p:txBody>
          <a:bodyPr wrap="square" lIns="0" tIns="0" rIns="0" bIns="0" rtlCol="0" anchor="ctr"/>
          <a:lstStyle/>
          <a:p>
            <a:pPr algn="ctr" indent="0" marL="0">
              <a:buNone/>
            </a:pPr>
            <a:r>
              <a:rPr lang="en-US" sz="1400" b="1" dirty="0">
                <a:solidFill>
                  <a:srgbClr val="0F766E"/>
                </a:solidFill>
              </a:rPr>
              <a:t>1</a:t>
            </a:r>
            <a:endParaRPr lang="en-US" sz="1400" dirty="0"/>
          </a:p>
        </p:txBody>
      </p:sp>
      <p:sp>
        <p:nvSpPr>
          <p:cNvPr id="7" name="Text 5"/>
          <p:cNvSpPr txBox="1"/>
          <p:nvPr/>
        </p:nvSpPr>
        <p:spPr>
          <a:xfrm>
            <a:off x="576072" y="2670048"/>
            <a:ext cx="1956816" cy="1124712"/>
          </a:xfrm>
          <a:prstGeom prst="rect">
            <a:avLst/>
          </a:prstGeom>
          <a:noFill/>
          <a:ln/>
        </p:spPr>
        <p:txBody>
          <a:bodyPr wrap="square" lIns="0" tIns="0" rIns="0" bIns="0" rtlCol="0" anchor="ctr"/>
          <a:lstStyle/>
          <a:p>
            <a:pPr algn="ctr" indent="0" marL="0">
              <a:buNone/>
            </a:pPr>
            <a:r>
              <a:rPr lang="en-US" sz="1200" dirty="0">
                <a:solidFill>
                  <a:srgbClr val="334155"/>
                </a:solidFill>
              </a:rPr>
              <a:t>Plan a slice</a:t>
            </a:r>
            <a:endParaRPr lang="en-US" sz="1200" dirty="0"/>
          </a:p>
        </p:txBody>
      </p:sp>
      <p:sp>
        <p:nvSpPr>
          <p:cNvPr id="8" name="Text 6"/>
          <p:cNvSpPr txBox="1"/>
          <p:nvPr/>
        </p:nvSpPr>
        <p:spPr>
          <a:xfrm>
            <a:off x="2587752" y="278892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9" name="Shape 7"/>
          <p:cNvSpPr/>
          <p:nvPr/>
        </p:nvSpPr>
        <p:spPr>
          <a:xfrm>
            <a:off x="2788920" y="2194560"/>
            <a:ext cx="2103120" cy="1691640"/>
          </a:xfrm>
          <a:prstGeom prst="roundRect">
            <a:avLst>
              <a:gd name="adj" fmla="val 4324"/>
            </a:avLst>
          </a:prstGeom>
          <a:solidFill>
            <a:srgbClr val="ECFDF5"/>
          </a:solidFill>
          <a:ln/>
        </p:spPr>
      </p:sp>
      <p:sp>
        <p:nvSpPr>
          <p:cNvPr id="10" name="Text 8"/>
          <p:cNvSpPr txBox="1"/>
          <p:nvPr/>
        </p:nvSpPr>
        <p:spPr>
          <a:xfrm>
            <a:off x="2862072" y="2304288"/>
            <a:ext cx="1956816" cy="365760"/>
          </a:xfrm>
          <a:prstGeom prst="rect">
            <a:avLst/>
          </a:prstGeom>
          <a:noFill/>
          <a:ln/>
        </p:spPr>
        <p:txBody>
          <a:bodyPr wrap="square" lIns="0" tIns="0" rIns="0" bIns="0" rtlCol="0" anchor="ctr"/>
          <a:lstStyle/>
          <a:p>
            <a:pPr algn="ctr" indent="0" marL="0">
              <a:buNone/>
            </a:pPr>
            <a:r>
              <a:rPr lang="en-US" sz="1400" b="1" dirty="0">
                <a:solidFill>
                  <a:srgbClr val="0F766E"/>
                </a:solidFill>
              </a:rPr>
              <a:t>2</a:t>
            </a:r>
            <a:endParaRPr lang="en-US" sz="1400" dirty="0"/>
          </a:p>
        </p:txBody>
      </p:sp>
      <p:sp>
        <p:nvSpPr>
          <p:cNvPr id="11" name="Text 9"/>
          <p:cNvSpPr txBox="1"/>
          <p:nvPr/>
        </p:nvSpPr>
        <p:spPr>
          <a:xfrm>
            <a:off x="2862072" y="2670048"/>
            <a:ext cx="1956816" cy="1124712"/>
          </a:xfrm>
          <a:prstGeom prst="rect">
            <a:avLst/>
          </a:prstGeom>
          <a:noFill/>
          <a:ln/>
        </p:spPr>
        <p:txBody>
          <a:bodyPr wrap="square" lIns="0" tIns="0" rIns="0" bIns="0" rtlCol="0" anchor="ctr"/>
          <a:lstStyle/>
          <a:p>
            <a:pPr algn="ctr" indent="0" marL="0">
              <a:buNone/>
            </a:pPr>
            <a:r>
              <a:rPr lang="en-US" sz="1200" dirty="0">
                <a:solidFill>
                  <a:srgbClr val="334155"/>
                </a:solidFill>
              </a:rPr>
              <a:t>Build it</a:t>
            </a:r>
            <a:endParaRPr lang="en-US" sz="1200" dirty="0"/>
          </a:p>
        </p:txBody>
      </p:sp>
      <p:sp>
        <p:nvSpPr>
          <p:cNvPr id="12" name="Text 10"/>
          <p:cNvSpPr txBox="1"/>
          <p:nvPr/>
        </p:nvSpPr>
        <p:spPr>
          <a:xfrm>
            <a:off x="4873752" y="278892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13" name="Shape 11"/>
          <p:cNvSpPr/>
          <p:nvPr/>
        </p:nvSpPr>
        <p:spPr>
          <a:xfrm>
            <a:off x="5074920" y="2194560"/>
            <a:ext cx="2103120" cy="1691640"/>
          </a:xfrm>
          <a:prstGeom prst="roundRect">
            <a:avLst>
              <a:gd name="adj" fmla="val 4324"/>
            </a:avLst>
          </a:prstGeom>
          <a:solidFill>
            <a:srgbClr val="ECFDF5"/>
          </a:solidFill>
          <a:ln/>
        </p:spPr>
      </p:sp>
      <p:sp>
        <p:nvSpPr>
          <p:cNvPr id="14" name="Text 12"/>
          <p:cNvSpPr txBox="1"/>
          <p:nvPr/>
        </p:nvSpPr>
        <p:spPr>
          <a:xfrm>
            <a:off x="5148072" y="2304288"/>
            <a:ext cx="1956816" cy="365760"/>
          </a:xfrm>
          <a:prstGeom prst="rect">
            <a:avLst/>
          </a:prstGeom>
          <a:noFill/>
          <a:ln/>
        </p:spPr>
        <p:txBody>
          <a:bodyPr wrap="square" lIns="0" tIns="0" rIns="0" bIns="0" rtlCol="0" anchor="ctr"/>
          <a:lstStyle/>
          <a:p>
            <a:pPr algn="ctr" indent="0" marL="0">
              <a:buNone/>
            </a:pPr>
            <a:r>
              <a:rPr lang="en-US" sz="1400" b="1" dirty="0">
                <a:solidFill>
                  <a:srgbClr val="0F766E"/>
                </a:solidFill>
              </a:rPr>
              <a:t>3</a:t>
            </a:r>
            <a:endParaRPr lang="en-US" sz="1400" dirty="0"/>
          </a:p>
        </p:txBody>
      </p:sp>
      <p:sp>
        <p:nvSpPr>
          <p:cNvPr id="15" name="Text 13"/>
          <p:cNvSpPr txBox="1"/>
          <p:nvPr/>
        </p:nvSpPr>
        <p:spPr>
          <a:xfrm>
            <a:off x="5148072" y="2670048"/>
            <a:ext cx="1956816" cy="1124712"/>
          </a:xfrm>
          <a:prstGeom prst="rect">
            <a:avLst/>
          </a:prstGeom>
          <a:noFill/>
          <a:ln/>
        </p:spPr>
        <p:txBody>
          <a:bodyPr wrap="square" lIns="0" tIns="0" rIns="0" bIns="0" rtlCol="0" anchor="ctr"/>
          <a:lstStyle/>
          <a:p>
            <a:pPr algn="ctr" indent="0" marL="0">
              <a:buNone/>
            </a:pPr>
            <a:r>
              <a:rPr lang="en-US" sz="1200" dirty="0">
                <a:solidFill>
                  <a:srgbClr val="334155"/>
                </a:solidFill>
              </a:rPr>
              <a:t>Show it</a:t>
            </a:r>
            <a:endParaRPr lang="en-US" sz="1200" dirty="0"/>
          </a:p>
        </p:txBody>
      </p:sp>
      <p:sp>
        <p:nvSpPr>
          <p:cNvPr id="16" name="Text 14"/>
          <p:cNvSpPr txBox="1"/>
          <p:nvPr/>
        </p:nvSpPr>
        <p:spPr>
          <a:xfrm>
            <a:off x="7159752" y="278892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17" name="Shape 15"/>
          <p:cNvSpPr/>
          <p:nvPr/>
        </p:nvSpPr>
        <p:spPr>
          <a:xfrm>
            <a:off x="7360920" y="2194560"/>
            <a:ext cx="2103120" cy="1691640"/>
          </a:xfrm>
          <a:prstGeom prst="roundRect">
            <a:avLst>
              <a:gd name="adj" fmla="val 4324"/>
            </a:avLst>
          </a:prstGeom>
          <a:solidFill>
            <a:srgbClr val="ECFDF5"/>
          </a:solidFill>
          <a:ln/>
        </p:spPr>
      </p:sp>
      <p:sp>
        <p:nvSpPr>
          <p:cNvPr id="18" name="Text 16"/>
          <p:cNvSpPr txBox="1"/>
          <p:nvPr/>
        </p:nvSpPr>
        <p:spPr>
          <a:xfrm>
            <a:off x="7434072" y="2304288"/>
            <a:ext cx="1956816" cy="365760"/>
          </a:xfrm>
          <a:prstGeom prst="rect">
            <a:avLst/>
          </a:prstGeom>
          <a:noFill/>
          <a:ln/>
        </p:spPr>
        <p:txBody>
          <a:bodyPr wrap="square" lIns="0" tIns="0" rIns="0" bIns="0" rtlCol="0" anchor="ctr"/>
          <a:lstStyle/>
          <a:p>
            <a:pPr algn="ctr" indent="0" marL="0">
              <a:buNone/>
            </a:pPr>
            <a:r>
              <a:rPr lang="en-US" sz="1400" b="1" dirty="0">
                <a:solidFill>
                  <a:srgbClr val="0F766E"/>
                </a:solidFill>
              </a:rPr>
              <a:t>4</a:t>
            </a:r>
            <a:endParaRPr lang="en-US" sz="1400" dirty="0"/>
          </a:p>
        </p:txBody>
      </p:sp>
      <p:sp>
        <p:nvSpPr>
          <p:cNvPr id="19" name="Text 17"/>
          <p:cNvSpPr txBox="1"/>
          <p:nvPr/>
        </p:nvSpPr>
        <p:spPr>
          <a:xfrm>
            <a:off x="7434072" y="2670048"/>
            <a:ext cx="1956816" cy="1124712"/>
          </a:xfrm>
          <a:prstGeom prst="rect">
            <a:avLst/>
          </a:prstGeom>
          <a:noFill/>
          <a:ln/>
        </p:spPr>
        <p:txBody>
          <a:bodyPr wrap="square" lIns="0" tIns="0" rIns="0" bIns="0" rtlCol="0" anchor="ctr"/>
          <a:lstStyle/>
          <a:p>
            <a:pPr algn="ctr" indent="0" marL="0">
              <a:buNone/>
            </a:pPr>
            <a:r>
              <a:rPr lang="en-US" sz="1200" dirty="0">
                <a:solidFill>
                  <a:srgbClr val="334155"/>
                </a:solidFill>
              </a:rPr>
              <a:t>Learn</a:t>
            </a:r>
            <a:endParaRPr lang="en-US" sz="1200" dirty="0"/>
          </a:p>
        </p:txBody>
      </p:sp>
      <p:sp>
        <p:nvSpPr>
          <p:cNvPr id="20" name="Text 18"/>
          <p:cNvSpPr txBox="1"/>
          <p:nvPr/>
        </p:nvSpPr>
        <p:spPr>
          <a:xfrm>
            <a:off x="9445752" y="2788920"/>
            <a:ext cx="365760" cy="365760"/>
          </a:xfrm>
          <a:prstGeom prst="rect">
            <a:avLst/>
          </a:prstGeom>
          <a:noFill/>
          <a:ln/>
        </p:spPr>
        <p:txBody>
          <a:bodyPr wrap="square" lIns="0" tIns="0" rIns="0" bIns="0" rtlCol="0" anchor="ctr"/>
          <a:lstStyle/>
          <a:p>
            <a:pPr algn="ctr" indent="0" marL="0">
              <a:buNone/>
            </a:pPr>
            <a:r>
              <a:rPr lang="en-US" sz="2200" b="1" dirty="0">
                <a:solidFill>
                  <a:srgbClr val="0F766E"/>
                </a:solidFill>
              </a:rPr>
              <a:t>→</a:t>
            </a:r>
            <a:endParaRPr lang="en-US" sz="2200" dirty="0"/>
          </a:p>
        </p:txBody>
      </p:sp>
      <p:sp>
        <p:nvSpPr>
          <p:cNvPr id="21" name="Shape 19"/>
          <p:cNvSpPr/>
          <p:nvPr/>
        </p:nvSpPr>
        <p:spPr>
          <a:xfrm>
            <a:off x="9646920" y="2194560"/>
            <a:ext cx="2103120" cy="1691640"/>
          </a:xfrm>
          <a:prstGeom prst="roundRect">
            <a:avLst>
              <a:gd name="adj" fmla="val 4324"/>
            </a:avLst>
          </a:prstGeom>
          <a:solidFill>
            <a:srgbClr val="ECFDF5"/>
          </a:solidFill>
          <a:ln/>
        </p:spPr>
      </p:sp>
      <p:sp>
        <p:nvSpPr>
          <p:cNvPr id="22" name="Text 20"/>
          <p:cNvSpPr txBox="1"/>
          <p:nvPr/>
        </p:nvSpPr>
        <p:spPr>
          <a:xfrm>
            <a:off x="9720072" y="2304288"/>
            <a:ext cx="1956816" cy="365760"/>
          </a:xfrm>
          <a:prstGeom prst="rect">
            <a:avLst/>
          </a:prstGeom>
          <a:noFill/>
          <a:ln/>
        </p:spPr>
        <p:txBody>
          <a:bodyPr wrap="square" lIns="0" tIns="0" rIns="0" bIns="0" rtlCol="0" anchor="ctr"/>
          <a:lstStyle/>
          <a:p>
            <a:pPr algn="ctr" indent="0" marL="0">
              <a:buNone/>
            </a:pPr>
            <a:r>
              <a:rPr lang="en-US" sz="1400" b="1" dirty="0">
                <a:solidFill>
                  <a:srgbClr val="0F766E"/>
                </a:solidFill>
              </a:rPr>
              <a:t>5</a:t>
            </a:r>
            <a:endParaRPr lang="en-US" sz="1400" dirty="0"/>
          </a:p>
        </p:txBody>
      </p:sp>
      <p:sp>
        <p:nvSpPr>
          <p:cNvPr id="23" name="Text 21"/>
          <p:cNvSpPr txBox="1"/>
          <p:nvPr/>
        </p:nvSpPr>
        <p:spPr>
          <a:xfrm>
            <a:off x="9720072" y="2670048"/>
            <a:ext cx="1956816" cy="1124712"/>
          </a:xfrm>
          <a:prstGeom prst="rect">
            <a:avLst/>
          </a:prstGeom>
          <a:noFill/>
          <a:ln/>
        </p:spPr>
        <p:txBody>
          <a:bodyPr wrap="square" lIns="0" tIns="0" rIns="0" bIns="0" rtlCol="0" anchor="ctr"/>
          <a:lstStyle/>
          <a:p>
            <a:pPr algn="ctr" indent="0" marL="0">
              <a:buNone/>
            </a:pPr>
            <a:r>
              <a:rPr lang="en-US" sz="1200" dirty="0">
                <a:solidFill>
                  <a:srgbClr val="334155"/>
                </a:solidFill>
              </a:rPr>
              <a:t>Next slice</a:t>
            </a:r>
            <a:endParaRPr lang="en-US" sz="1200" dirty="0"/>
          </a:p>
        </p:txBody>
      </p:sp>
      <p:sp>
        <p:nvSpPr>
          <p:cNvPr id="24" name="Shape 22"/>
          <p:cNvSpPr/>
          <p:nvPr/>
        </p:nvSpPr>
        <p:spPr>
          <a:xfrm>
            <a:off x="502920" y="4114800"/>
            <a:ext cx="11155680" cy="2103120"/>
          </a:xfrm>
          <a:prstGeom prst="roundRect">
            <a:avLst>
              <a:gd name="adj" fmla="val 3478"/>
            </a:avLst>
          </a:prstGeom>
          <a:solidFill>
            <a:srgbClr val="ECFDF5"/>
          </a:solidFill>
          <a:ln/>
        </p:spPr>
      </p:sp>
      <p:sp>
        <p:nvSpPr>
          <p:cNvPr id="25" name="Text 23"/>
          <p:cNvSpPr txBox="1"/>
          <p:nvPr/>
        </p:nvSpPr>
        <p:spPr>
          <a:xfrm>
            <a:off x="667512" y="4224528"/>
            <a:ext cx="10826496" cy="292608"/>
          </a:xfrm>
          <a:prstGeom prst="rect">
            <a:avLst/>
          </a:prstGeom>
          <a:noFill/>
          <a:ln/>
        </p:spPr>
        <p:txBody>
          <a:bodyPr wrap="square" lIns="0" tIns="0" rIns="0" bIns="0" rtlCol="0" anchor="ctr"/>
          <a:lstStyle/>
          <a:p>
            <a:pPr indent="0" marL="0">
              <a:buNone/>
            </a:pPr>
            <a:r>
              <a:rPr lang="en-US" sz="1300" b="1" dirty="0">
                <a:solidFill>
                  <a:srgbClr val="0F766E"/>
                </a:solidFill>
              </a:rPr>
              <a:t>Example</a:t>
            </a:r>
            <a:endParaRPr lang="en-US" sz="1300" dirty="0"/>
          </a:p>
        </p:txBody>
      </p:sp>
      <p:sp>
        <p:nvSpPr>
          <p:cNvPr id="26" name="Text 24"/>
          <p:cNvSpPr txBox="1"/>
          <p:nvPr/>
        </p:nvSpPr>
        <p:spPr>
          <a:xfrm>
            <a:off x="667512" y="4535424"/>
            <a:ext cx="10826496" cy="1554480"/>
          </a:xfrm>
          <a:prstGeom prst="rect">
            <a:avLst/>
          </a:prstGeom>
          <a:noFill/>
          <a:ln/>
        </p:spPr>
        <p:txBody>
          <a:bodyPr wrap="square" lIns="0" tIns="0" rIns="0" bIns="0" rtlCol="0" anchor="t"/>
          <a:lstStyle/>
          <a:p>
            <a:pPr indent="0" marL="0">
              <a:buNone/>
            </a:pPr>
            <a:r>
              <a:rPr lang="en-US" sz="1400" dirty="0">
                <a:solidFill>
                  <a:srgbClr val="334155"/>
                </a:solidFill>
              </a:rPr>
              <a:t>notes-api this week: “list notes in a file”. Next week: “add a note”. You can change week 3 after users try week 2. Git branches and PRs are how Agile work is saved without wrecking main.</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Waterfall versus Agile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comparison</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11173968" cy="914400"/>
        </p:xfrm>
        <a:graphic>
          <a:graphicData uri="http://schemas.openxmlformats.org/drawingml/2006/table">
            <a:tbl>
              <a:tblPr/>
              <a:tblGrid>
                <a:gridCol w="2468880"/>
                <a:gridCol w="4206240"/>
                <a:gridCol w="449884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Question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Waterfall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Agile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When do users see 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At the end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Every slice / sprint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Can the plan change?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Painful, formal</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Expected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Testing</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 late phase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Inside each slice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Risk</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Big bang at go-live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Smaller, more frequent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Fits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Fixed law / fixed contract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Learning products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DevOps needed?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Still yes, or release night explodes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Still yes — Agile without deploy is just small documents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Scrum — Agile with a time box</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Scrum</a:t>
            </a:r>
            <a:endParaRPr lang="en-US" sz="1100" dirty="0"/>
          </a:p>
        </p:txBody>
      </p:sp>
      <p:sp>
        <p:nvSpPr>
          <p:cNvPr id="4" name="Text 2"/>
          <p:cNvSpPr txBox="1"/>
          <p:nvPr/>
        </p:nvSpPr>
        <p:spPr>
          <a:xfrm>
            <a:off x="502920" y="932688"/>
            <a:ext cx="11155680" cy="1417320"/>
          </a:xfrm>
          <a:prstGeom prst="rect">
            <a:avLst/>
          </a:prstGeom>
          <a:noFill/>
          <a:ln/>
        </p:spPr>
        <p:txBody>
          <a:bodyPr wrap="square" lIns="0" tIns="0" rIns="0" bIns="0" rtlCol="0" anchor="t"/>
          <a:lstStyle/>
          <a:p>
            <a:pPr indent="0" marL="0">
              <a:buNone/>
            </a:pPr>
            <a:r>
              <a:rPr lang="en-US" sz="1600" dirty="0">
                <a:solidFill>
                  <a:srgbClr val="334155"/>
                </a:solidFill>
              </a:rPr>
              <a:t>Scrum is a way to *do* Agile. Work is cut into a sprint (often 1–2 weeks) with a sprint goal. A backlog is the ordered list of work. A daily stand-up is a short “what I did / what I will do / what is blocked”. At the end you review working software, then improve how the team works (retro).</a:t>
            </a:r>
            <a:endParaRPr lang="en-US" sz="1600" dirty="0"/>
          </a:p>
        </p:txBody>
      </p:sp>
      <p:sp>
        <p:nvSpPr>
          <p:cNvPr id="5" name="Shape 3"/>
          <p:cNvSpPr/>
          <p:nvPr/>
        </p:nvSpPr>
        <p:spPr>
          <a:xfrm>
            <a:off x="502920" y="2468880"/>
            <a:ext cx="2651760" cy="3703320"/>
          </a:xfrm>
          <a:prstGeom prst="roundRect">
            <a:avLst>
              <a:gd name="adj" fmla="val 2759"/>
            </a:avLst>
          </a:prstGeom>
          <a:solidFill>
            <a:srgbClr val="F1F5F9"/>
          </a:solidFill>
          <a:ln/>
        </p:spPr>
      </p:sp>
      <p:sp>
        <p:nvSpPr>
          <p:cNvPr id="6" name="Text 4"/>
          <p:cNvSpPr txBox="1"/>
          <p:nvPr/>
        </p:nvSpPr>
        <p:spPr>
          <a:xfrm>
            <a:off x="576072" y="2578608"/>
            <a:ext cx="2505456" cy="365760"/>
          </a:xfrm>
          <a:prstGeom prst="rect">
            <a:avLst/>
          </a:prstGeom>
          <a:noFill/>
          <a:ln/>
        </p:spPr>
        <p:txBody>
          <a:bodyPr wrap="square" lIns="0" tIns="0" rIns="0" bIns="0" rtlCol="0" anchor="ctr"/>
          <a:lstStyle/>
          <a:p>
            <a:pPr algn="ctr" indent="0" marL="0">
              <a:buNone/>
            </a:pPr>
            <a:r>
              <a:rPr lang="en-US" sz="1400" b="1" dirty="0">
                <a:solidFill>
                  <a:srgbClr val="0F172A"/>
                </a:solidFill>
              </a:rPr>
              <a:t>Backlog</a:t>
            </a:r>
            <a:endParaRPr lang="en-US" sz="1400" dirty="0"/>
          </a:p>
        </p:txBody>
      </p:sp>
      <p:sp>
        <p:nvSpPr>
          <p:cNvPr id="7" name="Text 5"/>
          <p:cNvSpPr txBox="1"/>
          <p:nvPr/>
        </p:nvSpPr>
        <p:spPr>
          <a:xfrm>
            <a:off x="576072" y="2944368"/>
            <a:ext cx="2505456" cy="3136392"/>
          </a:xfrm>
          <a:prstGeom prst="rect">
            <a:avLst/>
          </a:prstGeom>
          <a:noFill/>
          <a:ln/>
        </p:spPr>
        <p:txBody>
          <a:bodyPr wrap="square" lIns="0" tIns="0" rIns="0" bIns="0" rtlCol="0" anchor="ctr"/>
          <a:lstStyle/>
          <a:p>
            <a:pPr algn="ctr" indent="0" marL="0">
              <a:buNone/>
            </a:pPr>
            <a:r>
              <a:rPr lang="en-US" sz="1200" dirty="0">
                <a:solidFill>
                  <a:srgbClr val="334155"/>
                </a:solidFill>
              </a:rPr>
              <a:t>Ordered list of stories. Highest item is next.</a:t>
            </a:r>
            <a:endParaRPr lang="en-US" sz="1200" dirty="0"/>
          </a:p>
        </p:txBody>
      </p:sp>
      <p:sp>
        <p:nvSpPr>
          <p:cNvPr id="8" name="Shape 6"/>
          <p:cNvSpPr/>
          <p:nvPr/>
        </p:nvSpPr>
        <p:spPr>
          <a:xfrm>
            <a:off x="3383280" y="2468880"/>
            <a:ext cx="2651760" cy="3703320"/>
          </a:xfrm>
          <a:prstGeom prst="roundRect">
            <a:avLst>
              <a:gd name="adj" fmla="val 2759"/>
            </a:avLst>
          </a:prstGeom>
          <a:solidFill>
            <a:srgbClr val="ECFDF5"/>
          </a:solidFill>
          <a:ln/>
        </p:spPr>
      </p:sp>
      <p:sp>
        <p:nvSpPr>
          <p:cNvPr id="9" name="Text 7"/>
          <p:cNvSpPr txBox="1"/>
          <p:nvPr/>
        </p:nvSpPr>
        <p:spPr>
          <a:xfrm>
            <a:off x="3456432" y="2578608"/>
            <a:ext cx="2505456" cy="365760"/>
          </a:xfrm>
          <a:prstGeom prst="rect">
            <a:avLst/>
          </a:prstGeom>
          <a:noFill/>
          <a:ln/>
        </p:spPr>
        <p:txBody>
          <a:bodyPr wrap="square" lIns="0" tIns="0" rIns="0" bIns="0" rtlCol="0" anchor="ctr"/>
          <a:lstStyle/>
          <a:p>
            <a:pPr algn="ctr" indent="0" marL="0">
              <a:buNone/>
            </a:pPr>
            <a:r>
              <a:rPr lang="en-US" sz="1400" b="1" dirty="0">
                <a:solidFill>
                  <a:srgbClr val="0F766E"/>
                </a:solidFill>
              </a:rPr>
              <a:t>Sprint</a:t>
            </a:r>
            <a:endParaRPr lang="en-US" sz="1400" dirty="0"/>
          </a:p>
        </p:txBody>
      </p:sp>
      <p:sp>
        <p:nvSpPr>
          <p:cNvPr id="10" name="Text 8"/>
          <p:cNvSpPr txBox="1"/>
          <p:nvPr/>
        </p:nvSpPr>
        <p:spPr>
          <a:xfrm>
            <a:off x="3456432" y="2944368"/>
            <a:ext cx="2505456" cy="3136392"/>
          </a:xfrm>
          <a:prstGeom prst="rect">
            <a:avLst/>
          </a:prstGeom>
          <a:noFill/>
          <a:ln/>
        </p:spPr>
        <p:txBody>
          <a:bodyPr wrap="square" lIns="0" tIns="0" rIns="0" bIns="0" rtlCol="0" anchor="ctr"/>
          <a:lstStyle/>
          <a:p>
            <a:pPr algn="ctr" indent="0" marL="0">
              <a:buNone/>
            </a:pPr>
            <a:r>
              <a:rPr lang="en-US" sz="1200" dirty="0">
                <a:solidFill>
                  <a:srgbClr val="334155"/>
                </a:solidFill>
              </a:rPr>
              <a:t>A fixed window. Team commits to a goal, not to 47 tickets.</a:t>
            </a:r>
            <a:endParaRPr lang="en-US" sz="1200" dirty="0"/>
          </a:p>
        </p:txBody>
      </p:sp>
      <p:sp>
        <p:nvSpPr>
          <p:cNvPr id="11" name="Shape 9"/>
          <p:cNvSpPr/>
          <p:nvPr/>
        </p:nvSpPr>
        <p:spPr>
          <a:xfrm>
            <a:off x="6263640" y="2468880"/>
            <a:ext cx="2651760" cy="3703320"/>
          </a:xfrm>
          <a:prstGeom prst="roundRect">
            <a:avLst>
              <a:gd name="adj" fmla="val 2759"/>
            </a:avLst>
          </a:prstGeom>
          <a:solidFill>
            <a:srgbClr val="CCFBF1"/>
          </a:solidFill>
          <a:ln/>
        </p:spPr>
      </p:sp>
      <p:sp>
        <p:nvSpPr>
          <p:cNvPr id="12" name="Text 10"/>
          <p:cNvSpPr txBox="1"/>
          <p:nvPr/>
        </p:nvSpPr>
        <p:spPr>
          <a:xfrm>
            <a:off x="6336792" y="2578608"/>
            <a:ext cx="2505456" cy="365760"/>
          </a:xfrm>
          <a:prstGeom prst="rect">
            <a:avLst/>
          </a:prstGeom>
          <a:noFill/>
          <a:ln/>
        </p:spPr>
        <p:txBody>
          <a:bodyPr wrap="square" lIns="0" tIns="0" rIns="0" bIns="0" rtlCol="0" anchor="ctr"/>
          <a:lstStyle/>
          <a:p>
            <a:pPr algn="ctr" indent="0" marL="0">
              <a:buNone/>
            </a:pPr>
            <a:r>
              <a:rPr lang="en-US" sz="1400" b="1" dirty="0">
                <a:solidFill>
                  <a:srgbClr val="0F766E"/>
                </a:solidFill>
              </a:rPr>
              <a:t>Review</a:t>
            </a:r>
            <a:endParaRPr lang="en-US" sz="1400" dirty="0"/>
          </a:p>
        </p:txBody>
      </p:sp>
      <p:sp>
        <p:nvSpPr>
          <p:cNvPr id="13" name="Text 11"/>
          <p:cNvSpPr txBox="1"/>
          <p:nvPr/>
        </p:nvSpPr>
        <p:spPr>
          <a:xfrm>
            <a:off x="6336792" y="2944368"/>
            <a:ext cx="2505456" cy="3136392"/>
          </a:xfrm>
          <a:prstGeom prst="rect">
            <a:avLst/>
          </a:prstGeom>
          <a:noFill/>
          <a:ln/>
        </p:spPr>
        <p:txBody>
          <a:bodyPr wrap="square" lIns="0" tIns="0" rIns="0" bIns="0" rtlCol="0" anchor="ctr"/>
          <a:lstStyle/>
          <a:p>
            <a:pPr algn="ctr" indent="0" marL="0">
              <a:buNone/>
            </a:pPr>
            <a:r>
              <a:rPr lang="en-US" sz="1200" dirty="0">
                <a:solidFill>
                  <a:srgbClr val="334155"/>
                </a:solidFill>
              </a:rPr>
              <a:t>Show what actually runs. Not a slide of promises.</a:t>
            </a:r>
            <a:endParaRPr lang="en-US" sz="1200" dirty="0"/>
          </a:p>
        </p:txBody>
      </p:sp>
      <p:sp>
        <p:nvSpPr>
          <p:cNvPr id="14" name="Shape 12"/>
          <p:cNvSpPr/>
          <p:nvPr/>
        </p:nvSpPr>
        <p:spPr>
          <a:xfrm>
            <a:off x="9144000" y="2468880"/>
            <a:ext cx="2514600" cy="3703320"/>
          </a:xfrm>
          <a:prstGeom prst="roundRect">
            <a:avLst>
              <a:gd name="adj" fmla="val 2909"/>
            </a:avLst>
          </a:prstGeom>
          <a:solidFill>
            <a:srgbClr val="0F766E"/>
          </a:solidFill>
          <a:ln/>
        </p:spPr>
      </p:sp>
      <p:sp>
        <p:nvSpPr>
          <p:cNvPr id="15" name="Text 13"/>
          <p:cNvSpPr txBox="1"/>
          <p:nvPr/>
        </p:nvSpPr>
        <p:spPr>
          <a:xfrm>
            <a:off x="9217152" y="2578608"/>
            <a:ext cx="2368296" cy="365760"/>
          </a:xfrm>
          <a:prstGeom prst="rect">
            <a:avLst/>
          </a:prstGeom>
          <a:noFill/>
          <a:ln/>
        </p:spPr>
        <p:txBody>
          <a:bodyPr wrap="square" lIns="0" tIns="0" rIns="0" bIns="0" rtlCol="0" anchor="ctr"/>
          <a:lstStyle/>
          <a:p>
            <a:pPr algn="ctr" indent="0" marL="0">
              <a:buNone/>
            </a:pPr>
            <a:r>
              <a:rPr lang="en-US" sz="1400" b="1" dirty="0">
                <a:solidFill>
                  <a:srgbClr val="FFFFFF"/>
                </a:solidFill>
              </a:rPr>
              <a:t>Retro</a:t>
            </a:r>
            <a:endParaRPr lang="en-US" sz="1400" dirty="0"/>
          </a:p>
        </p:txBody>
      </p:sp>
      <p:sp>
        <p:nvSpPr>
          <p:cNvPr id="16" name="Text 14"/>
          <p:cNvSpPr txBox="1"/>
          <p:nvPr/>
        </p:nvSpPr>
        <p:spPr>
          <a:xfrm>
            <a:off x="9217152" y="2944368"/>
            <a:ext cx="2368296" cy="3136392"/>
          </a:xfrm>
          <a:prstGeom prst="rect">
            <a:avLst/>
          </a:prstGeom>
          <a:noFill/>
          <a:ln/>
        </p:spPr>
        <p:txBody>
          <a:bodyPr wrap="square" lIns="0" tIns="0" rIns="0" bIns="0" rtlCol="0" anchor="ctr"/>
          <a:lstStyle/>
          <a:p>
            <a:pPr algn="ctr" indent="0" marL="0">
              <a:buNone/>
            </a:pPr>
            <a:r>
              <a:rPr lang="en-US" sz="1200" dirty="0">
                <a:solidFill>
                  <a:srgbClr val="CCFBF1"/>
                </a:solidFill>
              </a:rPr>
              <a:t>What should we change in how we work?</a:t>
            </a:r>
            <a:endParaRPr lang="en-US" sz="12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Kanban — a board and a WIP limit</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Kanban</a:t>
            </a:r>
            <a:endParaRPr lang="en-US" sz="1100" dirty="0"/>
          </a:p>
        </p:txBody>
      </p:sp>
      <p:sp>
        <p:nvSpPr>
          <p:cNvPr id="4" name="Text 2"/>
          <p:cNvSpPr txBox="1"/>
          <p:nvPr/>
        </p:nvSpPr>
        <p:spPr>
          <a:xfrm>
            <a:off x="502920" y="932688"/>
            <a:ext cx="11155680" cy="1097280"/>
          </a:xfrm>
          <a:prstGeom prst="rect">
            <a:avLst/>
          </a:prstGeom>
          <a:noFill/>
          <a:ln/>
        </p:spPr>
        <p:txBody>
          <a:bodyPr wrap="square" lIns="0" tIns="0" rIns="0" bIns="0" rtlCol="0" anchor="t"/>
          <a:lstStyle/>
          <a:p>
            <a:pPr indent="0" marL="0">
              <a:buNone/>
            </a:pPr>
            <a:r>
              <a:rPr lang="en-US" sz="1600" dirty="0">
                <a:solidFill>
                  <a:srgbClr val="334155"/>
                </a:solidFill>
              </a:rPr>
              <a:t>Kanban is another way to *do* Agile. There is no required sprint. Cards move left to right. You limit how many cards can sit in “In progress” (WIP = work in progress). The point is to finish work, not to start more work.</a:t>
            </a:r>
            <a:endParaRPr lang="en-US" sz="1600" dirty="0"/>
          </a:p>
        </p:txBody>
      </p:sp>
      <p:sp>
        <p:nvSpPr>
          <p:cNvPr id="5" name="Shape 3"/>
          <p:cNvSpPr/>
          <p:nvPr/>
        </p:nvSpPr>
        <p:spPr>
          <a:xfrm>
            <a:off x="502920" y="2148840"/>
            <a:ext cx="2788920" cy="2788920"/>
          </a:xfrm>
          <a:prstGeom prst="roundRect">
            <a:avLst>
              <a:gd name="adj" fmla="val 2623"/>
            </a:avLst>
          </a:prstGeom>
          <a:solidFill>
            <a:srgbClr val="F1F5F9"/>
          </a:solidFill>
          <a:ln/>
        </p:spPr>
      </p:sp>
      <p:sp>
        <p:nvSpPr>
          <p:cNvPr id="6" name="Text 4"/>
          <p:cNvSpPr txBox="1"/>
          <p:nvPr/>
        </p:nvSpPr>
        <p:spPr>
          <a:xfrm>
            <a:off x="576072" y="2258568"/>
            <a:ext cx="2642616" cy="365760"/>
          </a:xfrm>
          <a:prstGeom prst="rect">
            <a:avLst/>
          </a:prstGeom>
          <a:noFill/>
          <a:ln/>
        </p:spPr>
        <p:txBody>
          <a:bodyPr wrap="square" lIns="0" tIns="0" rIns="0" bIns="0" rtlCol="0" anchor="ctr"/>
          <a:lstStyle/>
          <a:p>
            <a:pPr algn="ctr" indent="0" marL="0">
              <a:buNone/>
            </a:pPr>
            <a:r>
              <a:rPr lang="en-US" sz="1400" b="1" dirty="0">
                <a:solidFill>
                  <a:srgbClr val="0F172A"/>
                </a:solidFill>
              </a:rPr>
              <a:t>To do</a:t>
            </a:r>
            <a:endParaRPr lang="en-US" sz="1400" dirty="0"/>
          </a:p>
        </p:txBody>
      </p:sp>
      <p:sp>
        <p:nvSpPr>
          <p:cNvPr id="7" name="Text 5"/>
          <p:cNvSpPr txBox="1"/>
          <p:nvPr/>
        </p:nvSpPr>
        <p:spPr>
          <a:xfrm>
            <a:off x="576072" y="2624328"/>
            <a:ext cx="2642616" cy="2221992"/>
          </a:xfrm>
          <a:prstGeom prst="rect">
            <a:avLst/>
          </a:prstGeom>
          <a:noFill/>
          <a:ln/>
        </p:spPr>
        <p:txBody>
          <a:bodyPr wrap="square" lIns="0" tIns="0" rIns="0" bIns="0" rtlCol="0" anchor="ctr"/>
          <a:lstStyle/>
          <a:p>
            <a:pPr algn="ctr" indent="0" marL="0">
              <a:buNone/>
            </a:pPr>
            <a:r>
              <a:rPr lang="en-US" sz="1200" dirty="0">
                <a:solidFill>
                  <a:srgbClr val="334155"/>
                </a:solidFill>
              </a:rPr>
              <a:t>Write PR template</a:t>
            </a:r>
            <a:endParaRPr lang="en-US" sz="1200" dirty="0"/>
          </a:p>
          <a:p>
            <a:pPr algn="ctr" indent="0" marL="0">
              <a:buNone/>
            </a:pPr>
            <a:r>
              <a:rPr lang="en-US" sz="1200" dirty="0">
                <a:solidFill>
                  <a:srgbClr val="334155"/>
                </a:solidFill>
              </a:rPr>
              <a:t>Add note to notes.txt</a:t>
            </a:r>
            <a:endParaRPr lang="en-US" sz="1200" dirty="0"/>
          </a:p>
          <a:p>
            <a:pPr algn="ctr" indent="0" marL="0">
              <a:buNone/>
            </a:pPr>
            <a:r>
              <a:rPr lang="en-US" sz="1200" dirty="0">
                <a:solidFill>
                  <a:srgbClr val="334155"/>
                </a:solidFill>
              </a:rPr>
              <a:t>Ignore .env</a:t>
            </a:r>
            <a:endParaRPr lang="en-US" sz="1200" dirty="0"/>
          </a:p>
        </p:txBody>
      </p:sp>
      <p:sp>
        <p:nvSpPr>
          <p:cNvPr id="8" name="Shape 6"/>
          <p:cNvSpPr/>
          <p:nvPr/>
        </p:nvSpPr>
        <p:spPr>
          <a:xfrm>
            <a:off x="3429000" y="2148840"/>
            <a:ext cx="2788920" cy="2788920"/>
          </a:xfrm>
          <a:prstGeom prst="roundRect">
            <a:avLst>
              <a:gd name="adj" fmla="val 2623"/>
            </a:avLst>
          </a:prstGeom>
          <a:solidFill>
            <a:srgbClr val="FEF3C7"/>
          </a:solidFill>
          <a:ln/>
        </p:spPr>
      </p:sp>
      <p:sp>
        <p:nvSpPr>
          <p:cNvPr id="9" name="Text 7"/>
          <p:cNvSpPr txBox="1"/>
          <p:nvPr/>
        </p:nvSpPr>
        <p:spPr>
          <a:xfrm>
            <a:off x="3502152" y="2258568"/>
            <a:ext cx="2642616" cy="365760"/>
          </a:xfrm>
          <a:prstGeom prst="rect">
            <a:avLst/>
          </a:prstGeom>
          <a:noFill/>
          <a:ln/>
        </p:spPr>
        <p:txBody>
          <a:bodyPr wrap="square" lIns="0" tIns="0" rIns="0" bIns="0" rtlCol="0" anchor="ctr"/>
          <a:lstStyle/>
          <a:p>
            <a:pPr algn="ctr" indent="0" marL="0">
              <a:buNone/>
            </a:pPr>
            <a:r>
              <a:rPr lang="en-US" sz="1400" b="1" dirty="0">
                <a:solidFill>
                  <a:srgbClr val="B45309"/>
                </a:solidFill>
              </a:rPr>
              <a:t>In progress (WIP 2)</a:t>
            </a:r>
            <a:endParaRPr lang="en-US" sz="1400" dirty="0"/>
          </a:p>
        </p:txBody>
      </p:sp>
      <p:sp>
        <p:nvSpPr>
          <p:cNvPr id="10" name="Text 8"/>
          <p:cNvSpPr txBox="1"/>
          <p:nvPr/>
        </p:nvSpPr>
        <p:spPr>
          <a:xfrm>
            <a:off x="3502152" y="2624328"/>
            <a:ext cx="2642616" cy="2221992"/>
          </a:xfrm>
          <a:prstGeom prst="rect">
            <a:avLst/>
          </a:prstGeom>
          <a:noFill/>
          <a:ln/>
        </p:spPr>
        <p:txBody>
          <a:bodyPr wrap="square" lIns="0" tIns="0" rIns="0" bIns="0" rtlCol="0" anchor="ctr"/>
          <a:lstStyle/>
          <a:p>
            <a:pPr algn="ctr" indent="0" marL="0">
              <a:buNone/>
            </a:pPr>
            <a:r>
              <a:rPr lang="en-US" sz="1200" dirty="0">
                <a:solidFill>
                  <a:srgbClr val="334155"/>
                </a:solidFill>
              </a:rPr>
              <a:t>Document git restore</a:t>
            </a:r>
            <a:endParaRPr lang="en-US" sz="1200" dirty="0"/>
          </a:p>
          <a:p>
            <a:pPr algn="ctr" indent="0" marL="0">
              <a:buNone/>
            </a:pPr>
            <a:r>
              <a:rPr lang="en-US" sz="1200" dirty="0">
                <a:solidFill>
                  <a:srgbClr val="334155"/>
                </a:solidFill>
              </a:rPr>
              <a:t>Fix README typo</a:t>
            </a:r>
            <a:endParaRPr lang="en-US" sz="1200" dirty="0"/>
          </a:p>
        </p:txBody>
      </p:sp>
      <p:sp>
        <p:nvSpPr>
          <p:cNvPr id="11" name="Shape 9"/>
          <p:cNvSpPr/>
          <p:nvPr/>
        </p:nvSpPr>
        <p:spPr>
          <a:xfrm>
            <a:off x="6355080" y="2148840"/>
            <a:ext cx="2788920" cy="2788920"/>
          </a:xfrm>
          <a:prstGeom prst="roundRect">
            <a:avLst>
              <a:gd name="adj" fmla="val 2623"/>
            </a:avLst>
          </a:prstGeom>
          <a:solidFill>
            <a:srgbClr val="ECFDF5"/>
          </a:solidFill>
          <a:ln/>
        </p:spPr>
      </p:sp>
      <p:sp>
        <p:nvSpPr>
          <p:cNvPr id="12" name="Text 10"/>
          <p:cNvSpPr txBox="1"/>
          <p:nvPr/>
        </p:nvSpPr>
        <p:spPr>
          <a:xfrm>
            <a:off x="6428232" y="2258568"/>
            <a:ext cx="2642616" cy="365760"/>
          </a:xfrm>
          <a:prstGeom prst="rect">
            <a:avLst/>
          </a:prstGeom>
          <a:noFill/>
          <a:ln/>
        </p:spPr>
        <p:txBody>
          <a:bodyPr wrap="square" lIns="0" tIns="0" rIns="0" bIns="0" rtlCol="0" anchor="ctr"/>
          <a:lstStyle/>
          <a:p>
            <a:pPr algn="ctr" indent="0" marL="0">
              <a:buNone/>
            </a:pPr>
            <a:r>
              <a:rPr lang="en-US" sz="1400" b="1" dirty="0">
                <a:solidFill>
                  <a:srgbClr val="0F766E"/>
                </a:solidFill>
              </a:rPr>
              <a:t>Review</a:t>
            </a:r>
            <a:endParaRPr lang="en-US" sz="1400" dirty="0"/>
          </a:p>
        </p:txBody>
      </p:sp>
      <p:sp>
        <p:nvSpPr>
          <p:cNvPr id="13" name="Text 11"/>
          <p:cNvSpPr txBox="1"/>
          <p:nvPr/>
        </p:nvSpPr>
        <p:spPr>
          <a:xfrm>
            <a:off x="6428232" y="2624328"/>
            <a:ext cx="2642616" cy="2221992"/>
          </a:xfrm>
          <a:prstGeom prst="rect">
            <a:avLst/>
          </a:prstGeom>
          <a:noFill/>
          <a:ln/>
        </p:spPr>
        <p:txBody>
          <a:bodyPr wrap="square" lIns="0" tIns="0" rIns="0" bIns="0" rtlCol="0" anchor="ctr"/>
          <a:lstStyle/>
          <a:p>
            <a:pPr algn="ctr" indent="0" marL="0">
              <a:buNone/>
            </a:pPr>
            <a:r>
              <a:rPr lang="en-US" sz="1200" dirty="0">
                <a:solidFill>
                  <a:srgbClr val="334155"/>
                </a:solidFill>
              </a:rPr>
              <a:t>PR #12 add-my-note</a:t>
            </a:r>
            <a:endParaRPr lang="en-US" sz="1200" dirty="0"/>
          </a:p>
        </p:txBody>
      </p:sp>
      <p:sp>
        <p:nvSpPr>
          <p:cNvPr id="14" name="Shape 12"/>
          <p:cNvSpPr/>
          <p:nvPr/>
        </p:nvSpPr>
        <p:spPr>
          <a:xfrm>
            <a:off x="9281160" y="2148840"/>
            <a:ext cx="2788920" cy="2788920"/>
          </a:xfrm>
          <a:prstGeom prst="roundRect">
            <a:avLst>
              <a:gd name="adj" fmla="val 2623"/>
            </a:avLst>
          </a:prstGeom>
          <a:solidFill>
            <a:srgbClr val="0F766E"/>
          </a:solidFill>
          <a:ln/>
        </p:spPr>
      </p:sp>
      <p:sp>
        <p:nvSpPr>
          <p:cNvPr id="15" name="Text 13"/>
          <p:cNvSpPr txBox="1"/>
          <p:nvPr/>
        </p:nvSpPr>
        <p:spPr>
          <a:xfrm>
            <a:off x="9354312" y="2258568"/>
            <a:ext cx="2642616" cy="365760"/>
          </a:xfrm>
          <a:prstGeom prst="rect">
            <a:avLst/>
          </a:prstGeom>
          <a:noFill/>
          <a:ln/>
        </p:spPr>
        <p:txBody>
          <a:bodyPr wrap="square" lIns="0" tIns="0" rIns="0" bIns="0" rtlCol="0" anchor="ctr"/>
          <a:lstStyle/>
          <a:p>
            <a:pPr algn="ctr" indent="0" marL="0">
              <a:buNone/>
            </a:pPr>
            <a:r>
              <a:rPr lang="en-US" sz="1400" b="1" dirty="0">
                <a:solidFill>
                  <a:srgbClr val="FFFFFF"/>
                </a:solidFill>
              </a:rPr>
              <a:t>Done</a:t>
            </a:r>
            <a:endParaRPr lang="en-US" sz="1400" dirty="0"/>
          </a:p>
        </p:txBody>
      </p:sp>
      <p:sp>
        <p:nvSpPr>
          <p:cNvPr id="16" name="Text 14"/>
          <p:cNvSpPr txBox="1"/>
          <p:nvPr/>
        </p:nvSpPr>
        <p:spPr>
          <a:xfrm>
            <a:off x="9354312" y="2624328"/>
            <a:ext cx="2642616" cy="2221992"/>
          </a:xfrm>
          <a:prstGeom prst="rect">
            <a:avLst/>
          </a:prstGeom>
          <a:noFill/>
          <a:ln/>
        </p:spPr>
        <p:txBody>
          <a:bodyPr wrap="square" lIns="0" tIns="0" rIns="0" bIns="0" rtlCol="0" anchor="ctr"/>
          <a:lstStyle/>
          <a:p>
            <a:pPr algn="ctr" indent="0" marL="0">
              <a:buNone/>
            </a:pPr>
            <a:r>
              <a:rPr lang="en-US" sz="1200" dirty="0">
                <a:solidFill>
                  <a:srgbClr val="CCFBF1"/>
                </a:solidFill>
              </a:rPr>
              <a:t>Create repo</a:t>
            </a:r>
            <a:endParaRPr lang="en-US" sz="1200" dirty="0"/>
          </a:p>
          <a:p>
            <a:pPr algn="ctr" indent="0" marL="0">
              <a:buNone/>
            </a:pPr>
            <a:r>
              <a:rPr lang="en-US" sz="1200" dirty="0">
                <a:solidFill>
                  <a:srgbClr val="CCFBF1"/>
                </a:solidFill>
              </a:rPr>
              <a:t>Add .gitignore</a:t>
            </a:r>
            <a:endParaRPr lang="en-US" sz="1200" dirty="0"/>
          </a:p>
        </p:txBody>
      </p:sp>
      <p:sp>
        <p:nvSpPr>
          <p:cNvPr id="17" name="Text 15"/>
          <p:cNvSpPr txBox="1"/>
          <p:nvPr/>
        </p:nvSpPr>
        <p:spPr>
          <a:xfrm>
            <a:off x="502920" y="5074920"/>
            <a:ext cx="11155680" cy="1143000"/>
          </a:xfrm>
          <a:prstGeom prst="rect">
            <a:avLst/>
          </a:prstGeom>
          <a:noFill/>
          <a:ln/>
        </p:spPr>
        <p:txBody>
          <a:bodyPr wrap="square" lIns="0" tIns="0" rIns="0" bIns="0" rtlCol="0" anchor="ctr"/>
          <a:lstStyle/>
          <a:p>
            <a:pPr indent="0" marL="0">
              <a:buNone/>
            </a:pPr>
            <a:r>
              <a:rPr lang="en-US" sz="1500" dirty="0">
                <a:solidFill>
                  <a:srgbClr val="334155"/>
                </a:solidFill>
              </a:rPr>
              <a:t>Example: if WIP is 2 and two cards are already in progress, you cannot start a third. You help finish one. That is Kanban’s control knob.</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Scrum versus Kanban</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two Agile tools</a:t>
            </a:r>
            <a:endParaRPr lang="en-US" sz="11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11173968" cy="914400"/>
        </p:xfrm>
        <a:graphic>
          <a:graphicData uri="http://schemas.openxmlformats.org/drawingml/2006/table">
            <a:tbl>
              <a:tblPr/>
              <a:tblGrid>
                <a:gridCol w="2286000"/>
                <a:gridCol w="4443984"/>
                <a:gridCol w="4443984"/>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Question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Scrum</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Kanban</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Time box?</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Yes — the sprint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No required sprint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Cadence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Plan → sprint → review → retro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Continuous flow</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Control knob</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Sprint goal and sprint length</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WIP limit on the board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Roles you will hear</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Product Owner, Scrum Master, Developers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Often no extra role names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Fits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A product team that likes a drumbeat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Support / ops work that arrives randomly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Still need Git?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Yes — branches and PRs every slice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Yes — same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Iterative versus incremental (one slide)</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two words</a:t>
            </a:r>
            <a:endParaRPr lang="en-US" sz="1100" dirty="0"/>
          </a:p>
        </p:txBody>
      </p:sp>
      <p:sp>
        <p:nvSpPr>
          <p:cNvPr id="4" name="Shape 2"/>
          <p:cNvSpPr/>
          <p:nvPr/>
        </p:nvSpPr>
        <p:spPr>
          <a:xfrm>
            <a:off x="502920" y="1051560"/>
            <a:ext cx="5532120" cy="5166360"/>
          </a:xfrm>
          <a:prstGeom prst="roundRect">
            <a:avLst>
              <a:gd name="adj" fmla="val 1416"/>
            </a:avLst>
          </a:prstGeom>
          <a:solidFill>
            <a:srgbClr val="F1F5F9"/>
          </a:solidFill>
          <a:ln/>
        </p:spPr>
      </p:sp>
      <p:sp>
        <p:nvSpPr>
          <p:cNvPr id="5" name="Text 3"/>
          <p:cNvSpPr txBox="1"/>
          <p:nvPr/>
        </p:nvSpPr>
        <p:spPr>
          <a:xfrm>
            <a:off x="667512" y="1161288"/>
            <a:ext cx="5202936" cy="292608"/>
          </a:xfrm>
          <a:prstGeom prst="rect">
            <a:avLst/>
          </a:prstGeom>
          <a:noFill/>
          <a:ln/>
        </p:spPr>
        <p:txBody>
          <a:bodyPr wrap="square" lIns="0" tIns="0" rIns="0" bIns="0" rtlCol="0" anchor="ctr"/>
          <a:lstStyle/>
          <a:p>
            <a:pPr indent="0" marL="0">
              <a:buNone/>
            </a:pPr>
            <a:r>
              <a:rPr lang="en-US" sz="1300" b="1" dirty="0">
                <a:solidFill>
                  <a:srgbClr val="0F172A"/>
                </a:solidFill>
              </a:rPr>
              <a:t>Iterative</a:t>
            </a:r>
            <a:endParaRPr lang="en-US" sz="1300" dirty="0"/>
          </a:p>
        </p:txBody>
      </p:sp>
      <p:sp>
        <p:nvSpPr>
          <p:cNvPr id="6" name="Text 4"/>
          <p:cNvSpPr txBox="1"/>
          <p:nvPr/>
        </p:nvSpPr>
        <p:spPr>
          <a:xfrm>
            <a:off x="667512" y="1472184"/>
            <a:ext cx="5202936" cy="4617720"/>
          </a:xfrm>
          <a:prstGeom prst="rect">
            <a:avLst/>
          </a:prstGeom>
          <a:noFill/>
          <a:ln/>
        </p:spPr>
        <p:txBody>
          <a:bodyPr wrap="square" lIns="0" tIns="0" rIns="0" bIns="0" rtlCol="0" anchor="t"/>
          <a:lstStyle/>
          <a:p>
            <a:pPr indent="0" marL="0">
              <a:buNone/>
            </a:pPr>
            <a:r>
              <a:rPr lang="en-US" sz="1400" dirty="0">
                <a:solidFill>
                  <a:srgbClr val="334155"/>
                </a:solidFill>
              </a:rPr>
              <a:t>You improve the *same* thing again and again.</a:t>
            </a:r>
            <a:endParaRPr lang="en-US" sz="1400" dirty="0"/>
          </a:p>
          <a:p>
            <a:pPr indent="0" marL="0">
              <a:buNone/>
            </a:pPr>
            <a:endParaRPr lang="en-US" sz="1400" dirty="0"/>
          </a:p>
          <a:p>
            <a:pPr indent="0" marL="0">
              <a:buNone/>
            </a:pPr>
            <a:r>
              <a:rPr lang="en-US" sz="1400" dirty="0">
                <a:solidFill>
                  <a:srgbClr val="334155"/>
                </a:solidFill>
              </a:rPr>
              <a:t>Example: notes-api search is ugly in week 1, usable in week 2, fast in week 3.</a:t>
            </a:r>
            <a:endParaRPr lang="en-US" sz="1400" dirty="0"/>
          </a:p>
          <a:p>
            <a:pPr indent="0" marL="0">
              <a:buNone/>
            </a:pPr>
            <a:endParaRPr lang="en-US" sz="1400" dirty="0"/>
          </a:p>
          <a:p>
            <a:pPr indent="0" marL="0">
              <a:buNone/>
            </a:pPr>
            <a:r>
              <a:rPr lang="en-US" sz="1400" dirty="0">
                <a:solidFill>
                  <a:srgbClr val="334155"/>
                </a:solidFill>
              </a:rPr>
              <a:t>Same feature, better each loop.</a:t>
            </a:r>
            <a:endParaRPr lang="en-US" sz="1400" dirty="0"/>
          </a:p>
        </p:txBody>
      </p:sp>
      <p:sp>
        <p:nvSpPr>
          <p:cNvPr id="7" name="Shape 5"/>
          <p:cNvSpPr/>
          <p:nvPr/>
        </p:nvSpPr>
        <p:spPr>
          <a:xfrm>
            <a:off x="6217920" y="1051560"/>
            <a:ext cx="5440680" cy="5166360"/>
          </a:xfrm>
          <a:prstGeom prst="roundRect">
            <a:avLst>
              <a:gd name="adj" fmla="val 1416"/>
            </a:avLst>
          </a:prstGeom>
          <a:solidFill>
            <a:srgbClr val="ECFDF5"/>
          </a:solidFill>
          <a:ln/>
        </p:spPr>
      </p:sp>
      <p:sp>
        <p:nvSpPr>
          <p:cNvPr id="8" name="Text 6"/>
          <p:cNvSpPr txBox="1"/>
          <p:nvPr/>
        </p:nvSpPr>
        <p:spPr>
          <a:xfrm>
            <a:off x="6382512" y="1161288"/>
            <a:ext cx="5111496" cy="292608"/>
          </a:xfrm>
          <a:prstGeom prst="rect">
            <a:avLst/>
          </a:prstGeom>
          <a:noFill/>
          <a:ln/>
        </p:spPr>
        <p:txBody>
          <a:bodyPr wrap="square" lIns="0" tIns="0" rIns="0" bIns="0" rtlCol="0" anchor="ctr"/>
          <a:lstStyle/>
          <a:p>
            <a:pPr indent="0" marL="0">
              <a:buNone/>
            </a:pPr>
            <a:r>
              <a:rPr lang="en-US" sz="1300" b="1" dirty="0">
                <a:solidFill>
                  <a:srgbClr val="0F766E"/>
                </a:solidFill>
              </a:rPr>
              <a:t>Incremental</a:t>
            </a:r>
            <a:endParaRPr lang="en-US" sz="1300" dirty="0"/>
          </a:p>
        </p:txBody>
      </p:sp>
      <p:sp>
        <p:nvSpPr>
          <p:cNvPr id="9" name="Text 7"/>
          <p:cNvSpPr txBox="1"/>
          <p:nvPr/>
        </p:nvSpPr>
        <p:spPr>
          <a:xfrm>
            <a:off x="6382512" y="1472184"/>
            <a:ext cx="5111496" cy="4617720"/>
          </a:xfrm>
          <a:prstGeom prst="rect">
            <a:avLst/>
          </a:prstGeom>
          <a:noFill/>
          <a:ln/>
        </p:spPr>
        <p:txBody>
          <a:bodyPr wrap="square" lIns="0" tIns="0" rIns="0" bIns="0" rtlCol="0" anchor="t"/>
          <a:lstStyle/>
          <a:p>
            <a:pPr indent="0" marL="0">
              <a:buNone/>
            </a:pPr>
            <a:r>
              <a:rPr lang="en-US" sz="1400" dirty="0">
                <a:solidFill>
                  <a:srgbClr val="334155"/>
                </a:solidFill>
              </a:rPr>
              <a:t>You add a *new slice* that users can use.</a:t>
            </a:r>
            <a:endParaRPr lang="en-US" sz="1400" dirty="0"/>
          </a:p>
          <a:p>
            <a:pPr indent="0" marL="0">
              <a:buNone/>
            </a:pPr>
            <a:endParaRPr lang="en-US" sz="1400" dirty="0"/>
          </a:p>
          <a:p>
            <a:pPr indent="0" marL="0">
              <a:buNone/>
            </a:pPr>
            <a:r>
              <a:rPr lang="en-US" sz="1400" dirty="0">
                <a:solidFill>
                  <a:srgbClr val="334155"/>
                </a:solidFill>
              </a:rPr>
              <a:t>Example: week 1 list notes. Week 2 add a note. Week 3 delete a note.</a:t>
            </a:r>
            <a:endParaRPr lang="en-US" sz="1400" dirty="0"/>
          </a:p>
          <a:p>
            <a:pPr indent="0" marL="0">
              <a:buNone/>
            </a:pPr>
            <a:endParaRPr lang="en-US" sz="1400" dirty="0"/>
          </a:p>
          <a:p>
            <a:pPr indent="0" marL="0">
              <a:buNone/>
            </a:pPr>
            <a:r>
              <a:rPr lang="en-US" sz="1400" dirty="0">
                <a:solidFill>
                  <a:srgbClr val="334155"/>
                </a:solidFill>
              </a:rPr>
              <a:t>Agile teams usually do both: new slices, and they iterate when a slice is weak.</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Agile is not DevOps</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the trap</a:t>
            </a:r>
            <a:endParaRPr lang="en-US" sz="1100" dirty="0"/>
          </a:p>
        </p:txBody>
      </p:sp>
      <p:sp>
        <p:nvSpPr>
          <p:cNvPr id="4" name="Text 2"/>
          <p:cNvSpPr txBox="1"/>
          <p:nvPr/>
        </p:nvSpPr>
        <p:spPr>
          <a:xfrm>
            <a:off x="502920" y="960120"/>
            <a:ext cx="11155680" cy="1325880"/>
          </a:xfrm>
          <a:prstGeom prst="rect">
            <a:avLst/>
          </a:prstGeom>
          <a:noFill/>
          <a:ln/>
        </p:spPr>
        <p:txBody>
          <a:bodyPr wrap="square" lIns="0" tIns="0" rIns="0" bIns="0" rtlCol="0" anchor="t"/>
          <a:lstStyle/>
          <a:p>
            <a:pPr indent="0" marL="0">
              <a:buNone/>
            </a:pPr>
            <a:r>
              <a:rPr lang="en-US" sz="1600" dirty="0">
                <a:solidFill>
                  <a:srgbClr val="334155"/>
                </a:solidFill>
              </a:rPr>
              <a:t>This is the interview question they fail. Agile does not deploy your app. DevOps does not replace the backlog. You can run two-week sprints and still email a zip to operations. You can have a perfect pipeline and still plan in a 12-month Waterfall spec.</a:t>
            </a:r>
            <a:endParaRPr lang="en-US" sz="1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11173968" cy="914400"/>
        </p:xfrm>
        <a:graphic>
          <a:graphicData uri="http://schemas.openxmlformats.org/drawingml/2006/table">
            <a:tbl>
              <a:tblPr/>
              <a:tblGrid>
                <a:gridCol w="2103120"/>
                <a:gridCol w="4535424"/>
                <a:gridCol w="4535424"/>
              </a:tblGrid>
              <a:tr h="0">
                <a:tc>
                  <a:txBody>
                    <a:bodyPr/>
                    <a:lstStyle/>
                    <a:p>
                      <a:pPr algn="l" indent="0" marL="0">
                        <a:buNone/>
                      </a:pP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Agile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DevOps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Question it answers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What do we build next, in a small slice?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How does that slice get tested, released, run, and watched?</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Typical artefacts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Backlog, board, sprint goal</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CI, artifacts, environments, logs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Failure mode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Lots of talk, little software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Lots of tools, still a monthly hero release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Together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Small batches of *working* software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Small batches that can *go live safely*</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Diagram: how the ideas stack</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one picture</a:t>
            </a:r>
            <a:endParaRPr lang="en-US" sz="1100" dirty="0"/>
          </a:p>
        </p:txBody>
      </p:sp>
      <p:sp>
        <p:nvSpPr>
          <p:cNvPr id="4" name="Shape 2"/>
          <p:cNvSpPr/>
          <p:nvPr/>
        </p:nvSpPr>
        <p:spPr>
          <a:xfrm>
            <a:off x="502920" y="1097280"/>
            <a:ext cx="11155680" cy="1234440"/>
          </a:xfrm>
          <a:prstGeom prst="roundRect">
            <a:avLst>
              <a:gd name="adj" fmla="val 5926"/>
            </a:avLst>
          </a:prstGeom>
          <a:solidFill>
            <a:srgbClr val="F1F5F9"/>
          </a:solidFill>
          <a:ln/>
        </p:spPr>
      </p:sp>
      <p:sp>
        <p:nvSpPr>
          <p:cNvPr id="5" name="Text 3"/>
          <p:cNvSpPr txBox="1"/>
          <p:nvPr/>
        </p:nvSpPr>
        <p:spPr>
          <a:xfrm>
            <a:off x="576072" y="1207008"/>
            <a:ext cx="11009376" cy="365760"/>
          </a:xfrm>
          <a:prstGeom prst="rect">
            <a:avLst/>
          </a:prstGeom>
          <a:noFill/>
          <a:ln/>
        </p:spPr>
        <p:txBody>
          <a:bodyPr wrap="square" lIns="0" tIns="0" rIns="0" bIns="0" rtlCol="0" anchor="ctr"/>
          <a:lstStyle/>
          <a:p>
            <a:pPr algn="ctr" indent="0" marL="0">
              <a:buNone/>
            </a:pPr>
            <a:r>
              <a:rPr lang="en-US" sz="1400" b="1" dirty="0">
                <a:solidFill>
                  <a:srgbClr val="0F172A"/>
                </a:solidFill>
              </a:rPr>
              <a:t>SDLC  ·  the stages</a:t>
            </a:r>
            <a:endParaRPr lang="en-US" sz="1400" dirty="0"/>
          </a:p>
        </p:txBody>
      </p:sp>
      <p:sp>
        <p:nvSpPr>
          <p:cNvPr id="6" name="Text 4"/>
          <p:cNvSpPr txBox="1"/>
          <p:nvPr/>
        </p:nvSpPr>
        <p:spPr>
          <a:xfrm>
            <a:off x="576072" y="1572768"/>
            <a:ext cx="11009376" cy="667512"/>
          </a:xfrm>
          <a:prstGeom prst="rect">
            <a:avLst/>
          </a:prstGeom>
          <a:noFill/>
          <a:ln/>
        </p:spPr>
        <p:txBody>
          <a:bodyPr wrap="square" lIns="0" tIns="0" rIns="0" bIns="0" rtlCol="0" anchor="ctr"/>
          <a:lstStyle/>
          <a:p>
            <a:pPr algn="ctr" indent="0" marL="0">
              <a:buNone/>
            </a:pPr>
            <a:r>
              <a:rPr lang="en-US" sz="1200" dirty="0">
                <a:solidFill>
                  <a:srgbClr val="334155"/>
                </a:solidFill>
              </a:rPr>
              <a:t>Need → design → implement → test → deploy → operate → learn   (Lecture 1)</a:t>
            </a:r>
            <a:endParaRPr lang="en-US" sz="1200" dirty="0"/>
          </a:p>
        </p:txBody>
      </p:sp>
      <p:sp>
        <p:nvSpPr>
          <p:cNvPr id="7" name="Shape 5"/>
          <p:cNvSpPr/>
          <p:nvPr/>
        </p:nvSpPr>
        <p:spPr>
          <a:xfrm>
            <a:off x="502920" y="2468880"/>
            <a:ext cx="5532120" cy="1828800"/>
          </a:xfrm>
          <a:prstGeom prst="roundRect">
            <a:avLst>
              <a:gd name="adj" fmla="val 4000"/>
            </a:avLst>
          </a:prstGeom>
          <a:solidFill>
            <a:srgbClr val="FEF3C7"/>
          </a:solidFill>
          <a:ln/>
        </p:spPr>
      </p:sp>
      <p:sp>
        <p:nvSpPr>
          <p:cNvPr id="8" name="Text 6"/>
          <p:cNvSpPr txBox="1"/>
          <p:nvPr/>
        </p:nvSpPr>
        <p:spPr>
          <a:xfrm>
            <a:off x="576072" y="2578608"/>
            <a:ext cx="5385816" cy="365760"/>
          </a:xfrm>
          <a:prstGeom prst="rect">
            <a:avLst/>
          </a:prstGeom>
          <a:noFill/>
          <a:ln/>
        </p:spPr>
        <p:txBody>
          <a:bodyPr wrap="square" lIns="0" tIns="0" rIns="0" bIns="0" rtlCol="0" anchor="ctr"/>
          <a:lstStyle/>
          <a:p>
            <a:pPr algn="ctr" indent="0" marL="0">
              <a:buNone/>
            </a:pPr>
            <a:r>
              <a:rPr lang="en-US" sz="1400" b="1" dirty="0">
                <a:solidFill>
                  <a:srgbClr val="B45309"/>
                </a:solidFill>
              </a:rPr>
              <a:t>How you schedule those stages</a:t>
            </a:r>
            <a:endParaRPr lang="en-US" sz="1400" dirty="0"/>
          </a:p>
        </p:txBody>
      </p:sp>
      <p:sp>
        <p:nvSpPr>
          <p:cNvPr id="9" name="Text 7"/>
          <p:cNvSpPr txBox="1"/>
          <p:nvPr/>
        </p:nvSpPr>
        <p:spPr>
          <a:xfrm>
            <a:off x="576072" y="2944368"/>
            <a:ext cx="5385816" cy="1261872"/>
          </a:xfrm>
          <a:prstGeom prst="rect">
            <a:avLst/>
          </a:prstGeom>
          <a:noFill/>
          <a:ln/>
        </p:spPr>
        <p:txBody>
          <a:bodyPr wrap="square" lIns="0" tIns="0" rIns="0" bIns="0" rtlCol="0" anchor="ctr"/>
          <a:lstStyle/>
          <a:p>
            <a:pPr algn="ctr" indent="0" marL="0">
              <a:buNone/>
            </a:pPr>
            <a:r>
              <a:rPr lang="en-US" sz="1200" dirty="0">
                <a:solidFill>
                  <a:srgbClr val="334155"/>
                </a:solidFill>
              </a:rPr>
              <a:t>Waterfall = once through. Agile = many small loops (Scrum or Kanban).</a:t>
            </a:r>
            <a:endParaRPr lang="en-US" sz="1200" dirty="0"/>
          </a:p>
        </p:txBody>
      </p:sp>
      <p:sp>
        <p:nvSpPr>
          <p:cNvPr id="10" name="Shape 8"/>
          <p:cNvSpPr/>
          <p:nvPr/>
        </p:nvSpPr>
        <p:spPr>
          <a:xfrm>
            <a:off x="6217920" y="2468880"/>
            <a:ext cx="5440680" cy="1828800"/>
          </a:xfrm>
          <a:prstGeom prst="roundRect">
            <a:avLst>
              <a:gd name="adj" fmla="val 4000"/>
            </a:avLst>
          </a:prstGeom>
          <a:solidFill>
            <a:srgbClr val="ECFDF5"/>
          </a:solidFill>
          <a:ln/>
        </p:spPr>
      </p:sp>
      <p:sp>
        <p:nvSpPr>
          <p:cNvPr id="11" name="Text 9"/>
          <p:cNvSpPr txBox="1"/>
          <p:nvPr/>
        </p:nvSpPr>
        <p:spPr>
          <a:xfrm>
            <a:off x="6291072" y="2578608"/>
            <a:ext cx="5294376" cy="365760"/>
          </a:xfrm>
          <a:prstGeom prst="rect">
            <a:avLst/>
          </a:prstGeom>
          <a:noFill/>
          <a:ln/>
        </p:spPr>
        <p:txBody>
          <a:bodyPr wrap="square" lIns="0" tIns="0" rIns="0" bIns="0" rtlCol="0" anchor="ctr"/>
          <a:lstStyle/>
          <a:p>
            <a:pPr algn="ctr" indent="0" marL="0">
              <a:buNone/>
            </a:pPr>
            <a:r>
              <a:rPr lang="en-US" sz="1400" b="1" dirty="0">
                <a:solidFill>
                  <a:srgbClr val="0F766E"/>
                </a:solidFill>
              </a:rPr>
              <a:t>How a slice becomes production</a:t>
            </a:r>
            <a:endParaRPr lang="en-US" sz="1400" dirty="0"/>
          </a:p>
        </p:txBody>
      </p:sp>
      <p:sp>
        <p:nvSpPr>
          <p:cNvPr id="12" name="Text 10"/>
          <p:cNvSpPr txBox="1"/>
          <p:nvPr/>
        </p:nvSpPr>
        <p:spPr>
          <a:xfrm>
            <a:off x="6291072" y="2944368"/>
            <a:ext cx="5294376" cy="1261872"/>
          </a:xfrm>
          <a:prstGeom prst="rect">
            <a:avLst/>
          </a:prstGeom>
          <a:noFill/>
          <a:ln/>
        </p:spPr>
        <p:txBody>
          <a:bodyPr wrap="square" lIns="0" tIns="0" rIns="0" bIns="0" rtlCol="0" anchor="ctr"/>
          <a:lstStyle/>
          <a:p>
            <a:pPr algn="ctr" indent="0" marL="0">
              <a:buNone/>
            </a:pPr>
            <a:r>
              <a:rPr lang="en-US" sz="1200" dirty="0">
                <a:solidFill>
                  <a:srgbClr val="334155"/>
                </a:solidFill>
              </a:rPr>
              <a:t>DevOps loop: code → build → test → release → deploy → operate → monitor.</a:t>
            </a:r>
            <a:endParaRPr lang="en-US" sz="1200" dirty="0"/>
          </a:p>
        </p:txBody>
      </p:sp>
      <p:sp>
        <p:nvSpPr>
          <p:cNvPr id="13" name="Shape 11"/>
          <p:cNvSpPr/>
          <p:nvPr/>
        </p:nvSpPr>
        <p:spPr>
          <a:xfrm>
            <a:off x="502920" y="4480560"/>
            <a:ext cx="11155680" cy="1691640"/>
          </a:xfrm>
          <a:prstGeom prst="roundRect">
            <a:avLst>
              <a:gd name="adj" fmla="val 4324"/>
            </a:avLst>
          </a:prstGeom>
          <a:solidFill>
            <a:srgbClr val="0F766E"/>
          </a:solidFill>
          <a:ln/>
        </p:spPr>
      </p:sp>
      <p:sp>
        <p:nvSpPr>
          <p:cNvPr id="14" name="Text 12"/>
          <p:cNvSpPr txBox="1"/>
          <p:nvPr/>
        </p:nvSpPr>
        <p:spPr>
          <a:xfrm>
            <a:off x="576072" y="4590288"/>
            <a:ext cx="11009376" cy="365760"/>
          </a:xfrm>
          <a:prstGeom prst="rect">
            <a:avLst/>
          </a:prstGeom>
          <a:noFill/>
          <a:ln/>
        </p:spPr>
        <p:txBody>
          <a:bodyPr wrap="square" lIns="0" tIns="0" rIns="0" bIns="0" rtlCol="0" anchor="ctr"/>
          <a:lstStyle/>
          <a:p>
            <a:pPr algn="ctr" indent="0" marL="0">
              <a:buNone/>
            </a:pPr>
            <a:r>
              <a:rPr lang="en-US" sz="1400" b="1" dirty="0">
                <a:solidFill>
                  <a:srgbClr val="FFFFFF"/>
                </a:solidFill>
              </a:rPr>
              <a:t>Git sits under all of it</a:t>
            </a:r>
            <a:endParaRPr lang="en-US" sz="1400" dirty="0"/>
          </a:p>
        </p:txBody>
      </p:sp>
      <p:sp>
        <p:nvSpPr>
          <p:cNvPr id="15" name="Text 13"/>
          <p:cNvSpPr txBox="1"/>
          <p:nvPr/>
        </p:nvSpPr>
        <p:spPr>
          <a:xfrm>
            <a:off x="576072" y="4956048"/>
            <a:ext cx="11009376" cy="1124712"/>
          </a:xfrm>
          <a:prstGeom prst="rect">
            <a:avLst/>
          </a:prstGeom>
          <a:noFill/>
          <a:ln/>
        </p:spPr>
        <p:txBody>
          <a:bodyPr wrap="square" lIns="0" tIns="0" rIns="0" bIns="0" rtlCol="0" anchor="ctr"/>
          <a:lstStyle/>
          <a:p>
            <a:pPr algn="ctr" indent="0" marL="0">
              <a:buNone/>
            </a:pPr>
            <a:r>
              <a:rPr lang="en-US" sz="1200" dirty="0">
                <a:solidFill>
                  <a:srgbClr val="CCFBF1"/>
                </a:solidFill>
              </a:rPr>
              <a:t>Branches and pull requests are how an Agile slice is saved without breaking main. Later lectures add CI, Docker, and AWS on top of this Git habit.</a:t>
            </a:r>
            <a:endParaRPr lang="en-US" sz="12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Also asked: SLA, SLO, SLI</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reliability words</a:t>
            </a:r>
            <a:endParaRPr lang="en-US" sz="1100" dirty="0"/>
          </a:p>
        </p:txBody>
      </p:sp>
      <p:sp>
        <p:nvSpPr>
          <p:cNvPr id="4" name="Text 2"/>
          <p:cNvSpPr txBox="1"/>
          <p:nvPr/>
        </p:nvSpPr>
        <p:spPr>
          <a:xfrm>
            <a:off x="502920" y="960120"/>
            <a:ext cx="11155680" cy="960120"/>
          </a:xfrm>
          <a:prstGeom prst="rect">
            <a:avLst/>
          </a:prstGeom>
          <a:noFill/>
          <a:ln/>
        </p:spPr>
        <p:txBody>
          <a:bodyPr wrap="square" lIns="0" tIns="0" rIns="0" bIns="0" rtlCol="0" anchor="t"/>
          <a:lstStyle/>
          <a:p>
            <a:pPr indent="0" marL="0">
              <a:buNone/>
            </a:pPr>
            <a:r>
              <a:rPr lang="en-US" sz="1600" dirty="0">
                <a:solidFill>
                  <a:srgbClr val="334155"/>
                </a:solidFill>
              </a:rPr>
              <a:t>Not a process model, but a DevOps interview trio the curriculum never names. Use a shop example: checkout should work.</a:t>
            </a:r>
            <a:endParaRPr lang="en-US" sz="1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02920" y="2011680"/>
          <a:ext cx="11173968" cy="914400"/>
        </p:xfrm>
        <a:graphic>
          <a:graphicData uri="http://schemas.openxmlformats.org/drawingml/2006/table">
            <a:tbl>
              <a:tblPr/>
              <a:tblGrid>
                <a:gridCol w="1645920"/>
                <a:gridCol w="4023360"/>
                <a:gridCol w="5504688"/>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Word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Whose promise?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Example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SLA</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Legal / customer contract</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99.9% monthly uptime or we pay a penalty</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SLO</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Internal target, stricter than the SLA</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99.95% of checkouts succeed</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SLI</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The number you actually measure</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400" dirty="0">
                          <a:solidFill>
                            <a:srgbClr val="0F172A"/>
                          </a:solidFill>
                          <a:latin typeface="Calibri" pitchFamily="34" charset="0"/>
                          <a:ea typeface="Calibri" pitchFamily="34" charset="-122"/>
                          <a:cs typeface="Calibri" pitchFamily="34" charset="-120"/>
                        </a:rPr>
                        <a:t>Successful checkouts / all checkouts</a:t>
                      </a:r>
                      <a:endParaRPr lang="en-US" sz="14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6" name="Text 3"/>
          <p:cNvSpPr txBox="1"/>
          <p:nvPr/>
        </p:nvSpPr>
        <p:spPr>
          <a:xfrm>
            <a:off x="502920" y="5074920"/>
            <a:ext cx="11155680" cy="1143000"/>
          </a:xfrm>
          <a:prstGeom prst="rect">
            <a:avLst/>
          </a:prstGeom>
          <a:noFill/>
          <a:ln/>
        </p:spPr>
        <p:txBody>
          <a:bodyPr wrap="square" lIns="0" tIns="0" rIns="0" bIns="0" rtlCol="0" anchor="ctr"/>
          <a:lstStyle/>
          <a:p>
            <a:pPr indent="0" marL="0">
              <a:buNone/>
            </a:pPr>
            <a:r>
              <a:rPr lang="en-US" sz="1500" dirty="0">
                <a:solidFill>
                  <a:srgbClr val="334155"/>
                </a:solidFill>
              </a:rPr>
              <a:t>Error budget = 100% minus the SLO. If the SLO is 99.9% uptime, you may be down ~43 minutes a month. That budget decides whether you ship features or freeze and fix reliability.</a:t>
            </a:r>
            <a:endParaRPr lang="en-US" sz="15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Also asked: DORA metrics and RTO / RPO</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Bonus  ·  more interview names</a:t>
            </a:r>
            <a:endParaRPr lang="en-US" sz="1100" dirty="0"/>
          </a:p>
        </p:txBody>
      </p:sp>
      <p:sp>
        <p:nvSpPr>
          <p:cNvPr id="4" name="Shape 2"/>
          <p:cNvSpPr/>
          <p:nvPr/>
        </p:nvSpPr>
        <p:spPr>
          <a:xfrm>
            <a:off x="502920" y="1005840"/>
            <a:ext cx="5532120" cy="5212080"/>
          </a:xfrm>
          <a:prstGeom prst="roundRect">
            <a:avLst>
              <a:gd name="adj" fmla="val 1404"/>
            </a:avLst>
          </a:prstGeom>
          <a:solidFill>
            <a:srgbClr val="ECFDF5"/>
          </a:solidFill>
          <a:ln/>
        </p:spPr>
      </p:sp>
      <p:sp>
        <p:nvSpPr>
          <p:cNvPr id="5" name="Text 3"/>
          <p:cNvSpPr txBox="1"/>
          <p:nvPr/>
        </p:nvSpPr>
        <p:spPr>
          <a:xfrm>
            <a:off x="667512" y="1115568"/>
            <a:ext cx="5202936" cy="292608"/>
          </a:xfrm>
          <a:prstGeom prst="rect">
            <a:avLst/>
          </a:prstGeom>
          <a:noFill/>
          <a:ln/>
        </p:spPr>
        <p:txBody>
          <a:bodyPr wrap="square" lIns="0" tIns="0" rIns="0" bIns="0" rtlCol="0" anchor="ctr"/>
          <a:lstStyle/>
          <a:p>
            <a:pPr indent="0" marL="0">
              <a:buNone/>
            </a:pPr>
            <a:r>
              <a:rPr lang="en-US" sz="1300" b="1" dirty="0">
                <a:solidFill>
                  <a:srgbClr val="0F766E"/>
                </a:solidFill>
              </a:rPr>
              <a:t>DORA four keys</a:t>
            </a:r>
            <a:endParaRPr lang="en-US" sz="1300" dirty="0"/>
          </a:p>
        </p:txBody>
      </p:sp>
      <p:sp>
        <p:nvSpPr>
          <p:cNvPr id="6" name="Text 4"/>
          <p:cNvSpPr txBox="1"/>
          <p:nvPr/>
        </p:nvSpPr>
        <p:spPr>
          <a:xfrm>
            <a:off x="667512" y="1426464"/>
            <a:ext cx="5202936" cy="4663440"/>
          </a:xfrm>
          <a:prstGeom prst="rect">
            <a:avLst/>
          </a:prstGeom>
          <a:noFill/>
          <a:ln/>
        </p:spPr>
        <p:txBody>
          <a:bodyPr wrap="square" lIns="0" tIns="0" rIns="0" bIns="0" rtlCol="0" anchor="t"/>
          <a:lstStyle/>
          <a:p>
            <a:pPr indent="0" marL="0">
              <a:buNone/>
            </a:pPr>
            <a:r>
              <a:rPr lang="en-US" sz="1400" dirty="0">
                <a:solidFill>
                  <a:srgbClr val="334155"/>
                </a:solidFill>
              </a:rPr>
              <a:t>1. Deployment frequency — how often you go live.</a:t>
            </a:r>
            <a:endParaRPr lang="en-US" sz="1400" dirty="0"/>
          </a:p>
          <a:p>
            <a:pPr indent="0" marL="0">
              <a:buNone/>
            </a:pPr>
            <a:r>
              <a:rPr lang="en-US" sz="1400" dirty="0">
                <a:solidFill>
                  <a:srgbClr val="334155"/>
                </a:solidFill>
              </a:rPr>
              <a:t>2. Lead time for changes — idea to production.</a:t>
            </a:r>
            <a:endParaRPr lang="en-US" sz="1400" dirty="0"/>
          </a:p>
          <a:p>
            <a:pPr indent="0" marL="0">
              <a:buNone/>
            </a:pPr>
            <a:r>
              <a:rPr lang="en-US" sz="1400" dirty="0">
                <a:solidFill>
                  <a:srgbClr val="334155"/>
                </a:solidFill>
              </a:rPr>
              <a:t>3. Change fail rate — how often deploys break.</a:t>
            </a:r>
            <a:endParaRPr lang="en-US" sz="1400" dirty="0"/>
          </a:p>
          <a:p>
            <a:pPr indent="0" marL="0">
              <a:buNone/>
            </a:pPr>
            <a:r>
              <a:rPr lang="en-US" sz="1400" dirty="0">
                <a:solidFill>
                  <a:srgbClr val="334155"/>
                </a:solidFill>
              </a:rPr>
              <a:t>4. Time to restore — how fast you recover.</a:t>
            </a:r>
            <a:endParaRPr lang="en-US" sz="1400" dirty="0"/>
          </a:p>
          <a:p>
            <a:pPr indent="0" marL="0">
              <a:buNone/>
            </a:pPr>
            <a:endParaRPr lang="en-US" sz="1400" dirty="0"/>
          </a:p>
          <a:p>
            <a:pPr indent="0" marL="0">
              <a:buNone/>
            </a:pPr>
            <a:r>
              <a:rPr lang="en-US" sz="1400" dirty="0">
                <a:solidFill>
                  <a:srgbClr val="334155"/>
                </a:solidFill>
              </a:rPr>
              <a:t>Interviewers use these to test “do you actually do DevOps, or only sprints?”</a:t>
            </a:r>
            <a:endParaRPr lang="en-US" sz="1400" dirty="0"/>
          </a:p>
        </p:txBody>
      </p:sp>
      <p:sp>
        <p:nvSpPr>
          <p:cNvPr id="7" name="Shape 5"/>
          <p:cNvSpPr/>
          <p:nvPr/>
        </p:nvSpPr>
        <p:spPr>
          <a:xfrm>
            <a:off x="6217920" y="1005840"/>
            <a:ext cx="5440680" cy="5212080"/>
          </a:xfrm>
          <a:prstGeom prst="roundRect">
            <a:avLst>
              <a:gd name="adj" fmla="val 1404"/>
            </a:avLst>
          </a:prstGeom>
          <a:solidFill>
            <a:srgbClr val="F1F5F9"/>
          </a:solidFill>
          <a:ln/>
        </p:spPr>
      </p:sp>
      <p:sp>
        <p:nvSpPr>
          <p:cNvPr id="8" name="Text 6"/>
          <p:cNvSpPr txBox="1"/>
          <p:nvPr/>
        </p:nvSpPr>
        <p:spPr>
          <a:xfrm>
            <a:off x="6382512" y="1115568"/>
            <a:ext cx="5111496" cy="292608"/>
          </a:xfrm>
          <a:prstGeom prst="rect">
            <a:avLst/>
          </a:prstGeom>
          <a:noFill/>
          <a:ln/>
        </p:spPr>
        <p:txBody>
          <a:bodyPr wrap="square" lIns="0" tIns="0" rIns="0" bIns="0" rtlCol="0" anchor="ctr"/>
          <a:lstStyle/>
          <a:p>
            <a:pPr indent="0" marL="0">
              <a:buNone/>
            </a:pPr>
            <a:r>
              <a:rPr lang="en-US" sz="1300" b="1" dirty="0">
                <a:solidFill>
                  <a:srgbClr val="0F172A"/>
                </a:solidFill>
              </a:rPr>
              <a:t>RTO vs RPO</a:t>
            </a:r>
            <a:endParaRPr lang="en-US" sz="1300" dirty="0"/>
          </a:p>
        </p:txBody>
      </p:sp>
      <p:sp>
        <p:nvSpPr>
          <p:cNvPr id="9" name="Text 7"/>
          <p:cNvSpPr txBox="1"/>
          <p:nvPr/>
        </p:nvSpPr>
        <p:spPr>
          <a:xfrm>
            <a:off x="6382512" y="1426464"/>
            <a:ext cx="5111496" cy="4663440"/>
          </a:xfrm>
          <a:prstGeom prst="rect">
            <a:avLst/>
          </a:prstGeom>
          <a:noFill/>
          <a:ln/>
        </p:spPr>
        <p:txBody>
          <a:bodyPr wrap="square" lIns="0" tIns="0" rIns="0" bIns="0" rtlCol="0" anchor="t"/>
          <a:lstStyle/>
          <a:p>
            <a:pPr indent="0" marL="0">
              <a:buNone/>
            </a:pPr>
            <a:r>
              <a:rPr lang="en-US" sz="1400" dirty="0">
                <a:solidFill>
                  <a:srgbClr val="334155"/>
                </a:solidFill>
              </a:rPr>
              <a:t>RTO (recovery time objective) — how long we can be down.</a:t>
            </a:r>
            <a:endParaRPr lang="en-US" sz="1400" dirty="0"/>
          </a:p>
          <a:p>
            <a:pPr indent="0" marL="0">
              <a:buNone/>
            </a:pPr>
            <a:r>
              <a:rPr lang="en-US" sz="1400" dirty="0">
                <a:solidFill>
                  <a:srgbClr val="334155"/>
                </a:solidFill>
              </a:rPr>
              <a:t>Example: back up in 1 hour.</a:t>
            </a:r>
            <a:endParaRPr lang="en-US" sz="1400" dirty="0"/>
          </a:p>
          <a:p>
            <a:pPr indent="0" marL="0">
              <a:buNone/>
            </a:pPr>
            <a:endParaRPr lang="en-US" sz="1400" dirty="0"/>
          </a:p>
          <a:p>
            <a:pPr indent="0" marL="0">
              <a:buNone/>
            </a:pPr>
            <a:r>
              <a:rPr lang="en-US" sz="1400" dirty="0">
                <a:solidFill>
                  <a:srgbClr val="334155"/>
                </a:solidFill>
              </a:rPr>
              <a:t>RPO (recovery point objective) — how much data we can lose.</a:t>
            </a:r>
            <a:endParaRPr lang="en-US" sz="1400" dirty="0"/>
          </a:p>
          <a:p>
            <a:pPr indent="0" marL="0">
              <a:buNone/>
            </a:pPr>
            <a:r>
              <a:rPr lang="en-US" sz="1400" dirty="0">
                <a:solidFill>
                  <a:srgbClr val="334155"/>
                </a:solidFill>
              </a:rPr>
              <a:t>Example: at most 15 minutes of notes.</a:t>
            </a:r>
            <a:endParaRPr lang="en-US" sz="1400" dirty="0"/>
          </a:p>
          <a:p>
            <a:pPr indent="0" marL="0">
              <a:buNone/>
            </a:pPr>
            <a:endParaRPr lang="en-US" sz="1400" dirty="0"/>
          </a:p>
          <a:p>
            <a:pPr indent="0" marL="0">
              <a:buNone/>
            </a:pPr>
            <a:r>
              <a:rPr lang="en-US" sz="1400" dirty="0">
                <a:solidFill>
                  <a:srgbClr val="334155"/>
                </a:solidFill>
              </a:rPr>
              <a:t>Backups without these two numbers are just files on a disk.</a:t>
            </a:r>
            <a:endParaRPr lang="en-US" sz="14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02920" y="237744"/>
            <a:ext cx="11155680" cy="621792"/>
          </a:xfrm>
          <a:prstGeom prst="rect">
            <a:avLst/>
          </a:prstGeom>
          <a:noFill/>
          <a:ln/>
        </p:spPr>
        <p:txBody>
          <a:bodyPr wrap="square" lIns="0" tIns="0" rIns="0" bIns="0" rtlCol="0"/>
          <a:lstStyle/>
          <a:p>
            <a:pPr indent="0" marL="0">
              <a:buNone/>
            </a:pPr>
            <a:r>
              <a:rPr lang="en-US" sz="2600" b="1" dirty="0">
                <a:solidFill>
                  <a:schemeClr val="tx1"/>
                </a:solidFill>
              </a:rPr>
              <a:t>Interview answers you can read aloud</a:t>
            </a:r>
            <a:endParaRPr lang="en-US" sz="2600" dirty="0"/>
          </a:p>
        </p:txBody>
      </p:sp>
      <p:sp>
        <p:nvSpPr>
          <p:cNvPr id="3" name="Text 1"/>
          <p:cNvSpPr txBox="1"/>
          <p:nvPr/>
        </p:nvSpPr>
        <p:spPr>
          <a:xfrm>
            <a:off x="502920" y="6473952"/>
            <a:ext cx="9601200" cy="256032"/>
          </a:xfrm>
          <a:prstGeom prst="rect">
            <a:avLst/>
          </a:prstGeom>
          <a:noFill/>
          <a:ln/>
        </p:spPr>
        <p:txBody>
          <a:bodyPr wrap="square" lIns="0" tIns="0" rIns="0" bIns="0" rtlCol="0" anchor="ctr"/>
          <a:lstStyle/>
          <a:p>
            <a:pPr indent="0" marL="0">
              <a:buNone/>
            </a:pPr>
            <a:r>
              <a:rPr lang="en-US" sz="1100" dirty="0">
                <a:solidFill>
                  <a:srgbClr val="64748B"/>
                </a:solidFill>
              </a:rPr>
              <a:t>Lecture 2  ·  practise</a:t>
            </a:r>
            <a:endParaRPr lang="en-US" sz="11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02920" y="987552"/>
          <a:ext cx="11173968" cy="914400"/>
        </p:xfrm>
        <a:graphic>
          <a:graphicData uri="http://schemas.openxmlformats.org/drawingml/2006/table">
            <a:tbl>
              <a:tblPr/>
              <a:tblGrid>
                <a:gridCol w="3200400"/>
                <a:gridCol w="7973568"/>
              </a:tblGrid>
              <a:tr h="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Say this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F172A"/>
                    </a:solidFill>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vs GitHub?</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Git is local history. GitHub hosts the shared repo and pull requests.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What is a PR?</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 request to review my branch and merge it into main.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Never commit?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Secrets, .env, keys. Rotate if it leaked. .gitignore is not enough after the fact.</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Waterfall vs Agile?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Waterfall is one late release. Agile is small slices of working software.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Scrum vs Kanban?</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Scrum uses sprints. Kanban uses WIP limits and flow.</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Agile vs DevOps?</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Agile plans small. DevOps ships and runs small. Not the same.</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r h="0">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SLA / SLO / SLI?</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c>
                  <a:txBody>
                    <a:bodyPr/>
                    <a:lstStyle/>
                    <a:p>
                      <a:pPr algn="l" indent="0" marL="0">
                        <a:buNone/>
                      </a:pPr>
                      <a:r>
                        <a:rPr lang="en-US" sz="1300" dirty="0">
                          <a:solidFill>
                            <a:srgbClr val="0F172A"/>
                          </a:solidFill>
                          <a:latin typeface="Calibri" pitchFamily="34" charset="0"/>
                          <a:ea typeface="Calibri" pitchFamily="34" charset="-122"/>
                          <a:cs typeface="Calibri" pitchFamily="34" charset="-120"/>
                        </a:rPr>
                        <a:t>Contract / internal target / the metric.</a:t>
                      </a:r>
                      <a:endParaRPr lang="en-US" sz="1300" dirty="0">
                        <a:latin typeface="Calibri" charset="0"/>
                        <a:ea typeface="Calibri" charset="0"/>
                        <a:cs typeface="Calibri" charset="0"/>
                      </a:endParaRPr>
                    </a:p>
                  </a:txBody>
                  <a:tcPr marL="91440" marR="91440" marT="45720" marB="4572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tcPr>
                </a:tc>
              </a:tr>
            </a:tbl>
          </a:graphicData>
        </a:graphic>
      </p:graphicFrame>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640080" y="1234440"/>
            <a:ext cx="2286000" cy="365760"/>
          </a:xfrm>
          <a:prstGeom prst="roundRect">
            <a:avLst>
              <a:gd name="adj" fmla="val 15000"/>
            </a:avLst>
          </a:prstGeom>
          <a:solidFill>
            <a:srgbClr val="0F766E"/>
          </a:solidFill>
          <a:ln/>
        </p:spPr>
      </p:sp>
      <p:sp>
        <p:nvSpPr>
          <p:cNvPr id="3" name="Text 1"/>
          <p:cNvSpPr txBox="1"/>
          <p:nvPr/>
        </p:nvSpPr>
        <p:spPr>
          <a:xfrm>
            <a:off x="640080" y="1234440"/>
            <a:ext cx="2286000" cy="365760"/>
          </a:xfrm>
          <a:prstGeom prst="rect">
            <a:avLst/>
          </a:prstGeom>
          <a:noFill/>
          <a:ln/>
        </p:spPr>
        <p:txBody>
          <a:bodyPr wrap="square" lIns="0" tIns="0" rIns="0" bIns="0" rtlCol="0" anchor="ctr"/>
          <a:lstStyle/>
          <a:p>
            <a:pPr algn="ctr" indent="0" marL="0">
              <a:buNone/>
            </a:pPr>
            <a:r>
              <a:rPr lang="en-US" sz="1100" b="1" dirty="0">
                <a:solidFill>
                  <a:srgbClr val="FFFFFF"/>
                </a:solidFill>
              </a:rPr>
              <a:t>BEFORE LECTURE 3</a:t>
            </a:r>
            <a:endParaRPr lang="en-US" sz="1100" dirty="0"/>
          </a:p>
        </p:txBody>
      </p:sp>
      <p:sp>
        <p:nvSpPr>
          <p:cNvPr id="4" name="Text 0"/>
          <p:cNvSpPr/>
          <p:nvPr>
            <p:ph idx="100" type="title" hasCustomPrompt="1"/>
          </p:nvPr>
        </p:nvSpPr>
        <p:spPr>
          <a:xfrm>
            <a:off x="640080" y="1828800"/>
            <a:ext cx="10881360" cy="1371600"/>
          </a:xfrm>
          <a:prstGeom prst="rect">
            <a:avLst/>
          </a:prstGeom>
          <a:noFill/>
          <a:ln/>
        </p:spPr>
        <p:txBody>
          <a:bodyPr wrap="square" lIns="0" tIns="0" rIns="0" bIns="0" rtlCol="0" anchor="b"/>
          <a:lstStyle/>
          <a:p>
            <a:pPr indent="0" marL="0">
              <a:buNone/>
            </a:pPr>
            <a:r>
              <a:rPr lang="en-US" sz="3400" b="1" dirty="0">
                <a:solidFill>
                  <a:schemeClr val="bg1"/>
                </a:solidFill>
              </a:rPr>
              <a:t>Open a real pull request. Then rest.</a:t>
            </a:r>
            <a:endParaRPr lang="en-US" sz="3400" dirty="0"/>
          </a:p>
        </p:txBody>
      </p:sp>
      <p:sp>
        <p:nvSpPr>
          <p:cNvPr id="5" name="Text 0"/>
          <p:cNvSpPr/>
          <p:nvPr>
            <p:ph idx="101" type="body" hasCustomPrompt="1"/>
          </p:nvPr>
        </p:nvSpPr>
        <p:spPr>
          <a:xfrm>
            <a:off x="640080" y="3291840"/>
            <a:ext cx="10515600" cy="1554480"/>
          </a:xfrm>
          <a:prstGeom prst="rect">
            <a:avLst/>
          </a:prstGeom>
          <a:noFill/>
          <a:ln/>
        </p:spPr>
        <p:txBody>
          <a:bodyPr wrap="square" lIns="0" tIns="0" rIns="0" bIns="0" rtlCol="0"/>
          <a:lstStyle/>
          <a:p>
            <a:pPr indent="0" marL="0">
              <a:buNone/>
            </a:pPr>
            <a:r>
              <a:rPr lang="en-US" sz="1800" dirty="0">
                <a:solidFill>
                  <a:srgbClr val="94A3B8"/>
                </a:solidFill>
              </a:rPr>
              <a:t>Follow git-demo-instructions.txt in this repo. Open a pull request in the GitHub UI. Write four sentences: Git vs GitHub, Waterfall vs Agile, Scrum vs Kanban, Agile vs DevOps.</a:t>
            </a:r>
            <a:endParaRPr lang="en-US" sz="1800" dirty="0"/>
          </a:p>
          <a:p>
            <a:pPr indent="0" marL="0">
              <a:buNone/>
            </a:pPr>
            <a:r>
              <a:rPr lang="en-US" sz="1800" dirty="0">
                <a:solidFill>
                  <a:srgbClr val="94A3B8"/>
                </a:solidFill>
              </a:rPr>
              <a:t>Lecture 3 is networking and AWS basics — IP, DNS, VPC.</a:t>
            </a:r>
            <a:endParaRPr lang="en-US" sz="1800" dirty="0"/>
          </a:p>
        </p:txBody>
      </p:sp>
      <p:sp>
        <p:nvSpPr>
          <p:cNvPr id="25" name="Slide Number Placeholder 0"/>
          <p:cNvSpPr>
            <a:spLocks noGrp="1"/>
          </p:cNvSpPr>
          <p:nvPr>
            <p:ph type="sldNum" sz="quarter" idx="4294967295"/>
          </p:nvPr>
        </p:nvSpPr>
        <p:spPr>
          <a:xfrm>
            <a:off x="11292840" y="6473952"/>
            <a:ext cx="800000" cy="300000"/>
          </a:xfrm>
          <a:prstGeom prst="rect">
            <a:avLst/>
          </a:prstGeom>
          <a:extLst>
            <a:ext uri="{C572A759-6A51-4108-AA02-DFA0A04FC94B}">
              <ma14:wrappingTextBoxFlag xmlns:ma14="http://schemas.microsoft.com/office/mac/drawingml/2011/main" val="0"/>
            </a:ext>
          </a:extLst>
        </p:spPr>
        <p:txBody>
          <a:bodyPr/>
          <a:lstStyle>
            <a:lvl1pPr>
              <a:defRPr sz="1100">
                <a:solidFill>
                  <a:srgbClr val="64748B"/>
                </a:solidFill>
              </a:defRPr>
            </a:lvl1pPr>
          </a:lstStyle>
          <a:p>
            <a:pPr algn="l"/>
            <a:fld id="{F7021451-1387-4CA6-816F-3879F97B5CBC}" type="slidenum">
              <a:rPr b="0" lang="en-US"/>
              <a:t>49</a:t>
            </a:fld>
            <a:endParaRPr lang="en-US"/>
          </a:p>
        </p:txBody>
      </p:sp>
    </p:spTree>
  </p:cSld>
  <p:clrMapOvr>
    <a:masterClrMapping/>
  </p:clrMapOvr>
</p:sld>
</file>

<file path=ppt/theme/theme1.xml><?xml version="1.0" encoding="utf-8"?>
<a:theme xmlns:a="http://schemas.openxmlformats.org/drawingml/2006/main" name="Ops Teal">
  <a:themeElements>
    <a:clrScheme name="Ops Teal">
      <a:dk1>
        <a:srgbClr val="0F172A"/>
      </a:dk1>
      <a:lt1>
        <a:srgbClr val="F8FAFC"/>
      </a:lt1>
      <a:dk2>
        <a:srgbClr val="334155"/>
      </a:dk2>
      <a:lt2>
        <a:srgbClr val="E2E8F0"/>
      </a:lt2>
      <a:accent1>
        <a:srgbClr val="0F766E"/>
      </a:accent1>
      <a:accent2>
        <a:srgbClr val="B45309"/>
      </a:accent2>
      <a:accent3>
        <a:srgbClr val="155E75"/>
      </a:accent3>
      <a:accent4>
        <a:srgbClr val="64748B"/>
      </a:accent4>
      <a:accent5>
        <a:srgbClr val="0D9488"/>
      </a:accent5>
      <a:accent6>
        <a:srgbClr val="1E293B"/>
      </a:accent6>
      <a:hlink>
        <a:srgbClr val="0F766E"/>
      </a:hlink>
      <a:folHlink>
        <a:srgbClr val="115E59"/>
      </a:folHlink>
    </a:clrScheme>
    <a:fontScheme name="Ops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Git, GitHub, and ways of working</dc:title>
  <dc:subject>Student-readable lecture. Git in full, then bonus process models.</dc:subject>
  <dc:creator>DevOps Foundation Course</dc:creator>
  <cp:lastModifiedBy>DevOps Foundation Course</cp:lastModifiedBy>
  <cp:revision>1</cp:revision>
  <dcterms:created xsi:type="dcterms:W3CDTF">2026-10-18T09:26:15Z</dcterms:created>
  <dcterms:modified xsi:type="dcterms:W3CDTF">2026-10-18T09:26:15Z</dcterms:modified>
</cp:coreProperties>
</file>