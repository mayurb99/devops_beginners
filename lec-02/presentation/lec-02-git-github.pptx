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5" r:id="rId27"/>
    <p:sldId id="286" r:id="rId28"/>
    <p:sldId id="289" r:id="rId29"/>
    <p:sldId id="290" r:id="rId30"/>
    <p:sldId id="291" r:id="rId31"/>
    <p:sldId id="292" r:id="rId32"/>
    <p:sldId id="293" r:id="rId33"/>
    <p:sldId id="294" r:id="rId34"/>
    <p:sldId id="295" r:id="rId35"/>
    <p:sldId id="296" r:id="rId36"/>
    <p:sldId id="297" r:id="rId37"/>
    <p:sldId id="303" r:id="rId38"/>
    <p:sldId id="304"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73D89A5B-1AEE-0A0D-3A97-9E152ED4C2AB}">
          <p14:sldIdLst>
            <p14:sldId id="256"/>
          </p14:sldIdLst>
        </p14:section>
        <p14:section name="Why Git exists" id="{C0FC22E2-A4AA-D654-D62A-9AE77DD0171F}">
          <p14:sldIdLst>
            <p14:sldId id="260"/>
            <p14:sldId id="261"/>
            <p14:sldId id="262"/>
            <p14:sldId id="263"/>
            <p14:sldId id="264"/>
            <p14:sldId id="265"/>
          </p14:sldIdLst>
        </p14:section>
        <p14:section name="Daily Git commands" id="{DEF69A3A-1F9A-90F3-4D35-040D2FB415B4}">
          <p14:sldIdLst>
            <p14:sldId id="266"/>
            <p14:sldId id="267"/>
            <p14:sldId id="268"/>
            <p14:sldId id="269"/>
            <p14:sldId id="270"/>
            <p14:sldId id="271"/>
            <p14:sldId id="272"/>
            <p14:sldId id="273"/>
            <p14:sldId id="274"/>
          </p14:sldIdLst>
        </p14:section>
        <p14:section name="Branches and GitHub" id="{5A5BEA7D-7C05-B6DD-370A-E21A88E9C786}">
          <p14:sldIdLst>
            <p14:sldId id="275"/>
            <p14:sldId id="276"/>
            <p14:sldId id="277"/>
            <p14:sldId id="278"/>
            <p14:sldId id="279"/>
            <p14:sldId id="280"/>
            <p14:sldId id="281"/>
            <p14:sldId id="282"/>
            <p14:sldId id="283"/>
          </p14:sldIdLst>
        </p14:section>
        <p14:section name="Lab" id="{9B75F82B-31CA-0D79-E081-D72AF208B9AC}">
          <p14:sldIdLst>
            <p14:sldId id="285"/>
            <p14:sldId id="286"/>
          </p14:sldIdLst>
        </p14:section>
        <p14:section name="Bonus: ways of working" id="{9D9CE9AA-CF18-B6DC-2674-DA8D315A5A56}">
          <p14:sldIdLst>
            <p14:sldId id="289"/>
            <p14:sldId id="290"/>
            <p14:sldId id="291"/>
            <p14:sldId id="292"/>
            <p14:sldId id="293"/>
            <p14:sldId id="294"/>
            <p14:sldId id="295"/>
            <p14:sldId id="296"/>
            <p14:sldId id="297"/>
            <p14:sldId id="303"/>
            <p14:sldId id="30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1575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17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28800"/>
            <a:ext cx="10881360" cy="1371600"/>
          </a:xfrm>
          <a:prstGeom prst="rect">
            <a:avLst/>
          </a:prstGeom>
          <a:noFill/>
          <a:ln/>
        </p:spPr>
        <p:txBody>
          <a:bodyPr wrap="square" rtlCol="0"/>
          <a:lstStyle>
            <a:lvl1pPr marL="0" indent="0">
              <a:buNone/>
              <a:defRPr lang="en-US" sz="3400" b="1" dirty="0">
                <a:solidFill>
                  <a:schemeClr val="bg1"/>
                </a:solidFill>
              </a:defRPr>
            </a:lvl1pPr>
          </a:lstStyle>
          <a:p>
            <a:pPr marL="0" indent="0">
              <a:buNone/>
            </a:pPr>
            <a:r>
              <a:rPr lang="en-US" sz="3400" b="1" dirty="0">
                <a:solidFill>
                  <a:schemeClr val="bg1"/>
                </a:solidFill>
              </a:rPr>
              <a:t>Title</a:t>
            </a:r>
            <a:endParaRPr lang="en-US" sz="3400" dirty="0"/>
          </a:p>
        </p:txBody>
      </p:sp>
      <p:sp>
        <p:nvSpPr>
          <p:cNvPr id="3" name="Text 0"/>
          <p:cNvSpPr>
            <a:spLocks noGrp="1"/>
          </p:cNvSpPr>
          <p:nvPr>
            <p:ph type="body" idx="101" hasCustomPrompt="1"/>
          </p:nvPr>
        </p:nvSpPr>
        <p:spPr>
          <a:xfrm>
            <a:off x="640080" y="3291840"/>
            <a:ext cx="10515600" cy="1554480"/>
          </a:xfrm>
          <a:prstGeom prst="rect">
            <a:avLst/>
          </a:prstGeom>
          <a:noFill/>
          <a:ln/>
        </p:spPr>
        <p:txBody>
          <a:bodyPr wrap="square" rtlCol="0"/>
          <a:lstStyle>
            <a:lvl1pPr marL="0" indent="0">
              <a:buNone/>
              <a:defRPr lang="en-US" sz="1800" dirty="0">
                <a:solidFill>
                  <a:srgbClr val="94A3B8"/>
                </a:solidFill>
              </a:defRPr>
            </a:lvl1pPr>
          </a:lstStyle>
          <a:p>
            <a:pPr marL="0" indent="0">
              <a:buNone/>
            </a:pPr>
            <a:r>
              <a:rPr lang="en-US" sz="1800" dirty="0">
                <a:solidFill>
                  <a:srgbClr val="94A3B8"/>
                </a:solidFill>
              </a:rPr>
              <a:t>Subtitle</a:t>
            </a:r>
            <a:endParaRPr lang="en-US" sz="18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F17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286000"/>
            <a:ext cx="10972800" cy="1097280"/>
          </a:xfrm>
          <a:prstGeom prst="rect">
            <a:avLst/>
          </a:prstGeom>
          <a:noFill/>
          <a:ln/>
        </p:spPr>
        <p:txBody>
          <a:bodyPr wrap="square" rtlCol="0"/>
          <a:lstStyle>
            <a:lvl1pPr marL="0" indent="0">
              <a:buNone/>
              <a:defRPr lang="en-US" sz="3200" b="1" dirty="0">
                <a:solidFill>
                  <a:schemeClr val="bg1"/>
                </a:solidFill>
              </a:defRPr>
            </a:lvl1pPr>
          </a:lstStyle>
          <a:p>
            <a:pPr marL="0" indent="0">
              <a:buNone/>
            </a:pPr>
            <a:r>
              <a:rPr lang="en-US" sz="3200" b="1" dirty="0">
                <a:solidFill>
                  <a:schemeClr val="bg1"/>
                </a:solidFill>
              </a:rPr>
              <a:t>Section</a:t>
            </a:r>
            <a:endParaRPr lang="en-US" sz="3200" dirty="0"/>
          </a:p>
        </p:txBody>
      </p:sp>
      <p:sp>
        <p:nvSpPr>
          <p:cNvPr id="3" name="Text 0"/>
          <p:cNvSpPr>
            <a:spLocks noGrp="1"/>
          </p:cNvSpPr>
          <p:nvPr>
            <p:ph type="body" idx="101" hasCustomPrompt="1"/>
          </p:nvPr>
        </p:nvSpPr>
        <p:spPr>
          <a:xfrm>
            <a:off x="640080" y="3474720"/>
            <a:ext cx="10515600" cy="1371600"/>
          </a:xfrm>
          <a:prstGeom prst="rect">
            <a:avLst/>
          </a:prstGeom>
          <a:noFill/>
          <a:ln/>
        </p:spPr>
        <p:txBody>
          <a:bodyPr wrap="square" rtlCol="0"/>
          <a:lstStyle>
            <a:lvl1pPr marL="0" indent="0">
              <a:buNone/>
              <a:defRPr lang="en-US" sz="1800" dirty="0">
                <a:solidFill>
                  <a:srgbClr val="94A3B8"/>
                </a:solidFill>
              </a:defRPr>
            </a:lvl1pPr>
          </a:lstStyle>
          <a:p>
            <a:pPr marL="0" indent="0">
              <a:buNone/>
            </a:pPr>
            <a:r>
              <a:rPr lang="en-US" sz="1800" dirty="0">
                <a:solidFill>
                  <a:srgbClr val="94A3B8"/>
                </a:solidFill>
              </a:rPr>
              <a:t>Section note</a:t>
            </a:r>
            <a:endParaRPr lang="en-US" sz="18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rtlCol="0"/>
          <a:lstStyle>
            <a:lvl1pPr marL="0" indent="0">
              <a:buNone/>
              <a:defRPr lang="en-US" sz="2600" b="1" dirty="0">
                <a:solidFill>
                  <a:schemeClr val="tx1"/>
                </a:solidFill>
              </a:defRPr>
            </a:lvl1pPr>
          </a:lstStyle>
          <a:p>
            <a:pPr marL="0" indent="0">
              <a:buNone/>
            </a:pPr>
            <a:r>
              <a:rPr lang="en-US" sz="2600" b="1" dirty="0">
                <a:solidFill>
                  <a:schemeClr val="tx1"/>
                </a:solidFill>
              </a:rPr>
              <a:t>Title</a:t>
            </a:r>
            <a:endParaRPr lang="en-US" sz="26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40080" y="1234440"/>
            <a:ext cx="3383280" cy="365760"/>
          </a:xfrm>
          <a:prstGeom prst="roundRect">
            <a:avLst>
              <a:gd name="adj" fmla="val 15000"/>
            </a:avLst>
          </a:prstGeom>
          <a:solidFill>
            <a:srgbClr val="0F766E"/>
          </a:solidFill>
          <a:ln/>
        </p:spPr>
        <p:txBody>
          <a:bodyPr/>
          <a:lstStyle/>
          <a:p>
            <a:endParaRPr lang="en-IN"/>
          </a:p>
        </p:txBody>
      </p:sp>
      <p:sp>
        <p:nvSpPr>
          <p:cNvPr id="3" name="Text 1"/>
          <p:cNvSpPr txBox="1"/>
          <p:nvPr/>
        </p:nvSpPr>
        <p:spPr>
          <a:xfrm>
            <a:off x="640080" y="1234440"/>
            <a:ext cx="3383280" cy="365760"/>
          </a:xfrm>
          <a:prstGeom prst="rect">
            <a:avLst/>
          </a:prstGeom>
          <a:noFill/>
          <a:ln/>
        </p:spPr>
        <p:txBody>
          <a:bodyPr wrap="square" lIns="0" tIns="0" rIns="0" bIns="0" rtlCol="0" anchor="ctr"/>
          <a:lstStyle/>
          <a:p>
            <a:pPr marL="0" indent="0" algn="ctr">
              <a:buNone/>
            </a:pPr>
            <a:r>
              <a:rPr lang="en-US" sz="1100" b="1" dirty="0">
                <a:solidFill>
                  <a:srgbClr val="FFFFFF"/>
                </a:solidFill>
              </a:rPr>
              <a:t>LECTURE 02  ·  75 MINUTES  ·  READ THIS DECK</a:t>
            </a:r>
            <a:endParaRPr lang="en-US" sz="1100" dirty="0"/>
          </a:p>
        </p:txBody>
      </p:sp>
      <p:sp>
        <p:nvSpPr>
          <p:cNvPr id="4" name="Text 0"/>
          <p:cNvSpPr>
            <a:spLocks noGrp="1"/>
          </p:cNvSpPr>
          <p:nvPr>
            <p:ph type="title" idx="100" hasCustomPrompt="1"/>
          </p:nvPr>
        </p:nvSpPr>
        <p:spPr>
          <a:xfrm>
            <a:off x="640080" y="1828800"/>
            <a:ext cx="10881360" cy="1371600"/>
          </a:xfrm>
          <a:prstGeom prst="rect">
            <a:avLst/>
          </a:prstGeom>
          <a:noFill/>
          <a:ln/>
        </p:spPr>
        <p:txBody>
          <a:bodyPr wrap="square" lIns="0" tIns="0" rIns="0" bIns="0" rtlCol="0" anchor="b"/>
          <a:lstStyle/>
          <a:p>
            <a:pPr marL="0" indent="0">
              <a:buNone/>
            </a:pPr>
            <a:r>
              <a:rPr lang="en-US" sz="3400" b="1" dirty="0">
                <a:solidFill>
                  <a:schemeClr val="bg1"/>
                </a:solidFill>
              </a:rPr>
              <a:t>Git, GitHub, and ways of working</a:t>
            </a:r>
            <a:endParaRPr lang="en-US" sz="3400" dirty="0"/>
          </a:p>
        </p:txBody>
      </p:sp>
      <p:sp>
        <p:nvSpPr>
          <p:cNvPr id="5" name="Text 0"/>
          <p:cNvSpPr>
            <a:spLocks noGrp="1"/>
          </p:cNvSpPr>
          <p:nvPr>
            <p:ph type="body" idx="101" hasCustomPrompt="1"/>
          </p:nvPr>
        </p:nvSpPr>
        <p:spPr>
          <a:xfrm>
            <a:off x="640080" y="3291840"/>
            <a:ext cx="10515600" cy="1554480"/>
          </a:xfrm>
          <a:prstGeom prst="rect">
            <a:avLst/>
          </a:prstGeom>
          <a:noFill/>
          <a:ln/>
        </p:spPr>
        <p:txBody>
          <a:bodyPr wrap="square" lIns="0" tIns="0" rIns="0" bIns="0" rtlCol="0"/>
          <a:lstStyle/>
          <a:p>
            <a:pPr marL="0" indent="0">
              <a:buNone/>
            </a:pPr>
            <a:r>
              <a:rPr lang="en-US" sz="1800" dirty="0">
                <a:solidFill>
                  <a:srgbClr val="94A3B8"/>
                </a:solidFill>
              </a:rPr>
              <a:t>Module 1: Foundations</a:t>
            </a:r>
            <a:endParaRPr lang="en-US" sz="1800" dirty="0"/>
          </a:p>
          <a:p>
            <a:pPr marL="0" indent="0">
              <a:buNone/>
            </a:pPr>
            <a:r>
              <a:rPr lang="en-US" sz="1800" dirty="0">
                <a:solidFill>
                  <a:srgbClr val="94A3B8"/>
                </a:solidFill>
              </a:rPr>
              <a:t>Git is explained on these slides. A bonus section at the end covers Waterfall, Agile, Scrum, and Kanban.</a:t>
            </a:r>
            <a:endParaRPr lang="en-US" sz="18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286000"/>
            <a:ext cx="10972800" cy="1097280"/>
          </a:xfrm>
          <a:prstGeom prst="rect">
            <a:avLst/>
          </a:prstGeom>
          <a:noFill/>
          <a:ln/>
        </p:spPr>
        <p:txBody>
          <a:bodyPr wrap="square" lIns="0" tIns="0" rIns="0" bIns="0" rtlCol="0"/>
          <a:lstStyle/>
          <a:p>
            <a:pPr marL="0" indent="0">
              <a:buNone/>
            </a:pPr>
            <a:r>
              <a:rPr lang="en-US" sz="3200" b="1" dirty="0">
                <a:solidFill>
                  <a:schemeClr val="bg1"/>
                </a:solidFill>
              </a:rPr>
              <a:t>Why version control exists</a:t>
            </a:r>
            <a:endParaRPr lang="en-US" sz="3200" dirty="0"/>
          </a:p>
        </p:txBody>
      </p:sp>
      <p:sp>
        <p:nvSpPr>
          <p:cNvPr id="3" name="Text 0"/>
          <p:cNvSpPr>
            <a:spLocks noGrp="1"/>
          </p:cNvSpPr>
          <p:nvPr>
            <p:ph type="body" idx="101" hasCustomPrompt="1"/>
          </p:nvPr>
        </p:nvSpPr>
        <p:spPr>
          <a:xfrm>
            <a:off x="640080" y="3474720"/>
            <a:ext cx="10515600" cy="1371600"/>
          </a:xfrm>
          <a:prstGeom prst="rect">
            <a:avLst/>
          </a:prstGeom>
          <a:noFill/>
          <a:ln/>
        </p:spPr>
        <p:txBody>
          <a:bodyPr wrap="square" lIns="0" tIns="0" rIns="0" bIns="0" rtlCol="0"/>
          <a:lstStyle/>
          <a:p>
            <a:pPr marL="0" indent="0">
              <a:buNone/>
            </a:pPr>
            <a:r>
              <a:rPr lang="en-US" sz="1800" dirty="0">
                <a:solidFill>
                  <a:srgbClr val="94A3B8"/>
                </a:solidFill>
              </a:rPr>
              <a:t>History, undo, and teamwork — not a list of flags</a:t>
            </a:r>
            <a:endParaRPr lang="en-US" sz="18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The problem without Git</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Motivation</a:t>
            </a:r>
            <a:endParaRPr lang="en-US" sz="1100" dirty="0"/>
          </a:p>
        </p:txBody>
      </p:sp>
      <p:sp>
        <p:nvSpPr>
          <p:cNvPr id="4" name="Text 2"/>
          <p:cNvSpPr txBox="1"/>
          <p:nvPr/>
        </p:nvSpPr>
        <p:spPr>
          <a:xfrm>
            <a:off x="502920" y="987552"/>
            <a:ext cx="11155680" cy="1554480"/>
          </a:xfrm>
          <a:prstGeom prst="rect">
            <a:avLst/>
          </a:prstGeom>
          <a:noFill/>
          <a:ln/>
        </p:spPr>
        <p:txBody>
          <a:bodyPr wrap="square" lIns="0" tIns="0" rIns="0" bIns="0" rtlCol="0" anchor="t"/>
          <a:lstStyle/>
          <a:p>
            <a:pPr marL="0" indent="0">
              <a:buNone/>
            </a:pPr>
            <a:r>
              <a:rPr lang="en-US" sz="1600" dirty="0">
                <a:solidFill>
                  <a:srgbClr val="334155"/>
                </a:solidFill>
              </a:rPr>
              <a:t>Before Git, teams emailed zip files: notes-api-final, notes-api-final2, notes-api-USE-THIS. Nobody knew which copy was live. If a change broke production, you could not go back to yesterday’s files with a command. Two people edited the same file and overwrote each other.</a:t>
            </a:r>
            <a:endParaRPr lang="en-US" sz="1600" dirty="0"/>
          </a:p>
        </p:txBody>
      </p:sp>
      <p:sp>
        <p:nvSpPr>
          <p:cNvPr id="5" name="Shape 3"/>
          <p:cNvSpPr/>
          <p:nvPr/>
        </p:nvSpPr>
        <p:spPr>
          <a:xfrm>
            <a:off x="502920" y="2697480"/>
            <a:ext cx="11155680" cy="3520440"/>
          </a:xfrm>
          <a:prstGeom prst="roundRect">
            <a:avLst>
              <a:gd name="adj" fmla="val 2078"/>
            </a:avLst>
          </a:prstGeom>
          <a:solidFill>
            <a:srgbClr val="FEF3C7"/>
          </a:solidFill>
          <a:ln/>
        </p:spPr>
        <p:txBody>
          <a:bodyPr/>
          <a:lstStyle/>
          <a:p>
            <a:endParaRPr lang="en-IN"/>
          </a:p>
        </p:txBody>
      </p:sp>
      <p:sp>
        <p:nvSpPr>
          <p:cNvPr id="6" name="Text 4"/>
          <p:cNvSpPr txBox="1"/>
          <p:nvPr/>
        </p:nvSpPr>
        <p:spPr>
          <a:xfrm>
            <a:off x="667512" y="2807208"/>
            <a:ext cx="10826496" cy="292608"/>
          </a:xfrm>
          <a:prstGeom prst="rect">
            <a:avLst/>
          </a:prstGeom>
          <a:noFill/>
          <a:ln/>
        </p:spPr>
        <p:txBody>
          <a:bodyPr wrap="square" lIns="0" tIns="0" rIns="0" bIns="0" rtlCol="0" anchor="ctr"/>
          <a:lstStyle/>
          <a:p>
            <a:pPr marL="0" indent="0">
              <a:buNone/>
            </a:pPr>
            <a:r>
              <a:rPr lang="en-US" sz="1300" b="1" dirty="0">
                <a:solidFill>
                  <a:srgbClr val="B45309"/>
                </a:solidFill>
              </a:rPr>
              <a:t>Version control means</a:t>
            </a:r>
            <a:endParaRPr lang="en-US" sz="1300" dirty="0"/>
          </a:p>
        </p:txBody>
      </p:sp>
      <p:sp>
        <p:nvSpPr>
          <p:cNvPr id="7" name="Text 5"/>
          <p:cNvSpPr txBox="1"/>
          <p:nvPr/>
        </p:nvSpPr>
        <p:spPr>
          <a:xfrm>
            <a:off x="667512" y="3118104"/>
            <a:ext cx="10826496" cy="2971800"/>
          </a:xfrm>
          <a:prstGeom prst="rect">
            <a:avLst/>
          </a:prstGeom>
          <a:noFill/>
          <a:ln/>
        </p:spPr>
        <p:txBody>
          <a:bodyPr wrap="square" lIns="0" tIns="0" rIns="0" bIns="0" rtlCol="0" anchor="t"/>
          <a:lstStyle/>
          <a:p>
            <a:pPr marL="0" indent="0">
              <a:buNone/>
            </a:pPr>
            <a:r>
              <a:rPr lang="en-US" sz="1400" dirty="0">
                <a:solidFill>
                  <a:srgbClr val="334155"/>
                </a:solidFill>
              </a:rPr>
              <a:t>A system that records every snapshot of your files, who made it, and why. You can compare versions, undo, and work on a copy (a branch) without breaking the shared line of work.</a:t>
            </a:r>
            <a:endParaRPr lang="en-US" sz="1400" dirty="0"/>
          </a:p>
          <a:p>
            <a:pPr marL="0" indent="0">
              <a:buNone/>
            </a:pPr>
            <a:endParaRPr lang="en-US" sz="1400" dirty="0"/>
          </a:p>
          <a:p>
            <a:pPr marL="0" indent="0">
              <a:buNone/>
            </a:pPr>
            <a:r>
              <a:rPr lang="en-US" sz="1400" dirty="0">
                <a:solidFill>
                  <a:srgbClr val="334155"/>
                </a:solidFill>
              </a:rPr>
              <a:t>Git is the most common version-control tool in DevOps jobs. It is not the same thing as GitHub.</a:t>
            </a:r>
            <a:endParaRPr lang="en-US" sz="14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What a repository is</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Repository</a:t>
            </a:r>
            <a:endParaRPr lang="en-US" sz="1100" dirty="0"/>
          </a:p>
        </p:txBody>
      </p:sp>
      <p:sp>
        <p:nvSpPr>
          <p:cNvPr id="4" name="Text 2"/>
          <p:cNvSpPr txBox="1"/>
          <p:nvPr/>
        </p:nvSpPr>
        <p:spPr>
          <a:xfrm>
            <a:off x="502920" y="987552"/>
            <a:ext cx="11155680" cy="1600200"/>
          </a:xfrm>
          <a:prstGeom prst="rect">
            <a:avLst/>
          </a:prstGeom>
          <a:noFill/>
          <a:ln/>
        </p:spPr>
        <p:txBody>
          <a:bodyPr wrap="square" lIns="0" tIns="0" rIns="0" bIns="0" rtlCol="0" anchor="t"/>
          <a:lstStyle/>
          <a:p>
            <a:pPr marL="0" indent="0">
              <a:buNone/>
            </a:pPr>
            <a:r>
              <a:rPr lang="en-US" sz="1600" dirty="0">
                <a:solidFill>
                  <a:srgbClr val="334155"/>
                </a:solidFill>
              </a:rPr>
              <a:t>A repository (repo) is a project folder plus a hidden .git directory. That hidden folder is the database of commits. If you delete .git, you still have files, but you lost history. git init creates .git. git clone copies someone else’s repo, including history.</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2697480"/>
          <a:ext cx="11173968" cy="1600200"/>
        </p:xfrm>
        <a:graphic>
          <a:graphicData uri="http://schemas.openxmlformats.org/drawingml/2006/table">
            <a:tbl>
              <a:tblPr/>
              <a:tblGrid>
                <a:gridCol w="3108960">
                  <a:extLst>
                    <a:ext uri="{9D8B030D-6E8A-4147-A177-3AD203B41FA5}">
                      <a16:colId xmlns:a16="http://schemas.microsoft.com/office/drawing/2014/main" val="20000"/>
                    </a:ext>
                  </a:extLst>
                </a:gridCol>
                <a:gridCol w="8065008">
                  <a:extLst>
                    <a:ext uri="{9D8B030D-6E8A-4147-A177-3AD203B41FA5}">
                      <a16:colId xmlns:a16="http://schemas.microsoft.com/office/drawing/2014/main" val="20001"/>
                    </a:ext>
                  </a:extLst>
                </a:gridCol>
              </a:tblGrid>
              <a:tr h="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Word</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Meaning</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Working tree</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The files you see and edit (README.md, notes.txt).</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Staging area (index)</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The list of changes chosen for the *next* commit. Filled by git add.</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Local repository</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The history on your laptop, inside .git.</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Remote repository</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500" dirty="0">
                          <a:solidFill>
                            <a:srgbClr val="0F172A"/>
                          </a:solidFill>
                          <a:latin typeface="Calibri" pitchFamily="34" charset="0"/>
                          <a:ea typeface="Calibri" pitchFamily="34" charset="-122"/>
                          <a:cs typeface="Calibri" pitchFamily="34" charset="-120"/>
                        </a:rPr>
                        <a:t>Usually GitHub, nicknamed origin.</a:t>
                      </a:r>
                      <a:endParaRPr lang="en-US" sz="15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Git versus GitHub</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Do not mix these</a:t>
            </a:r>
            <a:endParaRPr lang="en-US" sz="1100" dirty="0"/>
          </a:p>
        </p:txBody>
      </p:sp>
      <p:sp>
        <p:nvSpPr>
          <p:cNvPr id="4" name="Shape 2"/>
          <p:cNvSpPr/>
          <p:nvPr/>
        </p:nvSpPr>
        <p:spPr>
          <a:xfrm>
            <a:off x="502920" y="1005840"/>
            <a:ext cx="5532120" cy="5212080"/>
          </a:xfrm>
          <a:prstGeom prst="roundRect">
            <a:avLst>
              <a:gd name="adj" fmla="val 1404"/>
            </a:avLst>
          </a:prstGeom>
          <a:solidFill>
            <a:srgbClr val="1E293B"/>
          </a:solidFill>
          <a:ln/>
        </p:spPr>
        <p:txBody>
          <a:bodyPr/>
          <a:lstStyle/>
          <a:p>
            <a:endParaRPr lang="en-IN"/>
          </a:p>
        </p:txBody>
      </p:sp>
      <p:sp>
        <p:nvSpPr>
          <p:cNvPr id="5" name="Text 3"/>
          <p:cNvSpPr txBox="1"/>
          <p:nvPr/>
        </p:nvSpPr>
        <p:spPr>
          <a:xfrm>
            <a:off x="667512" y="1115568"/>
            <a:ext cx="5202936" cy="292608"/>
          </a:xfrm>
          <a:prstGeom prst="rect">
            <a:avLst/>
          </a:prstGeom>
          <a:noFill/>
          <a:ln/>
        </p:spPr>
        <p:txBody>
          <a:bodyPr wrap="square" lIns="0" tIns="0" rIns="0" bIns="0" rtlCol="0" anchor="ctr"/>
          <a:lstStyle/>
          <a:p>
            <a:pPr marL="0" indent="0">
              <a:buNone/>
            </a:pPr>
            <a:r>
              <a:rPr lang="en-US" sz="1300" b="1" dirty="0">
                <a:solidFill>
                  <a:srgbClr val="FFFFFF"/>
                </a:solidFill>
              </a:rPr>
              <a:t>Git (the tool)</a:t>
            </a:r>
            <a:endParaRPr lang="en-US" sz="1300" dirty="0"/>
          </a:p>
        </p:txBody>
      </p:sp>
      <p:sp>
        <p:nvSpPr>
          <p:cNvPr id="6" name="Text 4"/>
          <p:cNvSpPr txBox="1"/>
          <p:nvPr/>
        </p:nvSpPr>
        <p:spPr>
          <a:xfrm>
            <a:off x="667512" y="1426464"/>
            <a:ext cx="5202936" cy="4663440"/>
          </a:xfrm>
          <a:prstGeom prst="rect">
            <a:avLst/>
          </a:prstGeom>
          <a:noFill/>
          <a:ln/>
        </p:spPr>
        <p:txBody>
          <a:bodyPr wrap="square" lIns="0" tIns="0" rIns="0" bIns="0" rtlCol="0" anchor="t"/>
          <a:lstStyle/>
          <a:p>
            <a:pPr marL="0" indent="0">
              <a:buNone/>
            </a:pPr>
            <a:r>
              <a:rPr lang="en-US" sz="1400" dirty="0">
                <a:solidFill>
                  <a:srgbClr val="CBD5E1"/>
                </a:solidFill>
              </a:rPr>
              <a:t>Runs on your computer.</a:t>
            </a:r>
            <a:endParaRPr lang="en-US" sz="1400" dirty="0"/>
          </a:p>
          <a:p>
            <a:pPr marL="0" indent="0">
              <a:buNone/>
            </a:pPr>
            <a:r>
              <a:rPr lang="en-US" sz="1400" dirty="0">
                <a:solidFill>
                  <a:srgbClr val="CBD5E1"/>
                </a:solidFill>
              </a:rPr>
              <a:t>Works offline.</a:t>
            </a:r>
            <a:endParaRPr lang="en-US" sz="1400" dirty="0"/>
          </a:p>
          <a:p>
            <a:pPr marL="0" indent="0">
              <a:buNone/>
            </a:pPr>
            <a:r>
              <a:rPr lang="en-US" sz="1400" dirty="0">
                <a:solidFill>
                  <a:srgbClr val="CBD5E1"/>
                </a:solidFill>
              </a:rPr>
              <a:t>Commands: add, commit, branch, merge, log.</a:t>
            </a:r>
            <a:endParaRPr lang="en-US" sz="1400" dirty="0"/>
          </a:p>
          <a:p>
            <a:pPr marL="0" indent="0">
              <a:buNone/>
            </a:pPr>
            <a:r>
              <a:rPr lang="en-US" sz="1400" dirty="0">
                <a:solidFill>
                  <a:srgbClr val="CBD5E1"/>
                </a:solidFill>
              </a:rPr>
              <a:t>Stores snapshots locally.</a:t>
            </a:r>
            <a:endParaRPr lang="en-US" sz="1400" dirty="0"/>
          </a:p>
          <a:p>
            <a:pPr marL="0" indent="0">
              <a:buNone/>
            </a:pPr>
            <a:r>
              <a:rPr lang="en-US" sz="1400" dirty="0">
                <a:solidFill>
                  <a:srgbClr val="CBD5E1"/>
                </a:solidFill>
              </a:rPr>
              <a:t>You can use Git with no GitHub at all.</a:t>
            </a:r>
            <a:endParaRPr lang="en-US" sz="1400" dirty="0"/>
          </a:p>
          <a:p>
            <a:pPr marL="0" indent="0">
              <a:buNone/>
            </a:pPr>
            <a:endParaRPr lang="en-US" sz="1400" dirty="0"/>
          </a:p>
          <a:p>
            <a:pPr marL="0" indent="0">
              <a:buNone/>
            </a:pPr>
            <a:r>
              <a:rPr lang="en-US" sz="1400" dirty="0">
                <a:solidFill>
                  <a:srgbClr val="CBD5E1"/>
                </a:solidFill>
              </a:rPr>
              <a:t>Interview: “Git is version control.”</a:t>
            </a:r>
            <a:endParaRPr lang="en-US" sz="1400" dirty="0"/>
          </a:p>
        </p:txBody>
      </p:sp>
      <p:sp>
        <p:nvSpPr>
          <p:cNvPr id="7" name="Shape 5"/>
          <p:cNvSpPr/>
          <p:nvPr/>
        </p:nvSpPr>
        <p:spPr>
          <a:xfrm>
            <a:off x="6217920" y="1005840"/>
            <a:ext cx="5440680" cy="5212080"/>
          </a:xfrm>
          <a:prstGeom prst="roundRect">
            <a:avLst>
              <a:gd name="adj" fmla="val 1404"/>
            </a:avLst>
          </a:prstGeom>
          <a:solidFill>
            <a:srgbClr val="0F766E"/>
          </a:solidFill>
          <a:ln/>
        </p:spPr>
        <p:txBody>
          <a:bodyPr/>
          <a:lstStyle/>
          <a:p>
            <a:endParaRPr lang="en-IN"/>
          </a:p>
        </p:txBody>
      </p:sp>
      <p:sp>
        <p:nvSpPr>
          <p:cNvPr id="8" name="Text 6"/>
          <p:cNvSpPr txBox="1"/>
          <p:nvPr/>
        </p:nvSpPr>
        <p:spPr>
          <a:xfrm>
            <a:off x="6382512" y="1115568"/>
            <a:ext cx="5111496" cy="292608"/>
          </a:xfrm>
          <a:prstGeom prst="rect">
            <a:avLst/>
          </a:prstGeom>
          <a:noFill/>
          <a:ln/>
        </p:spPr>
        <p:txBody>
          <a:bodyPr wrap="square" lIns="0" tIns="0" rIns="0" bIns="0" rtlCol="0" anchor="ctr"/>
          <a:lstStyle/>
          <a:p>
            <a:pPr marL="0" indent="0">
              <a:buNone/>
            </a:pPr>
            <a:r>
              <a:rPr lang="en-US" sz="1300" b="1" dirty="0">
                <a:solidFill>
                  <a:srgbClr val="FFFFFF"/>
                </a:solidFill>
              </a:rPr>
              <a:t>GitHub (the website)</a:t>
            </a:r>
            <a:endParaRPr lang="en-US" sz="1300" dirty="0"/>
          </a:p>
        </p:txBody>
      </p:sp>
      <p:sp>
        <p:nvSpPr>
          <p:cNvPr id="9" name="Text 7"/>
          <p:cNvSpPr txBox="1"/>
          <p:nvPr/>
        </p:nvSpPr>
        <p:spPr>
          <a:xfrm>
            <a:off x="6382512" y="1426464"/>
            <a:ext cx="5111496" cy="4663440"/>
          </a:xfrm>
          <a:prstGeom prst="rect">
            <a:avLst/>
          </a:prstGeom>
          <a:noFill/>
          <a:ln/>
        </p:spPr>
        <p:txBody>
          <a:bodyPr wrap="square" lIns="0" tIns="0" rIns="0" bIns="0" rtlCol="0" anchor="t"/>
          <a:lstStyle/>
          <a:p>
            <a:pPr marL="0" indent="0">
              <a:buNone/>
            </a:pPr>
            <a:r>
              <a:rPr lang="en-US" sz="1400" dirty="0">
                <a:solidFill>
                  <a:srgbClr val="CCFBF1"/>
                </a:solidFill>
              </a:rPr>
              <a:t>Hosts Git repos on the internet.</a:t>
            </a:r>
            <a:endParaRPr lang="en-US" sz="1400" dirty="0"/>
          </a:p>
          <a:p>
            <a:pPr marL="0" indent="0">
              <a:buNone/>
            </a:pPr>
            <a:r>
              <a:rPr lang="en-US" sz="1400" dirty="0">
                <a:solidFill>
                  <a:srgbClr val="CCFBF1"/>
                </a:solidFill>
              </a:rPr>
              <a:t>Adds pull requests, issues, permissions.</a:t>
            </a:r>
            <a:endParaRPr lang="en-US" sz="1400" dirty="0"/>
          </a:p>
          <a:p>
            <a:pPr marL="0" indent="0">
              <a:buNone/>
            </a:pPr>
            <a:r>
              <a:rPr lang="en-US" sz="1400" dirty="0">
                <a:solidFill>
                  <a:srgbClr val="CCFBF1"/>
                </a:solidFill>
              </a:rPr>
              <a:t>Protects main so random pushes fail.</a:t>
            </a:r>
            <a:endParaRPr lang="en-US" sz="1400" dirty="0"/>
          </a:p>
          <a:p>
            <a:pPr marL="0" indent="0">
              <a:buNone/>
            </a:pPr>
            <a:r>
              <a:rPr lang="en-US" sz="1400" dirty="0">
                <a:solidFill>
                  <a:srgbClr val="CCFBF1"/>
                </a:solidFill>
              </a:rPr>
              <a:t>GitLab and Azure Repos are similar products.</a:t>
            </a:r>
            <a:endParaRPr lang="en-US" sz="1400" dirty="0"/>
          </a:p>
          <a:p>
            <a:pPr marL="0" indent="0">
              <a:buNone/>
            </a:pPr>
            <a:endParaRPr lang="en-US" sz="1400" dirty="0"/>
          </a:p>
          <a:p>
            <a:pPr marL="0" indent="0">
              <a:buNone/>
            </a:pPr>
            <a:r>
              <a:rPr lang="en-US" sz="1400" dirty="0">
                <a:solidFill>
                  <a:srgbClr val="CCFBF1"/>
                </a:solidFill>
              </a:rPr>
              <a:t>Interview: “GitHub hosts the shared Git repo and the review process.”</a:t>
            </a:r>
            <a:endParaRPr lang="en-US" sz="14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Same idea, different product names</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Workplace map</a:t>
            </a:r>
            <a:endParaRPr lang="en-US" sz="1100" dirty="0"/>
          </a:p>
        </p:txBody>
      </p:sp>
      <p:sp>
        <p:nvSpPr>
          <p:cNvPr id="4" name="Text 2"/>
          <p:cNvSpPr txBox="1"/>
          <p:nvPr/>
        </p:nvSpPr>
        <p:spPr>
          <a:xfrm>
            <a:off x="502920" y="987552"/>
            <a:ext cx="11155680" cy="1280160"/>
          </a:xfrm>
          <a:prstGeom prst="rect">
            <a:avLst/>
          </a:prstGeom>
          <a:noFill/>
          <a:ln/>
        </p:spPr>
        <p:txBody>
          <a:bodyPr wrap="square" lIns="0" tIns="0" rIns="0" bIns="0" rtlCol="0" anchor="t"/>
          <a:lstStyle/>
          <a:p>
            <a:pPr marL="0" indent="0">
              <a:buNone/>
            </a:pPr>
            <a:r>
              <a:rPr lang="en-US" sz="1600" dirty="0">
                <a:solidFill>
                  <a:srgbClr val="334155"/>
                </a:solidFill>
              </a:rPr>
              <a:t>Jobs may say GitHub, GitLab, Bitbucket, or Azure Repos. The Git commands stay the same. What changes is the website: where you click “New pull request”, and how you log in.</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2377440"/>
          <a:ext cx="11173968" cy="1524000"/>
        </p:xfrm>
        <a:graphic>
          <a:graphicData uri="http://schemas.openxmlformats.org/drawingml/2006/table">
            <a:tbl>
              <a:tblPr/>
              <a:tblGrid>
                <a:gridCol w="21945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407408">
                  <a:extLst>
                    <a:ext uri="{9D8B030D-6E8A-4147-A177-3AD203B41FA5}">
                      <a16:colId xmlns:a16="http://schemas.microsoft.com/office/drawing/2014/main" val="20002"/>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Host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You will hear</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Git commands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GitHub</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Pull request, Actions (later lecture)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clone, push, pull — same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GitLab</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Merge request (their name for a PR)</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same Git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Azure Repos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Common in Microsoft shops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same Git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Bitbucket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Still Git under the hood</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same Git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Diagram: where your code lives</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Four places</a:t>
            </a:r>
            <a:endParaRPr lang="en-US" sz="1100" dirty="0"/>
          </a:p>
        </p:txBody>
      </p:sp>
      <p:sp>
        <p:nvSpPr>
          <p:cNvPr id="4" name="Shape 2"/>
          <p:cNvSpPr/>
          <p:nvPr/>
        </p:nvSpPr>
        <p:spPr>
          <a:xfrm>
            <a:off x="457200" y="1234440"/>
            <a:ext cx="2468880" cy="2194560"/>
          </a:xfrm>
          <a:prstGeom prst="roundRect">
            <a:avLst>
              <a:gd name="adj" fmla="val 3333"/>
            </a:avLst>
          </a:prstGeom>
          <a:solidFill>
            <a:srgbClr val="F1F5F9"/>
          </a:solidFill>
          <a:ln/>
        </p:spPr>
        <p:txBody>
          <a:bodyPr/>
          <a:lstStyle/>
          <a:p>
            <a:endParaRPr lang="en-IN"/>
          </a:p>
        </p:txBody>
      </p:sp>
      <p:sp>
        <p:nvSpPr>
          <p:cNvPr id="5" name="Text 3"/>
          <p:cNvSpPr txBox="1"/>
          <p:nvPr/>
        </p:nvSpPr>
        <p:spPr>
          <a:xfrm>
            <a:off x="530352" y="1344168"/>
            <a:ext cx="2322576" cy="365760"/>
          </a:xfrm>
          <a:prstGeom prst="rect">
            <a:avLst/>
          </a:prstGeom>
          <a:noFill/>
          <a:ln/>
        </p:spPr>
        <p:txBody>
          <a:bodyPr wrap="square" lIns="0" tIns="0" rIns="0" bIns="0" rtlCol="0" anchor="ctr"/>
          <a:lstStyle/>
          <a:p>
            <a:pPr marL="0" indent="0" algn="ctr">
              <a:buNone/>
            </a:pPr>
            <a:r>
              <a:rPr lang="en-US" sz="1400" b="1" dirty="0">
                <a:solidFill>
                  <a:srgbClr val="0F172A"/>
                </a:solidFill>
              </a:rPr>
              <a:t>1. Working files</a:t>
            </a:r>
            <a:endParaRPr lang="en-US" sz="1400" dirty="0"/>
          </a:p>
        </p:txBody>
      </p:sp>
      <p:sp>
        <p:nvSpPr>
          <p:cNvPr id="6" name="Text 4"/>
          <p:cNvSpPr txBox="1"/>
          <p:nvPr/>
        </p:nvSpPr>
        <p:spPr>
          <a:xfrm>
            <a:off x="530352" y="1709928"/>
            <a:ext cx="2322576" cy="1627632"/>
          </a:xfrm>
          <a:prstGeom prst="rect">
            <a:avLst/>
          </a:prstGeom>
          <a:noFill/>
          <a:ln/>
        </p:spPr>
        <p:txBody>
          <a:bodyPr wrap="square" lIns="0" tIns="0" rIns="0" bIns="0" rtlCol="0" anchor="ctr"/>
          <a:lstStyle/>
          <a:p>
            <a:pPr marL="0" indent="0" algn="ctr">
              <a:buNone/>
            </a:pPr>
            <a:r>
              <a:rPr lang="en-US" sz="1200" dirty="0">
                <a:solidFill>
                  <a:srgbClr val="334155"/>
                </a:solidFill>
              </a:rPr>
              <a:t>You edit notes.txt here. This is not saved in history until you commit.</a:t>
            </a:r>
            <a:endParaRPr lang="en-US" sz="1200" dirty="0"/>
          </a:p>
        </p:txBody>
      </p:sp>
      <p:sp>
        <p:nvSpPr>
          <p:cNvPr id="7" name="Text 5"/>
          <p:cNvSpPr txBox="1"/>
          <p:nvPr/>
        </p:nvSpPr>
        <p:spPr>
          <a:xfrm>
            <a:off x="2926080" y="2011680"/>
            <a:ext cx="365760" cy="365760"/>
          </a:xfrm>
          <a:prstGeom prst="rect">
            <a:avLst/>
          </a:prstGeom>
          <a:noFill/>
          <a:ln/>
        </p:spPr>
        <p:txBody>
          <a:bodyPr wrap="square" lIns="0" tIns="0" rIns="0" bIns="0" rtlCol="0" anchor="ctr"/>
          <a:lstStyle/>
          <a:p>
            <a:pPr marL="0" indent="0" algn="ctr">
              <a:buNone/>
            </a:pPr>
            <a:r>
              <a:rPr lang="en-US" sz="2200" b="1" dirty="0">
                <a:solidFill>
                  <a:srgbClr val="0F766E"/>
                </a:solidFill>
              </a:rPr>
              <a:t>→</a:t>
            </a:r>
            <a:endParaRPr lang="en-US" sz="2200" dirty="0"/>
          </a:p>
        </p:txBody>
      </p:sp>
      <p:sp>
        <p:nvSpPr>
          <p:cNvPr id="8" name="Shape 6"/>
          <p:cNvSpPr/>
          <p:nvPr/>
        </p:nvSpPr>
        <p:spPr>
          <a:xfrm>
            <a:off x="3246120" y="1234440"/>
            <a:ext cx="2468880" cy="2194560"/>
          </a:xfrm>
          <a:prstGeom prst="roundRect">
            <a:avLst>
              <a:gd name="adj" fmla="val 3333"/>
            </a:avLst>
          </a:prstGeom>
          <a:solidFill>
            <a:srgbClr val="ECFDF5"/>
          </a:solidFill>
          <a:ln/>
        </p:spPr>
        <p:txBody>
          <a:bodyPr/>
          <a:lstStyle/>
          <a:p>
            <a:endParaRPr lang="en-IN"/>
          </a:p>
        </p:txBody>
      </p:sp>
      <p:sp>
        <p:nvSpPr>
          <p:cNvPr id="9" name="Text 7"/>
          <p:cNvSpPr txBox="1"/>
          <p:nvPr/>
        </p:nvSpPr>
        <p:spPr>
          <a:xfrm>
            <a:off x="3319272" y="1344168"/>
            <a:ext cx="2322576" cy="365760"/>
          </a:xfrm>
          <a:prstGeom prst="rect">
            <a:avLst/>
          </a:prstGeom>
          <a:noFill/>
          <a:ln/>
        </p:spPr>
        <p:txBody>
          <a:bodyPr wrap="square" lIns="0" tIns="0" rIns="0" bIns="0" rtlCol="0" anchor="ctr"/>
          <a:lstStyle/>
          <a:p>
            <a:pPr marL="0" indent="0" algn="ctr">
              <a:buNone/>
            </a:pPr>
            <a:r>
              <a:rPr lang="en-US" sz="1400" b="1" dirty="0">
                <a:solidFill>
                  <a:srgbClr val="0F766E"/>
                </a:solidFill>
              </a:rPr>
              <a:t>2. Staging</a:t>
            </a:r>
            <a:endParaRPr lang="en-US" sz="1400" dirty="0"/>
          </a:p>
        </p:txBody>
      </p:sp>
      <p:sp>
        <p:nvSpPr>
          <p:cNvPr id="10" name="Text 8"/>
          <p:cNvSpPr txBox="1"/>
          <p:nvPr/>
        </p:nvSpPr>
        <p:spPr>
          <a:xfrm>
            <a:off x="3319272" y="1709928"/>
            <a:ext cx="2322576" cy="1627632"/>
          </a:xfrm>
          <a:prstGeom prst="rect">
            <a:avLst/>
          </a:prstGeom>
          <a:noFill/>
          <a:ln/>
        </p:spPr>
        <p:txBody>
          <a:bodyPr wrap="square" lIns="0" tIns="0" rIns="0" bIns="0" rtlCol="0" anchor="ctr"/>
          <a:lstStyle/>
          <a:p>
            <a:pPr marL="0" indent="0" algn="ctr">
              <a:buNone/>
            </a:pPr>
            <a:r>
              <a:rPr lang="en-US" sz="1200" dirty="0">
                <a:solidFill>
                  <a:srgbClr val="334155"/>
                </a:solidFill>
              </a:rPr>
              <a:t>git add chooses what goes in the next snapshot.</a:t>
            </a:r>
            <a:endParaRPr lang="en-US" sz="1200" dirty="0"/>
          </a:p>
        </p:txBody>
      </p:sp>
      <p:sp>
        <p:nvSpPr>
          <p:cNvPr id="11" name="Text 9"/>
          <p:cNvSpPr txBox="1"/>
          <p:nvPr/>
        </p:nvSpPr>
        <p:spPr>
          <a:xfrm>
            <a:off x="5715000" y="2011680"/>
            <a:ext cx="365760" cy="365760"/>
          </a:xfrm>
          <a:prstGeom prst="rect">
            <a:avLst/>
          </a:prstGeom>
          <a:noFill/>
          <a:ln/>
        </p:spPr>
        <p:txBody>
          <a:bodyPr wrap="square" lIns="0" tIns="0" rIns="0" bIns="0" rtlCol="0" anchor="ctr"/>
          <a:lstStyle/>
          <a:p>
            <a:pPr marL="0" indent="0" algn="ctr">
              <a:buNone/>
            </a:pPr>
            <a:r>
              <a:rPr lang="en-US" sz="2200" b="1" dirty="0">
                <a:solidFill>
                  <a:srgbClr val="0F766E"/>
                </a:solidFill>
              </a:rPr>
              <a:t>→</a:t>
            </a:r>
            <a:endParaRPr lang="en-US" sz="2200" dirty="0"/>
          </a:p>
        </p:txBody>
      </p:sp>
      <p:sp>
        <p:nvSpPr>
          <p:cNvPr id="12" name="Shape 10"/>
          <p:cNvSpPr/>
          <p:nvPr/>
        </p:nvSpPr>
        <p:spPr>
          <a:xfrm>
            <a:off x="6035040" y="1234440"/>
            <a:ext cx="2468880" cy="2194560"/>
          </a:xfrm>
          <a:prstGeom prst="roundRect">
            <a:avLst>
              <a:gd name="adj" fmla="val 3333"/>
            </a:avLst>
          </a:prstGeom>
          <a:solidFill>
            <a:srgbClr val="CCFBF1"/>
          </a:solidFill>
          <a:ln/>
        </p:spPr>
        <p:txBody>
          <a:bodyPr/>
          <a:lstStyle/>
          <a:p>
            <a:endParaRPr lang="en-IN"/>
          </a:p>
        </p:txBody>
      </p:sp>
      <p:sp>
        <p:nvSpPr>
          <p:cNvPr id="13" name="Text 11"/>
          <p:cNvSpPr txBox="1"/>
          <p:nvPr/>
        </p:nvSpPr>
        <p:spPr>
          <a:xfrm>
            <a:off x="6108192" y="1344168"/>
            <a:ext cx="2322576" cy="365760"/>
          </a:xfrm>
          <a:prstGeom prst="rect">
            <a:avLst/>
          </a:prstGeom>
          <a:noFill/>
          <a:ln/>
        </p:spPr>
        <p:txBody>
          <a:bodyPr wrap="square" lIns="0" tIns="0" rIns="0" bIns="0" rtlCol="0" anchor="ctr"/>
          <a:lstStyle/>
          <a:p>
            <a:pPr marL="0" indent="0" algn="ctr">
              <a:buNone/>
            </a:pPr>
            <a:r>
              <a:rPr lang="en-US" sz="1400" b="1" dirty="0">
                <a:solidFill>
                  <a:srgbClr val="0F766E"/>
                </a:solidFill>
              </a:rPr>
              <a:t>3. Local Git</a:t>
            </a:r>
            <a:endParaRPr lang="en-US" sz="1400" dirty="0"/>
          </a:p>
        </p:txBody>
      </p:sp>
      <p:sp>
        <p:nvSpPr>
          <p:cNvPr id="14" name="Text 12"/>
          <p:cNvSpPr txBox="1"/>
          <p:nvPr/>
        </p:nvSpPr>
        <p:spPr>
          <a:xfrm>
            <a:off x="6108192" y="1709928"/>
            <a:ext cx="2322576" cy="1627632"/>
          </a:xfrm>
          <a:prstGeom prst="rect">
            <a:avLst/>
          </a:prstGeom>
          <a:noFill/>
          <a:ln/>
        </p:spPr>
        <p:txBody>
          <a:bodyPr wrap="square" lIns="0" tIns="0" rIns="0" bIns="0" rtlCol="0" anchor="ctr"/>
          <a:lstStyle/>
          <a:p>
            <a:pPr marL="0" indent="0" algn="ctr">
              <a:buNone/>
            </a:pPr>
            <a:r>
              <a:rPr lang="en-US" sz="1200" dirty="0">
                <a:solidFill>
                  <a:srgbClr val="334155"/>
                </a:solidFill>
              </a:rPr>
              <a:t>git commit writes a snapshot into .git on your laptop.</a:t>
            </a:r>
            <a:endParaRPr lang="en-US" sz="1200" dirty="0"/>
          </a:p>
        </p:txBody>
      </p:sp>
      <p:sp>
        <p:nvSpPr>
          <p:cNvPr id="15" name="Text 13"/>
          <p:cNvSpPr txBox="1"/>
          <p:nvPr/>
        </p:nvSpPr>
        <p:spPr>
          <a:xfrm>
            <a:off x="8503920" y="2011680"/>
            <a:ext cx="365760" cy="365760"/>
          </a:xfrm>
          <a:prstGeom prst="rect">
            <a:avLst/>
          </a:prstGeom>
          <a:noFill/>
          <a:ln/>
        </p:spPr>
        <p:txBody>
          <a:bodyPr wrap="square" lIns="0" tIns="0" rIns="0" bIns="0" rtlCol="0" anchor="ctr"/>
          <a:lstStyle/>
          <a:p>
            <a:pPr marL="0" indent="0" algn="ctr">
              <a:buNone/>
            </a:pPr>
            <a:r>
              <a:rPr lang="en-US" sz="2200" b="1" dirty="0">
                <a:solidFill>
                  <a:srgbClr val="0F766E"/>
                </a:solidFill>
              </a:rPr>
              <a:t>→</a:t>
            </a:r>
            <a:endParaRPr lang="en-US" sz="2200" dirty="0"/>
          </a:p>
        </p:txBody>
      </p:sp>
      <p:sp>
        <p:nvSpPr>
          <p:cNvPr id="16" name="Shape 14"/>
          <p:cNvSpPr/>
          <p:nvPr/>
        </p:nvSpPr>
        <p:spPr>
          <a:xfrm>
            <a:off x="8823960" y="1234440"/>
            <a:ext cx="2834640" cy="2194560"/>
          </a:xfrm>
          <a:prstGeom prst="roundRect">
            <a:avLst>
              <a:gd name="adj" fmla="val 3333"/>
            </a:avLst>
          </a:prstGeom>
          <a:solidFill>
            <a:srgbClr val="0F766E"/>
          </a:solidFill>
          <a:ln/>
        </p:spPr>
        <p:txBody>
          <a:bodyPr/>
          <a:lstStyle/>
          <a:p>
            <a:endParaRPr lang="en-IN"/>
          </a:p>
        </p:txBody>
      </p:sp>
      <p:sp>
        <p:nvSpPr>
          <p:cNvPr id="17" name="Text 15"/>
          <p:cNvSpPr txBox="1"/>
          <p:nvPr/>
        </p:nvSpPr>
        <p:spPr>
          <a:xfrm>
            <a:off x="8897112" y="1344168"/>
            <a:ext cx="2688336" cy="365760"/>
          </a:xfrm>
          <a:prstGeom prst="rect">
            <a:avLst/>
          </a:prstGeom>
          <a:noFill/>
          <a:ln/>
        </p:spPr>
        <p:txBody>
          <a:bodyPr wrap="square" lIns="0" tIns="0" rIns="0" bIns="0" rtlCol="0" anchor="ctr"/>
          <a:lstStyle/>
          <a:p>
            <a:pPr marL="0" indent="0" algn="ctr">
              <a:buNone/>
            </a:pPr>
            <a:r>
              <a:rPr lang="en-US" sz="1400" b="1" dirty="0">
                <a:solidFill>
                  <a:srgbClr val="FFFFFF"/>
                </a:solidFill>
              </a:rPr>
              <a:t>4. GitHub (origin)</a:t>
            </a:r>
            <a:endParaRPr lang="en-US" sz="1400" dirty="0"/>
          </a:p>
        </p:txBody>
      </p:sp>
      <p:sp>
        <p:nvSpPr>
          <p:cNvPr id="18" name="Text 16"/>
          <p:cNvSpPr txBox="1"/>
          <p:nvPr/>
        </p:nvSpPr>
        <p:spPr>
          <a:xfrm>
            <a:off x="8897112" y="1709928"/>
            <a:ext cx="2688336" cy="1627632"/>
          </a:xfrm>
          <a:prstGeom prst="rect">
            <a:avLst/>
          </a:prstGeom>
          <a:noFill/>
          <a:ln/>
        </p:spPr>
        <p:txBody>
          <a:bodyPr wrap="square" lIns="0" tIns="0" rIns="0" bIns="0" rtlCol="0" anchor="ctr"/>
          <a:lstStyle/>
          <a:p>
            <a:pPr marL="0" indent="0" algn="ctr">
              <a:buNone/>
            </a:pPr>
            <a:r>
              <a:rPr lang="en-US" sz="1200" dirty="0">
                <a:solidFill>
                  <a:srgbClr val="CCFBF1"/>
                </a:solidFill>
              </a:rPr>
              <a:t>git push uploads commits. Teammates git pull.</a:t>
            </a:r>
            <a:endParaRPr lang="en-US" sz="1200" dirty="0"/>
          </a:p>
        </p:txBody>
      </p:sp>
      <p:sp>
        <p:nvSpPr>
          <p:cNvPr id="19" name="Shape 17"/>
          <p:cNvSpPr/>
          <p:nvPr/>
        </p:nvSpPr>
        <p:spPr>
          <a:xfrm>
            <a:off x="502920" y="3703320"/>
            <a:ext cx="11155680" cy="2514600"/>
          </a:xfrm>
          <a:prstGeom prst="roundRect">
            <a:avLst>
              <a:gd name="adj" fmla="val 2909"/>
            </a:avLst>
          </a:prstGeom>
          <a:solidFill>
            <a:srgbClr val="F1F5F9"/>
          </a:solidFill>
          <a:ln/>
        </p:spPr>
        <p:txBody>
          <a:bodyPr/>
          <a:lstStyle/>
          <a:p>
            <a:endParaRPr lang="en-IN"/>
          </a:p>
        </p:txBody>
      </p:sp>
      <p:sp>
        <p:nvSpPr>
          <p:cNvPr id="20" name="Text 18"/>
          <p:cNvSpPr txBox="1"/>
          <p:nvPr/>
        </p:nvSpPr>
        <p:spPr>
          <a:xfrm>
            <a:off x="667512" y="3813048"/>
            <a:ext cx="10826496" cy="292608"/>
          </a:xfrm>
          <a:prstGeom prst="rect">
            <a:avLst/>
          </a:prstGeom>
          <a:noFill/>
          <a:ln/>
        </p:spPr>
        <p:txBody>
          <a:bodyPr wrap="square" lIns="0" tIns="0" rIns="0" bIns="0" rtlCol="0" anchor="ctr"/>
          <a:lstStyle/>
          <a:p>
            <a:pPr marL="0" indent="0">
              <a:buNone/>
            </a:pPr>
            <a:r>
              <a:rPr lang="en-US" sz="1300" b="1" dirty="0">
                <a:solidFill>
                  <a:srgbClr val="0F766E"/>
                </a:solidFill>
              </a:rPr>
              <a:t>Read this left to right, every time you save work</a:t>
            </a:r>
            <a:endParaRPr lang="en-US" sz="1300" dirty="0"/>
          </a:p>
        </p:txBody>
      </p:sp>
      <p:sp>
        <p:nvSpPr>
          <p:cNvPr id="21" name="Text 19"/>
          <p:cNvSpPr txBox="1"/>
          <p:nvPr/>
        </p:nvSpPr>
        <p:spPr>
          <a:xfrm>
            <a:off x="667512" y="4123944"/>
            <a:ext cx="10826496" cy="1965960"/>
          </a:xfrm>
          <a:prstGeom prst="rect">
            <a:avLst/>
          </a:prstGeom>
          <a:noFill/>
          <a:ln/>
        </p:spPr>
        <p:txBody>
          <a:bodyPr wrap="square" lIns="0" tIns="0" rIns="0" bIns="0" rtlCol="0" anchor="t"/>
          <a:lstStyle/>
          <a:p>
            <a:pPr marL="0" indent="0">
              <a:buNone/>
            </a:pPr>
            <a:r>
              <a:rPr lang="en-US" sz="1400" dirty="0">
                <a:solidFill>
                  <a:srgbClr val="334155"/>
                </a:solidFill>
              </a:rPr>
              <a:t>Edit → git status → git add (only the files you mean) → git commit -m "message" → git push.</a:t>
            </a:r>
            <a:endParaRPr lang="en-US" sz="1400" dirty="0"/>
          </a:p>
          <a:p>
            <a:pPr marL="0" indent="0">
              <a:buNone/>
            </a:pPr>
            <a:endParaRPr lang="en-US" sz="1400" dirty="0"/>
          </a:p>
          <a:p>
            <a:pPr marL="0" indent="0">
              <a:buNone/>
            </a:pPr>
            <a:r>
              <a:rPr lang="en-US" sz="1400" dirty="0">
                <a:solidFill>
                  <a:srgbClr val="334155"/>
                </a:solidFill>
              </a:rPr>
              <a:t>If you skip add, the commit does not include your new edits. If you skip commit, push has nothing new to send.</a:t>
            </a:r>
            <a:endParaRPr lang="en-US" sz="14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286000"/>
            <a:ext cx="10972800" cy="1097280"/>
          </a:xfrm>
          <a:prstGeom prst="rect">
            <a:avLst/>
          </a:prstGeom>
          <a:noFill/>
          <a:ln/>
        </p:spPr>
        <p:txBody>
          <a:bodyPr wrap="square" lIns="0" tIns="0" rIns="0" bIns="0" rtlCol="0"/>
          <a:lstStyle/>
          <a:p>
            <a:pPr marL="0" indent="0">
              <a:buNone/>
            </a:pPr>
            <a:r>
              <a:rPr lang="en-US" sz="3200" b="1" dirty="0">
                <a:solidFill>
                  <a:schemeClr val="bg1"/>
                </a:solidFill>
              </a:rPr>
              <a:t>Daily Git commands</a:t>
            </a:r>
            <a:endParaRPr lang="en-US" sz="3200" dirty="0"/>
          </a:p>
        </p:txBody>
      </p:sp>
      <p:sp>
        <p:nvSpPr>
          <p:cNvPr id="3" name="Text 0"/>
          <p:cNvSpPr>
            <a:spLocks noGrp="1"/>
          </p:cNvSpPr>
          <p:nvPr>
            <p:ph type="body" idx="101" hasCustomPrompt="1"/>
          </p:nvPr>
        </p:nvSpPr>
        <p:spPr>
          <a:xfrm>
            <a:off x="640080" y="3474720"/>
            <a:ext cx="10515600" cy="1371600"/>
          </a:xfrm>
          <a:prstGeom prst="rect">
            <a:avLst/>
          </a:prstGeom>
          <a:noFill/>
          <a:ln/>
        </p:spPr>
        <p:txBody>
          <a:bodyPr wrap="square" lIns="0" tIns="0" rIns="0" bIns="0" rtlCol="0"/>
          <a:lstStyle/>
          <a:p>
            <a:pPr marL="0" indent="0">
              <a:buNone/>
            </a:pPr>
            <a:r>
              <a:rPr lang="en-US" sz="1800" dirty="0">
                <a:solidFill>
                  <a:srgbClr val="94A3B8"/>
                </a:solidFill>
              </a:rPr>
              <a:t>status, add, commit, log, diff, restore, ignore</a:t>
            </a:r>
            <a:endParaRPr lang="en-US" sz="18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Start a repo: init or clone</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First command</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005840"/>
          <a:ext cx="11173968" cy="1432560"/>
        </p:xfrm>
        <a:graphic>
          <a:graphicData uri="http://schemas.openxmlformats.org/drawingml/2006/table">
            <a:tbl>
              <a:tblPr/>
              <a:tblGrid>
                <a:gridCol w="42062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950208">
                  <a:extLst>
                    <a:ext uri="{9D8B030D-6E8A-4147-A177-3AD203B41FA5}">
                      <a16:colId xmlns:a16="http://schemas.microsoft.com/office/drawing/2014/main" val="20002"/>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Command</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When</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What happens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git init -b main</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Empty folder you own</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Creates .git. First branch is named main.</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git clone https://github.com/org/repo.git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The repo already exists on GitHub</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Downloads files + full history. Sets origin for you.</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cd repo</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After clone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You must be inside the folder for Git commands to see .git.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bl>
          </a:graphicData>
        </a:graphic>
      </p:graphicFrame>
      <p:sp>
        <p:nvSpPr>
          <p:cNvPr id="5" name="Shape 2"/>
          <p:cNvSpPr/>
          <p:nvPr/>
        </p:nvSpPr>
        <p:spPr>
          <a:xfrm>
            <a:off x="502920" y="3977640"/>
            <a:ext cx="11155680" cy="2240280"/>
          </a:xfrm>
          <a:prstGeom prst="roundRect">
            <a:avLst>
              <a:gd name="adj" fmla="val 3265"/>
            </a:avLst>
          </a:prstGeom>
          <a:solidFill>
            <a:srgbClr val="ECFDF5"/>
          </a:solidFill>
          <a:ln/>
        </p:spPr>
        <p:txBody>
          <a:bodyPr/>
          <a:lstStyle/>
          <a:p>
            <a:endParaRPr lang="en-IN"/>
          </a:p>
        </p:txBody>
      </p:sp>
      <p:sp>
        <p:nvSpPr>
          <p:cNvPr id="6" name="Text 3"/>
          <p:cNvSpPr txBox="1"/>
          <p:nvPr/>
        </p:nvSpPr>
        <p:spPr>
          <a:xfrm>
            <a:off x="667512" y="4087368"/>
            <a:ext cx="10826496" cy="292608"/>
          </a:xfrm>
          <a:prstGeom prst="rect">
            <a:avLst/>
          </a:prstGeom>
          <a:noFill/>
          <a:ln/>
        </p:spPr>
        <p:txBody>
          <a:bodyPr wrap="square" lIns="0" tIns="0" rIns="0" bIns="0" rtlCol="0" anchor="ctr"/>
          <a:lstStyle/>
          <a:p>
            <a:pPr marL="0" indent="0">
              <a:buNone/>
            </a:pPr>
            <a:r>
              <a:rPr lang="en-US" sz="1300" b="1" dirty="0">
                <a:solidFill>
                  <a:srgbClr val="0F766E"/>
                </a:solidFill>
              </a:rPr>
              <a:t>Beginner rule</a:t>
            </a:r>
            <a:endParaRPr lang="en-US" sz="1300" dirty="0"/>
          </a:p>
        </p:txBody>
      </p:sp>
      <p:sp>
        <p:nvSpPr>
          <p:cNvPr id="7" name="Text 4"/>
          <p:cNvSpPr txBox="1"/>
          <p:nvPr/>
        </p:nvSpPr>
        <p:spPr>
          <a:xfrm>
            <a:off x="667512" y="4398264"/>
            <a:ext cx="10826496" cy="1691640"/>
          </a:xfrm>
          <a:prstGeom prst="rect">
            <a:avLst/>
          </a:prstGeom>
          <a:noFill/>
          <a:ln/>
        </p:spPr>
        <p:txBody>
          <a:bodyPr wrap="square" lIns="0" tIns="0" rIns="0" bIns="0" rtlCol="0" anchor="t"/>
          <a:lstStyle/>
          <a:p>
            <a:pPr marL="0" indent="0">
              <a:buNone/>
            </a:pPr>
            <a:r>
              <a:rPr lang="en-US" sz="1400" dirty="0">
                <a:solidFill>
                  <a:srgbClr val="334155"/>
                </a:solidFill>
              </a:rPr>
              <a:t>If git status says “not a git repository”, you are in the wrong folder. Run pwd (Lecture 1) and cd into the project. Git looks for .git in this folder or a parent, not “somewhere on the disk”.</a:t>
            </a:r>
            <a:endParaRPr lang="en-US" sz="14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git status — always look before you add</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status</a:t>
            </a:r>
            <a:endParaRPr lang="en-US" sz="1100" dirty="0"/>
          </a:p>
        </p:txBody>
      </p:sp>
      <p:sp>
        <p:nvSpPr>
          <p:cNvPr id="4" name="Text 2"/>
          <p:cNvSpPr txBox="1"/>
          <p:nvPr/>
        </p:nvSpPr>
        <p:spPr>
          <a:xfrm>
            <a:off x="502920" y="987552"/>
            <a:ext cx="11155680" cy="1417320"/>
          </a:xfrm>
          <a:prstGeom prst="rect">
            <a:avLst/>
          </a:prstGeom>
          <a:noFill/>
          <a:ln/>
        </p:spPr>
        <p:txBody>
          <a:bodyPr wrap="square" lIns="0" tIns="0" rIns="0" bIns="0" rtlCol="0" anchor="t"/>
          <a:lstStyle/>
          <a:p>
            <a:pPr marL="0" indent="0">
              <a:buNone/>
            </a:pPr>
            <a:r>
              <a:rPr lang="en-US" sz="1600" dirty="0">
                <a:solidFill>
                  <a:srgbClr val="334155"/>
                </a:solidFill>
              </a:rPr>
              <a:t>git status is the most important command. It tells you which files are new, which are modified, and which are staged. Run it before git add and before git commit. In the lab you will see a file go from “untracked” to “staged” to “clean”.</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2514600"/>
          <a:ext cx="11173968" cy="1447800"/>
        </p:xfrm>
        <a:graphic>
          <a:graphicData uri="http://schemas.openxmlformats.org/drawingml/2006/table">
            <a:tbl>
              <a:tblPr/>
              <a:tblGrid>
                <a:gridCol w="25603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498848">
                  <a:extLst>
                    <a:ext uri="{9D8B030D-6E8A-4147-A177-3AD203B41FA5}">
                      <a16:colId xmlns:a16="http://schemas.microsoft.com/office/drawing/2014/main" val="20002"/>
                    </a:ext>
                  </a:extLst>
                </a:gridCol>
              </a:tblGrid>
              <a:tr h="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Status word</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What you do</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Untracked</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Git has never saved this file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git add it — or add it to .gitignore if it is junk/secret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Modified</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Git knows the file; you changed it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git diff to read the change, then add if you want it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Staged</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Chosen for the next commit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git commit, or git restore --staged file to unstage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Clean / nothing to commit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Working tree matches last commit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You can pull or start a new branch</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Staging: git add is a choice</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Why add exists</a:t>
            </a:r>
            <a:endParaRPr lang="en-US" sz="1100" dirty="0"/>
          </a:p>
        </p:txBody>
      </p:sp>
      <p:sp>
        <p:nvSpPr>
          <p:cNvPr id="4" name="Text 2"/>
          <p:cNvSpPr txBox="1"/>
          <p:nvPr/>
        </p:nvSpPr>
        <p:spPr>
          <a:xfrm>
            <a:off x="502920" y="987552"/>
            <a:ext cx="11155680" cy="1280160"/>
          </a:xfrm>
          <a:prstGeom prst="rect">
            <a:avLst/>
          </a:prstGeom>
          <a:noFill/>
          <a:ln/>
        </p:spPr>
        <p:txBody>
          <a:bodyPr wrap="square" lIns="0" tIns="0" rIns="0" bIns="0" rtlCol="0" anchor="t"/>
          <a:lstStyle/>
          <a:p>
            <a:pPr marL="0" indent="0">
              <a:buNone/>
            </a:pPr>
            <a:r>
              <a:rPr lang="en-US" sz="1600" dirty="0">
                <a:solidFill>
                  <a:srgbClr val="334155"/>
                </a:solidFill>
              </a:rPr>
              <a:t>You can edit five files and commit only two. That is the point of staging. git add notes.txt stages one file. git add . stages everything not ignored — including a secret if you were careless.</a:t>
            </a:r>
            <a:endParaRPr lang="en-US" sz="1600" dirty="0"/>
          </a:p>
        </p:txBody>
      </p:sp>
      <p:sp>
        <p:nvSpPr>
          <p:cNvPr id="5" name="Shape 3"/>
          <p:cNvSpPr/>
          <p:nvPr/>
        </p:nvSpPr>
        <p:spPr>
          <a:xfrm>
            <a:off x="502920" y="2377440"/>
            <a:ext cx="5532120" cy="3840480"/>
          </a:xfrm>
          <a:prstGeom prst="roundRect">
            <a:avLst>
              <a:gd name="adj" fmla="val 1905"/>
            </a:avLst>
          </a:prstGeom>
          <a:solidFill>
            <a:srgbClr val="ECFDF5"/>
          </a:solidFill>
          <a:ln/>
        </p:spPr>
        <p:txBody>
          <a:bodyPr/>
          <a:lstStyle/>
          <a:p>
            <a:endParaRPr lang="en-IN"/>
          </a:p>
        </p:txBody>
      </p:sp>
      <p:sp>
        <p:nvSpPr>
          <p:cNvPr id="6" name="Text 4"/>
          <p:cNvSpPr txBox="1"/>
          <p:nvPr/>
        </p:nvSpPr>
        <p:spPr>
          <a:xfrm>
            <a:off x="667512" y="2487168"/>
            <a:ext cx="5202936" cy="292608"/>
          </a:xfrm>
          <a:prstGeom prst="rect">
            <a:avLst/>
          </a:prstGeom>
          <a:noFill/>
          <a:ln/>
        </p:spPr>
        <p:txBody>
          <a:bodyPr wrap="square" lIns="0" tIns="0" rIns="0" bIns="0" rtlCol="0" anchor="ctr"/>
          <a:lstStyle/>
          <a:p>
            <a:pPr marL="0" indent="0">
              <a:buNone/>
            </a:pPr>
            <a:r>
              <a:rPr lang="en-US" sz="1300" b="1" dirty="0">
                <a:solidFill>
                  <a:srgbClr val="0F766E"/>
                </a:solidFill>
              </a:rPr>
              <a:t>Do this</a:t>
            </a:r>
            <a:endParaRPr lang="en-US" sz="1300" dirty="0"/>
          </a:p>
        </p:txBody>
      </p:sp>
      <p:sp>
        <p:nvSpPr>
          <p:cNvPr id="7" name="Text 5"/>
          <p:cNvSpPr txBox="1"/>
          <p:nvPr/>
        </p:nvSpPr>
        <p:spPr>
          <a:xfrm>
            <a:off x="667512" y="2798064"/>
            <a:ext cx="5202936" cy="3291840"/>
          </a:xfrm>
          <a:prstGeom prst="rect">
            <a:avLst/>
          </a:prstGeom>
          <a:noFill/>
          <a:ln/>
        </p:spPr>
        <p:txBody>
          <a:bodyPr wrap="square" lIns="0" tIns="0" rIns="0" bIns="0" rtlCol="0" anchor="t"/>
          <a:lstStyle/>
          <a:p>
            <a:pPr marL="0" indent="0">
              <a:buNone/>
            </a:pPr>
            <a:r>
              <a:rPr lang="en-US" sz="1400" dirty="0">
                <a:solidFill>
                  <a:srgbClr val="334155"/>
                </a:solidFill>
              </a:rPr>
              <a:t>git status</a:t>
            </a:r>
            <a:endParaRPr lang="en-US" sz="1400" dirty="0"/>
          </a:p>
          <a:p>
            <a:pPr marL="0" indent="0">
              <a:buNone/>
            </a:pPr>
            <a:r>
              <a:rPr lang="en-US" sz="1400" dirty="0">
                <a:solidFill>
                  <a:srgbClr val="334155"/>
                </a:solidFill>
              </a:rPr>
              <a:t>git add notes.txt</a:t>
            </a:r>
            <a:endParaRPr lang="en-US" sz="1400" dirty="0"/>
          </a:p>
          <a:p>
            <a:pPr marL="0" indent="0">
              <a:buNone/>
            </a:pPr>
            <a:r>
              <a:rPr lang="en-US" sz="1400" dirty="0">
                <a:solidFill>
                  <a:srgbClr val="334155"/>
                </a:solidFill>
              </a:rPr>
              <a:t>git status</a:t>
            </a:r>
            <a:endParaRPr lang="en-US" sz="1400" dirty="0"/>
          </a:p>
          <a:p>
            <a:pPr marL="0" indent="0">
              <a:buNone/>
            </a:pPr>
            <a:r>
              <a:rPr lang="en-US" sz="1400" dirty="0">
                <a:solidFill>
                  <a:srgbClr val="334155"/>
                </a:solidFill>
              </a:rPr>
              <a:t>git commit -m "Add my course note"</a:t>
            </a:r>
            <a:endParaRPr lang="en-US" sz="1400" dirty="0"/>
          </a:p>
          <a:p>
            <a:pPr marL="0" indent="0">
              <a:buNone/>
            </a:pPr>
            <a:endParaRPr lang="en-US" sz="1400" dirty="0"/>
          </a:p>
          <a:p>
            <a:pPr marL="0" indent="0">
              <a:buNone/>
            </a:pPr>
            <a:r>
              <a:rPr lang="en-US" sz="1400" dirty="0">
                <a:solidFill>
                  <a:srgbClr val="334155"/>
                </a:solidFill>
              </a:rPr>
              <a:t>You saw exactly what would be committed.</a:t>
            </a:r>
            <a:endParaRPr lang="en-US" sz="1400" dirty="0"/>
          </a:p>
        </p:txBody>
      </p:sp>
      <p:sp>
        <p:nvSpPr>
          <p:cNvPr id="8" name="Shape 6"/>
          <p:cNvSpPr/>
          <p:nvPr/>
        </p:nvSpPr>
        <p:spPr>
          <a:xfrm>
            <a:off x="6217920" y="2377440"/>
            <a:ext cx="5440680" cy="3840480"/>
          </a:xfrm>
          <a:prstGeom prst="roundRect">
            <a:avLst>
              <a:gd name="adj" fmla="val 1905"/>
            </a:avLst>
          </a:prstGeom>
          <a:solidFill>
            <a:srgbClr val="FEF3C7"/>
          </a:solidFill>
          <a:ln/>
        </p:spPr>
        <p:txBody>
          <a:bodyPr/>
          <a:lstStyle/>
          <a:p>
            <a:endParaRPr lang="en-IN"/>
          </a:p>
        </p:txBody>
      </p:sp>
      <p:sp>
        <p:nvSpPr>
          <p:cNvPr id="9" name="Text 7"/>
          <p:cNvSpPr txBox="1"/>
          <p:nvPr/>
        </p:nvSpPr>
        <p:spPr>
          <a:xfrm>
            <a:off x="6382512" y="2487168"/>
            <a:ext cx="5111496" cy="292608"/>
          </a:xfrm>
          <a:prstGeom prst="rect">
            <a:avLst/>
          </a:prstGeom>
          <a:noFill/>
          <a:ln/>
        </p:spPr>
        <p:txBody>
          <a:bodyPr wrap="square" lIns="0" tIns="0" rIns="0" bIns="0" rtlCol="0" anchor="ctr"/>
          <a:lstStyle/>
          <a:p>
            <a:pPr marL="0" indent="0">
              <a:buNone/>
            </a:pPr>
            <a:r>
              <a:rPr lang="en-US" sz="1300" b="1" dirty="0">
                <a:solidFill>
                  <a:srgbClr val="B45309"/>
                </a:solidFill>
              </a:rPr>
              <a:t>Be careful</a:t>
            </a:r>
            <a:endParaRPr lang="en-US" sz="1300" dirty="0"/>
          </a:p>
        </p:txBody>
      </p:sp>
      <p:sp>
        <p:nvSpPr>
          <p:cNvPr id="10" name="Text 8"/>
          <p:cNvSpPr txBox="1"/>
          <p:nvPr/>
        </p:nvSpPr>
        <p:spPr>
          <a:xfrm>
            <a:off x="6382512" y="2798064"/>
            <a:ext cx="5111496" cy="3291840"/>
          </a:xfrm>
          <a:prstGeom prst="rect">
            <a:avLst/>
          </a:prstGeom>
          <a:noFill/>
          <a:ln/>
        </p:spPr>
        <p:txBody>
          <a:bodyPr wrap="square" lIns="0" tIns="0" rIns="0" bIns="0" rtlCol="0" anchor="t"/>
          <a:lstStyle/>
          <a:p>
            <a:pPr marL="0" indent="0">
              <a:buNone/>
            </a:pPr>
            <a:r>
              <a:rPr lang="en-US" sz="1400" dirty="0">
                <a:solidFill>
                  <a:srgbClr val="334155"/>
                </a:solidFill>
              </a:rPr>
              <a:t>git add .</a:t>
            </a:r>
            <a:endParaRPr lang="en-US" sz="1400" dirty="0"/>
          </a:p>
          <a:p>
            <a:pPr marL="0" indent="0">
              <a:buNone/>
            </a:pPr>
            <a:endParaRPr lang="en-US" sz="1400" dirty="0"/>
          </a:p>
          <a:p>
            <a:pPr marL="0" indent="0">
              <a:buNone/>
            </a:pPr>
            <a:r>
              <a:rPr lang="en-US" sz="1400" dirty="0">
                <a:solidFill>
                  <a:srgbClr val="334155"/>
                </a:solidFill>
              </a:rPr>
              <a:t>Fast, and dangerous for beginners. It can stage .env, a key file, or a huge log.</a:t>
            </a:r>
            <a:endParaRPr lang="en-US" sz="1400" dirty="0"/>
          </a:p>
          <a:p>
            <a:pPr marL="0" indent="0">
              <a:buNone/>
            </a:pPr>
            <a:endParaRPr lang="en-US" sz="1400" dirty="0"/>
          </a:p>
          <a:p>
            <a:pPr marL="0" indent="0">
              <a:buNone/>
            </a:pPr>
            <a:r>
              <a:rPr lang="en-US" sz="1400" dirty="0">
                <a:solidFill>
                  <a:srgbClr val="334155"/>
                </a:solidFill>
              </a:rPr>
              <a:t>If status shows a file you do not understand, do not add it.</a:t>
            </a:r>
            <a:endParaRPr lang="en-US" sz="14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git commit — a snapshot with a message</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commit</a:t>
            </a:r>
            <a:endParaRPr lang="en-US" sz="1100" dirty="0"/>
          </a:p>
        </p:txBody>
      </p:sp>
      <p:sp>
        <p:nvSpPr>
          <p:cNvPr id="4" name="Text 2"/>
          <p:cNvSpPr txBox="1"/>
          <p:nvPr/>
        </p:nvSpPr>
        <p:spPr>
          <a:xfrm>
            <a:off x="502920" y="987552"/>
            <a:ext cx="11155680" cy="1325880"/>
          </a:xfrm>
          <a:prstGeom prst="rect">
            <a:avLst/>
          </a:prstGeom>
          <a:noFill/>
          <a:ln/>
        </p:spPr>
        <p:txBody>
          <a:bodyPr wrap="square" lIns="0" tIns="0" rIns="0" bIns="0" rtlCol="0" anchor="t"/>
          <a:lstStyle/>
          <a:p>
            <a:pPr marL="0" indent="0">
              <a:buNone/>
            </a:pPr>
            <a:r>
              <a:rPr lang="en-US" sz="1600" dirty="0">
                <a:solidFill>
                  <a:srgbClr val="334155"/>
                </a:solidFill>
              </a:rPr>
              <a:t>A commit is a snapshot of the staged files, plus: who you are, the time, a message, and a pointer to the previous commit. History is a chain. The message is for humans in six months, including you.</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2423160"/>
          <a:ext cx="11173968" cy="1219200"/>
        </p:xfrm>
        <a:graphic>
          <a:graphicData uri="http://schemas.openxmlformats.org/drawingml/2006/table">
            <a:tbl>
              <a:tblPr/>
              <a:tblGrid>
                <a:gridCol w="219456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4041648">
                  <a:extLst>
                    <a:ext uri="{9D8B030D-6E8A-4147-A177-3AD203B41FA5}">
                      <a16:colId xmlns:a16="http://schemas.microsoft.com/office/drawing/2014/main" val="20002"/>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Bad message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Good message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fix</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Fix typo in notes-api README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Says what and where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asdf</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Add .gitignore so .env is never committed</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Future you can search this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final</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Explain GitHub PR steps in README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There is no final in Git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bl>
          </a:graphicData>
        </a:graphic>
      </p:graphicFrame>
      <p:sp>
        <p:nvSpPr>
          <p:cNvPr id="6" name="Text 3"/>
          <p:cNvSpPr txBox="1"/>
          <p:nvPr/>
        </p:nvSpPr>
        <p:spPr>
          <a:xfrm>
            <a:off x="502920" y="5623560"/>
            <a:ext cx="11155680" cy="640080"/>
          </a:xfrm>
          <a:prstGeom prst="rect">
            <a:avLst/>
          </a:prstGeom>
          <a:noFill/>
          <a:ln/>
        </p:spPr>
        <p:txBody>
          <a:bodyPr wrap="square" lIns="0" tIns="0" rIns="0" bIns="0" rtlCol="0" anchor="ctr"/>
          <a:lstStyle/>
          <a:p>
            <a:pPr marL="0" indent="0">
              <a:buNone/>
            </a:pPr>
            <a:r>
              <a:rPr lang="en-US" sz="1500" dirty="0">
                <a:solidFill>
                  <a:srgbClr val="334155"/>
                </a:solidFill>
              </a:rPr>
              <a:t>Pattern: start with a verb — Add, Fix, Remove, Explain. One commit = one idea, not “all the files I touched today”.</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git log and git diff — see history and changes</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log and diff</a:t>
            </a:r>
            <a:endParaRPr lang="en-US" sz="1100" dirty="0"/>
          </a:p>
        </p:txBody>
      </p:sp>
      <p:sp>
        <p:nvSpPr>
          <p:cNvPr id="4" name="Shape 2"/>
          <p:cNvSpPr/>
          <p:nvPr/>
        </p:nvSpPr>
        <p:spPr>
          <a:xfrm>
            <a:off x="502920" y="1005840"/>
            <a:ext cx="5532120" cy="5212080"/>
          </a:xfrm>
          <a:prstGeom prst="roundRect">
            <a:avLst>
              <a:gd name="adj" fmla="val 1404"/>
            </a:avLst>
          </a:prstGeom>
          <a:solidFill>
            <a:srgbClr val="F1F5F9"/>
          </a:solidFill>
          <a:ln/>
        </p:spPr>
        <p:txBody>
          <a:bodyPr/>
          <a:lstStyle/>
          <a:p>
            <a:endParaRPr lang="en-IN"/>
          </a:p>
        </p:txBody>
      </p:sp>
      <p:sp>
        <p:nvSpPr>
          <p:cNvPr id="5" name="Text 3"/>
          <p:cNvSpPr txBox="1"/>
          <p:nvPr/>
        </p:nvSpPr>
        <p:spPr>
          <a:xfrm>
            <a:off x="667512" y="1115568"/>
            <a:ext cx="5202936" cy="292608"/>
          </a:xfrm>
          <a:prstGeom prst="rect">
            <a:avLst/>
          </a:prstGeom>
          <a:noFill/>
          <a:ln/>
        </p:spPr>
        <p:txBody>
          <a:bodyPr wrap="square" lIns="0" tIns="0" rIns="0" bIns="0" rtlCol="0" anchor="ctr"/>
          <a:lstStyle/>
          <a:p>
            <a:pPr marL="0" indent="0">
              <a:buNone/>
            </a:pPr>
            <a:r>
              <a:rPr lang="en-US" sz="1300" b="1" dirty="0">
                <a:solidFill>
                  <a:srgbClr val="0F172A"/>
                </a:solidFill>
              </a:rPr>
              <a:t>git log --oneline</a:t>
            </a:r>
            <a:endParaRPr lang="en-US" sz="1300" dirty="0"/>
          </a:p>
        </p:txBody>
      </p:sp>
      <p:sp>
        <p:nvSpPr>
          <p:cNvPr id="6" name="Text 4"/>
          <p:cNvSpPr txBox="1"/>
          <p:nvPr/>
        </p:nvSpPr>
        <p:spPr>
          <a:xfrm>
            <a:off x="667512" y="1426464"/>
            <a:ext cx="5202936" cy="4663440"/>
          </a:xfrm>
          <a:prstGeom prst="rect">
            <a:avLst/>
          </a:prstGeom>
          <a:noFill/>
          <a:ln/>
        </p:spPr>
        <p:txBody>
          <a:bodyPr wrap="square" lIns="0" tIns="0" rIns="0" bIns="0" rtlCol="0" anchor="t"/>
          <a:lstStyle/>
          <a:p>
            <a:pPr marL="0" indent="0">
              <a:buNone/>
            </a:pPr>
            <a:r>
              <a:rPr lang="en-US" sz="1400" dirty="0">
                <a:solidFill>
                  <a:srgbClr val="334155"/>
                </a:solidFill>
              </a:rPr>
              <a:t>Shows one line per commit: a short id and the message.</a:t>
            </a:r>
            <a:endParaRPr lang="en-US" sz="1400" dirty="0"/>
          </a:p>
          <a:p>
            <a:pPr marL="0" indent="0">
              <a:buNone/>
            </a:pPr>
            <a:endParaRPr lang="en-US" sz="1400" dirty="0"/>
          </a:p>
          <a:p>
            <a:pPr marL="0" indent="0">
              <a:buNone/>
            </a:pPr>
            <a:r>
              <a:rPr lang="en-US" sz="1400" dirty="0">
                <a:solidFill>
                  <a:srgbClr val="334155"/>
                </a:solidFill>
              </a:rPr>
              <a:t>Use it to answer: “what did we ship?” and “what was the last change?”</a:t>
            </a:r>
            <a:endParaRPr lang="en-US" sz="1400" dirty="0"/>
          </a:p>
          <a:p>
            <a:pPr marL="0" indent="0">
              <a:buNone/>
            </a:pPr>
            <a:endParaRPr lang="en-US" sz="1400" dirty="0"/>
          </a:p>
          <a:p>
            <a:pPr marL="0" indent="0">
              <a:buNone/>
            </a:pPr>
            <a:r>
              <a:rPr lang="en-US" sz="1400" dirty="0">
                <a:solidFill>
                  <a:srgbClr val="334155"/>
                </a:solidFill>
              </a:rPr>
              <a:t>git log (without --oneline) shows author and date too. Scroll with Enter; quit with q.</a:t>
            </a:r>
            <a:endParaRPr lang="en-US" sz="1400" dirty="0"/>
          </a:p>
        </p:txBody>
      </p:sp>
      <p:sp>
        <p:nvSpPr>
          <p:cNvPr id="7" name="Shape 5"/>
          <p:cNvSpPr/>
          <p:nvPr/>
        </p:nvSpPr>
        <p:spPr>
          <a:xfrm>
            <a:off x="6217920" y="1005840"/>
            <a:ext cx="5440680" cy="5212080"/>
          </a:xfrm>
          <a:prstGeom prst="roundRect">
            <a:avLst>
              <a:gd name="adj" fmla="val 1404"/>
            </a:avLst>
          </a:prstGeom>
          <a:solidFill>
            <a:srgbClr val="ECFDF5"/>
          </a:solidFill>
          <a:ln/>
        </p:spPr>
        <p:txBody>
          <a:bodyPr/>
          <a:lstStyle/>
          <a:p>
            <a:endParaRPr lang="en-IN"/>
          </a:p>
        </p:txBody>
      </p:sp>
      <p:sp>
        <p:nvSpPr>
          <p:cNvPr id="8" name="Text 6"/>
          <p:cNvSpPr txBox="1"/>
          <p:nvPr/>
        </p:nvSpPr>
        <p:spPr>
          <a:xfrm>
            <a:off x="6382512" y="1115568"/>
            <a:ext cx="5111496" cy="292608"/>
          </a:xfrm>
          <a:prstGeom prst="rect">
            <a:avLst/>
          </a:prstGeom>
          <a:noFill/>
          <a:ln/>
        </p:spPr>
        <p:txBody>
          <a:bodyPr wrap="square" lIns="0" tIns="0" rIns="0" bIns="0" rtlCol="0" anchor="ctr"/>
          <a:lstStyle/>
          <a:p>
            <a:pPr marL="0" indent="0">
              <a:buNone/>
            </a:pPr>
            <a:r>
              <a:rPr lang="en-US" sz="1300" b="1" dirty="0">
                <a:solidFill>
                  <a:srgbClr val="0F766E"/>
                </a:solidFill>
              </a:rPr>
              <a:t>git diff</a:t>
            </a:r>
            <a:endParaRPr lang="en-US" sz="1300" dirty="0"/>
          </a:p>
        </p:txBody>
      </p:sp>
      <p:sp>
        <p:nvSpPr>
          <p:cNvPr id="9" name="Text 7"/>
          <p:cNvSpPr txBox="1"/>
          <p:nvPr/>
        </p:nvSpPr>
        <p:spPr>
          <a:xfrm>
            <a:off x="6382512" y="1426464"/>
            <a:ext cx="5111496" cy="4663440"/>
          </a:xfrm>
          <a:prstGeom prst="rect">
            <a:avLst/>
          </a:prstGeom>
          <a:noFill/>
          <a:ln/>
        </p:spPr>
        <p:txBody>
          <a:bodyPr wrap="square" lIns="0" tIns="0" rIns="0" bIns="0" rtlCol="0" anchor="t"/>
          <a:lstStyle/>
          <a:p>
            <a:pPr marL="0" indent="0">
              <a:buNone/>
            </a:pPr>
            <a:r>
              <a:rPr lang="en-US" sz="1400" dirty="0">
                <a:solidFill>
                  <a:srgbClr val="334155"/>
                </a:solidFill>
              </a:rPr>
              <a:t>Shows the unstaged edits: lines starting with + were added, lines with - were removed.</a:t>
            </a:r>
            <a:endParaRPr lang="en-US" sz="1400" dirty="0"/>
          </a:p>
          <a:p>
            <a:pPr marL="0" indent="0">
              <a:buNone/>
            </a:pPr>
            <a:endParaRPr lang="en-US" sz="1400" dirty="0"/>
          </a:p>
          <a:p>
            <a:pPr marL="0" indent="0">
              <a:buNone/>
            </a:pPr>
            <a:r>
              <a:rPr lang="en-US" sz="1400" dirty="0">
                <a:solidFill>
                  <a:srgbClr val="334155"/>
                </a:solidFill>
              </a:rPr>
              <a:t>git diff --staged shows what is already in staging, about to be committed.</a:t>
            </a:r>
            <a:endParaRPr lang="en-US" sz="1400" dirty="0"/>
          </a:p>
          <a:p>
            <a:pPr marL="0" indent="0">
              <a:buNone/>
            </a:pPr>
            <a:endParaRPr lang="en-US" sz="1400" dirty="0"/>
          </a:p>
          <a:p>
            <a:pPr marL="0" indent="0">
              <a:buNone/>
            </a:pPr>
            <a:r>
              <a:rPr lang="en-US" sz="1400" dirty="0">
                <a:solidFill>
                  <a:srgbClr val="334155"/>
                </a:solidFill>
              </a:rPr>
              <a:t>If diff is empty but you edited a file, you already staged it — check status.</a:t>
            </a:r>
            <a:endParaRPr lang="en-US" sz="14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Undo uncommitted work: git restore</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Safe undo</a:t>
            </a:r>
            <a:endParaRPr lang="en-US" sz="1100" dirty="0"/>
          </a:p>
        </p:txBody>
      </p:sp>
      <p:sp>
        <p:nvSpPr>
          <p:cNvPr id="4" name="Text 2"/>
          <p:cNvSpPr txBox="1"/>
          <p:nvPr/>
        </p:nvSpPr>
        <p:spPr>
          <a:xfrm>
            <a:off x="502920" y="987552"/>
            <a:ext cx="11155680" cy="1371600"/>
          </a:xfrm>
          <a:prstGeom prst="rect">
            <a:avLst/>
          </a:prstGeom>
          <a:noFill/>
          <a:ln/>
        </p:spPr>
        <p:txBody>
          <a:bodyPr wrap="square" lIns="0" tIns="0" rIns="0" bIns="0" rtlCol="0" anchor="t"/>
          <a:lstStyle/>
          <a:p>
            <a:pPr marL="0" indent="0">
              <a:buNone/>
            </a:pPr>
            <a:r>
              <a:rPr lang="en-US" sz="1600" dirty="0">
                <a:solidFill>
                  <a:srgbClr val="334155"/>
                </a:solidFill>
              </a:rPr>
              <a:t>You edited the wrong file and have not committed. git restore notes.txt throws away those edits and puts back the last committed version. This is allowed because nobody else has your uncommitted typing.</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2468880"/>
          <a:ext cx="11173968" cy="1158240"/>
        </p:xfrm>
        <a:graphic>
          <a:graphicData uri="http://schemas.openxmlformats.org/drawingml/2006/table">
            <a:tbl>
              <a:tblPr/>
              <a:tblGrid>
                <a:gridCol w="38404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75888">
                  <a:extLst>
                    <a:ext uri="{9D8B030D-6E8A-4147-A177-3AD203B41FA5}">
                      <a16:colId xmlns:a16="http://schemas.microsoft.com/office/drawing/2014/main" val="20002"/>
                    </a:ext>
                  </a:extLst>
                </a:gridCol>
              </a:tblGrid>
              <a:tr h="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Situation</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Command</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Never do this (yet)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I edited a file, not committed</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git restore file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Do not reboot the PC to “undo”</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I staged a file by mistake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git restore --staged file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The file stays; it just leaves staging</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I already pushed a bad commit to GitHub</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Fix with a new commit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Do not git push --force on a shared branch</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What must never be committed</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Secrets</a:t>
            </a:r>
            <a:endParaRPr lang="en-US" sz="1100" dirty="0"/>
          </a:p>
        </p:txBody>
      </p:sp>
      <p:sp>
        <p:nvSpPr>
          <p:cNvPr id="4" name="Text 2"/>
          <p:cNvSpPr txBox="1"/>
          <p:nvPr/>
        </p:nvSpPr>
        <p:spPr>
          <a:xfrm>
            <a:off x="502920" y="960120"/>
            <a:ext cx="11155680" cy="1325880"/>
          </a:xfrm>
          <a:prstGeom prst="rect">
            <a:avLst/>
          </a:prstGeom>
          <a:noFill/>
          <a:ln/>
        </p:spPr>
        <p:txBody>
          <a:bodyPr wrap="square" lIns="0" tIns="0" rIns="0" bIns="0" rtlCol="0" anchor="t"/>
          <a:lstStyle/>
          <a:p>
            <a:pPr marL="0" indent="0">
              <a:buNone/>
            </a:pPr>
            <a:r>
              <a:rPr lang="en-US" sz="1600" dirty="0">
                <a:solidFill>
                  <a:srgbClr val="334155"/>
                </a:solidFill>
              </a:rPr>
              <a:t>Git history keeps files forever unless you do advanced surgery. If you commit a cloud key and then delete it in the next commit, the key is still in the old snapshot. Anyone with clone access can find it. Rotate the key (make a new one, disable the old one).</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2377440"/>
          <a:ext cx="11173968" cy="1524000"/>
        </p:xfrm>
        <a:graphic>
          <a:graphicData uri="http://schemas.openxmlformats.org/drawingml/2006/table">
            <a:tbl>
              <a:tblPr/>
              <a:tblGrid>
                <a:gridCol w="5586984">
                  <a:extLst>
                    <a:ext uri="{9D8B030D-6E8A-4147-A177-3AD203B41FA5}">
                      <a16:colId xmlns:a16="http://schemas.microsoft.com/office/drawing/2014/main" val="20000"/>
                    </a:ext>
                  </a:extLst>
                </a:gridCol>
                <a:gridCol w="5586984">
                  <a:extLst>
                    <a:ext uri="{9D8B030D-6E8A-4147-A177-3AD203B41FA5}">
                      <a16:colId xmlns:a16="http://schemas.microsoft.com/office/drawing/2014/main" val="20001"/>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Never commit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Safe to commit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.env with real tokens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.env.example with replace-me values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AWS access key, password, private .pem</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Documentation of which env var the app needs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.venv/, node_modules/ (huge, regenerable)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requirements.txt or package.json</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id_rsa private SSH key</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README that says “use SSH or HTTPS”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.gitignore tells Git to skip files</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gitignore</a:t>
            </a:r>
            <a:endParaRPr lang="en-US" sz="1100" dirty="0"/>
          </a:p>
        </p:txBody>
      </p:sp>
      <p:sp>
        <p:nvSpPr>
          <p:cNvPr id="4" name="Text 2"/>
          <p:cNvSpPr txBox="1"/>
          <p:nvPr/>
        </p:nvSpPr>
        <p:spPr>
          <a:xfrm>
            <a:off x="502920" y="987552"/>
            <a:ext cx="11155680" cy="1234440"/>
          </a:xfrm>
          <a:prstGeom prst="rect">
            <a:avLst/>
          </a:prstGeom>
          <a:noFill/>
          <a:ln/>
        </p:spPr>
        <p:txBody>
          <a:bodyPr wrap="square" lIns="0" tIns="0" rIns="0" bIns="0" rtlCol="0" anchor="t"/>
          <a:lstStyle/>
          <a:p>
            <a:pPr marL="0" indent="0">
              <a:buNone/>
            </a:pPr>
            <a:r>
              <a:rPr lang="en-US" sz="1600" dirty="0">
                <a:solidFill>
                  <a:srgbClr val="334155"/>
                </a:solidFill>
              </a:rPr>
              <a:t>A file named .gitignore lists patterns. Git will not show those files as “please add me”. You still must not git add -f a secret. Our notes-api starter already ignores .env, keys, and .venv.</a:t>
            </a:r>
            <a:endParaRPr lang="en-US" sz="1600" dirty="0"/>
          </a:p>
        </p:txBody>
      </p:sp>
      <p:sp>
        <p:nvSpPr>
          <p:cNvPr id="5" name="Shape 3"/>
          <p:cNvSpPr/>
          <p:nvPr/>
        </p:nvSpPr>
        <p:spPr>
          <a:xfrm>
            <a:off x="502920" y="2331720"/>
            <a:ext cx="11155680" cy="3886200"/>
          </a:xfrm>
          <a:prstGeom prst="roundRect">
            <a:avLst>
              <a:gd name="adj" fmla="val 1882"/>
            </a:avLst>
          </a:prstGeom>
          <a:solidFill>
            <a:srgbClr val="0F172A"/>
          </a:solidFill>
          <a:ln/>
        </p:spPr>
        <p:txBody>
          <a:bodyPr/>
          <a:lstStyle/>
          <a:p>
            <a:endParaRPr lang="en-IN"/>
          </a:p>
        </p:txBody>
      </p:sp>
      <p:sp>
        <p:nvSpPr>
          <p:cNvPr id="6" name="Text 4"/>
          <p:cNvSpPr txBox="1"/>
          <p:nvPr/>
        </p:nvSpPr>
        <p:spPr>
          <a:xfrm>
            <a:off x="667512" y="2441448"/>
            <a:ext cx="10826496" cy="292608"/>
          </a:xfrm>
          <a:prstGeom prst="rect">
            <a:avLst/>
          </a:prstGeom>
          <a:noFill/>
          <a:ln/>
        </p:spPr>
        <p:txBody>
          <a:bodyPr wrap="square" lIns="0" tIns="0" rIns="0" bIns="0" rtlCol="0" anchor="ctr"/>
          <a:lstStyle/>
          <a:p>
            <a:pPr marL="0" indent="0">
              <a:buNone/>
            </a:pPr>
            <a:r>
              <a:rPr lang="en-US" sz="1300" b="1" dirty="0">
                <a:solidFill>
                  <a:srgbClr val="FFFFFF"/>
                </a:solidFill>
              </a:rPr>
              <a:t>Example .gitignore (already in notes-api)</a:t>
            </a:r>
            <a:endParaRPr lang="en-US" sz="1300" dirty="0"/>
          </a:p>
        </p:txBody>
      </p:sp>
      <p:sp>
        <p:nvSpPr>
          <p:cNvPr id="7" name="Text 5"/>
          <p:cNvSpPr txBox="1"/>
          <p:nvPr/>
        </p:nvSpPr>
        <p:spPr>
          <a:xfrm>
            <a:off x="667512" y="2752344"/>
            <a:ext cx="10826496" cy="3337560"/>
          </a:xfrm>
          <a:prstGeom prst="rect">
            <a:avLst/>
          </a:prstGeom>
          <a:noFill/>
          <a:ln/>
        </p:spPr>
        <p:txBody>
          <a:bodyPr wrap="square" lIns="0" tIns="0" rIns="0" bIns="0" rtlCol="0" anchor="t"/>
          <a:lstStyle/>
          <a:p>
            <a:pPr marL="0" indent="0">
              <a:buNone/>
            </a:pPr>
            <a:r>
              <a:rPr lang="en-US" sz="1400" dirty="0">
                <a:solidFill>
                  <a:srgbClr val="94A3B8"/>
                </a:solidFill>
              </a:rPr>
              <a:t>.env</a:t>
            </a:r>
            <a:endParaRPr lang="en-US" sz="1400" dirty="0"/>
          </a:p>
          <a:p>
            <a:pPr marL="0" indent="0">
              <a:buNone/>
            </a:pPr>
            <a:r>
              <a:rPr lang="en-US" sz="1400" dirty="0">
                <a:solidFill>
                  <a:srgbClr val="94A3B8"/>
                </a:solidFill>
              </a:rPr>
              <a:t>*.pem</a:t>
            </a:r>
            <a:endParaRPr lang="en-US" sz="1400" dirty="0"/>
          </a:p>
          <a:p>
            <a:pPr marL="0" indent="0">
              <a:buNone/>
            </a:pPr>
            <a:r>
              <a:rPr lang="en-US" sz="1400" dirty="0">
                <a:solidFill>
                  <a:srgbClr val="94A3B8"/>
                </a:solidFill>
              </a:rPr>
              <a:t>*.key</a:t>
            </a:r>
            <a:endParaRPr lang="en-US" sz="1400" dirty="0"/>
          </a:p>
          <a:p>
            <a:pPr marL="0" indent="0">
              <a:buNone/>
            </a:pPr>
            <a:r>
              <a:rPr lang="en-US" sz="1400" dirty="0">
                <a:solidFill>
                  <a:srgbClr val="94A3B8"/>
                </a:solidFill>
              </a:rPr>
              <a:t>.venv/</a:t>
            </a:r>
            <a:endParaRPr lang="en-US" sz="1400" dirty="0"/>
          </a:p>
          <a:p>
            <a:pPr marL="0" indent="0">
              <a:buNone/>
            </a:pPr>
            <a:r>
              <a:rPr lang="en-US" sz="1400" dirty="0">
                <a:solidFill>
                  <a:srgbClr val="94A3B8"/>
                </a:solidFill>
              </a:rPr>
              <a:t>node_modules/</a:t>
            </a:r>
            <a:endParaRPr lang="en-US" sz="1400" dirty="0"/>
          </a:p>
          <a:p>
            <a:pPr marL="0" indent="0">
              <a:buNone/>
            </a:pPr>
            <a:endParaRPr lang="en-US" sz="1400" dirty="0"/>
          </a:p>
          <a:p>
            <a:pPr marL="0" indent="0">
              <a:buNone/>
            </a:pPr>
            <a:r>
              <a:rPr lang="en-US" sz="1400" dirty="0">
                <a:solidFill>
                  <a:srgbClr val="94A3B8"/>
                </a:solidFill>
              </a:rPr>
              <a:t>Commit the .gitignore file itself. That is how the whole team gets the same protection.</a:t>
            </a:r>
            <a:endParaRPr lang="en-US" sz="14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286000"/>
            <a:ext cx="10972800" cy="1097280"/>
          </a:xfrm>
          <a:prstGeom prst="rect">
            <a:avLst/>
          </a:prstGeom>
          <a:noFill/>
          <a:ln/>
        </p:spPr>
        <p:txBody>
          <a:bodyPr wrap="square" lIns="0" tIns="0" rIns="0" bIns="0" rtlCol="0"/>
          <a:lstStyle/>
          <a:p>
            <a:pPr marL="0" indent="0">
              <a:buNone/>
            </a:pPr>
            <a:r>
              <a:rPr lang="en-US" sz="3200" b="1" dirty="0">
                <a:solidFill>
                  <a:schemeClr val="bg1"/>
                </a:solidFill>
              </a:rPr>
              <a:t>Branches, remotes, and pull requests</a:t>
            </a:r>
            <a:endParaRPr lang="en-US" sz="3200" dirty="0"/>
          </a:p>
        </p:txBody>
      </p:sp>
      <p:sp>
        <p:nvSpPr>
          <p:cNvPr id="3" name="Text 0"/>
          <p:cNvSpPr>
            <a:spLocks noGrp="1"/>
          </p:cNvSpPr>
          <p:nvPr>
            <p:ph type="body" idx="101" hasCustomPrompt="1"/>
          </p:nvPr>
        </p:nvSpPr>
        <p:spPr>
          <a:xfrm>
            <a:off x="640080" y="3474720"/>
            <a:ext cx="10515600" cy="1371600"/>
          </a:xfrm>
          <a:prstGeom prst="rect">
            <a:avLst/>
          </a:prstGeom>
          <a:noFill/>
          <a:ln/>
        </p:spPr>
        <p:txBody>
          <a:bodyPr wrap="square" lIns="0" tIns="0" rIns="0" bIns="0" rtlCol="0"/>
          <a:lstStyle/>
          <a:p>
            <a:pPr marL="0" indent="0">
              <a:buNone/>
            </a:pPr>
            <a:r>
              <a:rPr lang="en-US" sz="1800" dirty="0">
                <a:solidFill>
                  <a:srgbClr val="94A3B8"/>
                </a:solidFill>
              </a:rPr>
              <a:t>This is how a team uses Git — not how a solo zip file worked</a:t>
            </a:r>
            <a:endParaRPr lang="en-US" sz="18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Why branches exist</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branches</a:t>
            </a:r>
            <a:endParaRPr lang="en-US" sz="1100" dirty="0"/>
          </a:p>
        </p:txBody>
      </p:sp>
      <p:sp>
        <p:nvSpPr>
          <p:cNvPr id="4" name="Text 2"/>
          <p:cNvSpPr txBox="1"/>
          <p:nvPr/>
        </p:nvSpPr>
        <p:spPr>
          <a:xfrm>
            <a:off x="502920" y="987552"/>
            <a:ext cx="11155680" cy="1417320"/>
          </a:xfrm>
          <a:prstGeom prst="rect">
            <a:avLst/>
          </a:prstGeom>
          <a:noFill/>
          <a:ln/>
        </p:spPr>
        <p:txBody>
          <a:bodyPr wrap="square" lIns="0" tIns="0" rIns="0" bIns="0" rtlCol="0" anchor="t"/>
          <a:lstStyle/>
          <a:p>
            <a:pPr marL="0" indent="0">
              <a:buNone/>
            </a:pPr>
            <a:r>
              <a:rPr lang="en-US" sz="1600" dirty="0">
                <a:solidFill>
                  <a:srgbClr val="334155"/>
                </a:solidFill>
              </a:rPr>
              <a:t>main (sometimes still called master) is the line you want to be always releasable. A feature branch is a copy of that line where you try an idea. If the idea is bad, you delete the branch. main stays clean. If the idea is good, you merge after a review.</a:t>
            </a:r>
            <a:endParaRPr lang="en-US" sz="1600" dirty="0"/>
          </a:p>
        </p:txBody>
      </p:sp>
      <p:sp>
        <p:nvSpPr>
          <p:cNvPr id="5" name="Shape 3"/>
          <p:cNvSpPr/>
          <p:nvPr/>
        </p:nvSpPr>
        <p:spPr>
          <a:xfrm>
            <a:off x="502920" y="2560320"/>
            <a:ext cx="3474720" cy="3611880"/>
          </a:xfrm>
          <a:prstGeom prst="roundRect">
            <a:avLst>
              <a:gd name="adj" fmla="val 2105"/>
            </a:avLst>
          </a:prstGeom>
          <a:solidFill>
            <a:srgbClr val="0F766E"/>
          </a:solidFill>
          <a:ln/>
        </p:spPr>
        <p:txBody>
          <a:bodyPr/>
          <a:lstStyle/>
          <a:p>
            <a:endParaRPr lang="en-IN"/>
          </a:p>
        </p:txBody>
      </p:sp>
      <p:sp>
        <p:nvSpPr>
          <p:cNvPr id="6" name="Text 4"/>
          <p:cNvSpPr txBox="1"/>
          <p:nvPr/>
        </p:nvSpPr>
        <p:spPr>
          <a:xfrm>
            <a:off x="576072" y="2670048"/>
            <a:ext cx="3328416" cy="365760"/>
          </a:xfrm>
          <a:prstGeom prst="rect">
            <a:avLst/>
          </a:prstGeom>
          <a:noFill/>
          <a:ln/>
        </p:spPr>
        <p:txBody>
          <a:bodyPr wrap="square" lIns="0" tIns="0" rIns="0" bIns="0" rtlCol="0" anchor="ctr"/>
          <a:lstStyle/>
          <a:p>
            <a:pPr marL="0" indent="0" algn="ctr">
              <a:buNone/>
            </a:pPr>
            <a:r>
              <a:rPr lang="en-US" sz="1400" b="1" dirty="0">
                <a:solidFill>
                  <a:srgbClr val="FFFFFF"/>
                </a:solidFill>
              </a:rPr>
              <a:t>main</a:t>
            </a:r>
            <a:endParaRPr lang="en-US" sz="1400" dirty="0"/>
          </a:p>
        </p:txBody>
      </p:sp>
      <p:sp>
        <p:nvSpPr>
          <p:cNvPr id="7" name="Text 5"/>
          <p:cNvSpPr txBox="1"/>
          <p:nvPr/>
        </p:nvSpPr>
        <p:spPr>
          <a:xfrm>
            <a:off x="576072" y="3035808"/>
            <a:ext cx="3328416" cy="3044952"/>
          </a:xfrm>
          <a:prstGeom prst="rect">
            <a:avLst/>
          </a:prstGeom>
          <a:noFill/>
          <a:ln/>
        </p:spPr>
        <p:txBody>
          <a:bodyPr wrap="square" lIns="0" tIns="0" rIns="0" bIns="0" rtlCol="0" anchor="ctr"/>
          <a:lstStyle/>
          <a:p>
            <a:pPr marL="0" indent="0" algn="ctr">
              <a:buNone/>
            </a:pPr>
            <a:r>
              <a:rPr lang="en-US" sz="1200" dirty="0">
                <a:solidFill>
                  <a:srgbClr val="CCFBF1"/>
                </a:solidFill>
              </a:rPr>
              <a:t>The shared, protected line. Production should come from here later in the course.</a:t>
            </a:r>
            <a:endParaRPr lang="en-US" sz="1200" dirty="0"/>
          </a:p>
        </p:txBody>
      </p:sp>
      <p:sp>
        <p:nvSpPr>
          <p:cNvPr id="8" name="Shape 6"/>
          <p:cNvSpPr/>
          <p:nvPr/>
        </p:nvSpPr>
        <p:spPr>
          <a:xfrm>
            <a:off x="4297680" y="2560320"/>
            <a:ext cx="3474720" cy="3611880"/>
          </a:xfrm>
          <a:prstGeom prst="roundRect">
            <a:avLst>
              <a:gd name="adj" fmla="val 2105"/>
            </a:avLst>
          </a:prstGeom>
          <a:solidFill>
            <a:srgbClr val="ECFDF5"/>
          </a:solidFill>
          <a:ln/>
        </p:spPr>
        <p:txBody>
          <a:bodyPr/>
          <a:lstStyle/>
          <a:p>
            <a:endParaRPr lang="en-IN"/>
          </a:p>
        </p:txBody>
      </p:sp>
      <p:sp>
        <p:nvSpPr>
          <p:cNvPr id="9" name="Text 7"/>
          <p:cNvSpPr txBox="1"/>
          <p:nvPr/>
        </p:nvSpPr>
        <p:spPr>
          <a:xfrm>
            <a:off x="4370832" y="2670048"/>
            <a:ext cx="3328416" cy="365760"/>
          </a:xfrm>
          <a:prstGeom prst="rect">
            <a:avLst/>
          </a:prstGeom>
          <a:noFill/>
          <a:ln/>
        </p:spPr>
        <p:txBody>
          <a:bodyPr wrap="square" lIns="0" tIns="0" rIns="0" bIns="0" rtlCol="0" anchor="ctr"/>
          <a:lstStyle/>
          <a:p>
            <a:pPr marL="0" indent="0" algn="ctr">
              <a:buNone/>
            </a:pPr>
            <a:r>
              <a:rPr lang="en-US" sz="1400" b="1" dirty="0">
                <a:solidFill>
                  <a:srgbClr val="0F766E"/>
                </a:solidFill>
              </a:rPr>
              <a:t>add-my-note</a:t>
            </a:r>
            <a:endParaRPr lang="en-US" sz="1400" dirty="0"/>
          </a:p>
        </p:txBody>
      </p:sp>
      <p:sp>
        <p:nvSpPr>
          <p:cNvPr id="10" name="Text 8"/>
          <p:cNvSpPr txBox="1"/>
          <p:nvPr/>
        </p:nvSpPr>
        <p:spPr>
          <a:xfrm>
            <a:off x="4370832" y="3035808"/>
            <a:ext cx="3328416" cy="3044952"/>
          </a:xfrm>
          <a:prstGeom prst="rect">
            <a:avLst/>
          </a:prstGeom>
          <a:noFill/>
          <a:ln/>
        </p:spPr>
        <p:txBody>
          <a:bodyPr wrap="square" lIns="0" tIns="0" rIns="0" bIns="0" rtlCol="0" anchor="ctr"/>
          <a:lstStyle/>
          <a:p>
            <a:pPr marL="0" indent="0" algn="ctr">
              <a:buNone/>
            </a:pPr>
            <a:r>
              <a:rPr lang="en-US" sz="1200" dirty="0">
                <a:solidFill>
                  <a:srgbClr val="334155"/>
                </a:solidFill>
              </a:rPr>
              <a:t>Your work. git checkout -b add-my-note. Commit here as many times as you need.</a:t>
            </a:r>
            <a:endParaRPr lang="en-US" sz="1200" dirty="0"/>
          </a:p>
        </p:txBody>
      </p:sp>
      <p:sp>
        <p:nvSpPr>
          <p:cNvPr id="11" name="Shape 9"/>
          <p:cNvSpPr/>
          <p:nvPr/>
        </p:nvSpPr>
        <p:spPr>
          <a:xfrm>
            <a:off x="8092440" y="2560320"/>
            <a:ext cx="3566160" cy="3611880"/>
          </a:xfrm>
          <a:prstGeom prst="roundRect">
            <a:avLst>
              <a:gd name="adj" fmla="val 2051"/>
            </a:avLst>
          </a:prstGeom>
          <a:solidFill>
            <a:srgbClr val="F1F5F9"/>
          </a:solidFill>
          <a:ln/>
        </p:spPr>
        <p:txBody>
          <a:bodyPr/>
          <a:lstStyle/>
          <a:p>
            <a:endParaRPr lang="en-IN"/>
          </a:p>
        </p:txBody>
      </p:sp>
      <p:sp>
        <p:nvSpPr>
          <p:cNvPr id="12" name="Text 10"/>
          <p:cNvSpPr txBox="1"/>
          <p:nvPr/>
        </p:nvSpPr>
        <p:spPr>
          <a:xfrm>
            <a:off x="8165592" y="2670048"/>
            <a:ext cx="3419856" cy="365760"/>
          </a:xfrm>
          <a:prstGeom prst="rect">
            <a:avLst/>
          </a:prstGeom>
          <a:noFill/>
          <a:ln/>
        </p:spPr>
        <p:txBody>
          <a:bodyPr wrap="square" lIns="0" tIns="0" rIns="0" bIns="0" rtlCol="0" anchor="ctr"/>
          <a:lstStyle/>
          <a:p>
            <a:pPr marL="0" indent="0" algn="ctr">
              <a:buNone/>
            </a:pPr>
            <a:r>
              <a:rPr lang="en-US" sz="1400" b="1" dirty="0">
                <a:solidFill>
                  <a:srgbClr val="0F172A"/>
                </a:solidFill>
              </a:rPr>
              <a:t>Pull request</a:t>
            </a:r>
            <a:endParaRPr lang="en-US" sz="1400" dirty="0"/>
          </a:p>
        </p:txBody>
      </p:sp>
      <p:sp>
        <p:nvSpPr>
          <p:cNvPr id="13" name="Text 11"/>
          <p:cNvSpPr txBox="1"/>
          <p:nvPr/>
        </p:nvSpPr>
        <p:spPr>
          <a:xfrm>
            <a:off x="8165592" y="3035808"/>
            <a:ext cx="3419856" cy="3044952"/>
          </a:xfrm>
          <a:prstGeom prst="rect">
            <a:avLst/>
          </a:prstGeom>
          <a:noFill/>
          <a:ln/>
        </p:spPr>
        <p:txBody>
          <a:bodyPr wrap="square" lIns="0" tIns="0" rIns="0" bIns="0" rtlCol="0" anchor="ctr"/>
          <a:lstStyle/>
          <a:p>
            <a:pPr marL="0" indent="0" algn="ctr">
              <a:buNone/>
            </a:pPr>
            <a:r>
              <a:rPr lang="en-US" sz="1200" dirty="0">
                <a:solidFill>
                  <a:srgbClr val="334155"/>
                </a:solidFill>
              </a:rPr>
              <a:t>Ask GitHub to merge add-my-note into main after a human looks.</a:t>
            </a:r>
            <a:endParaRPr lang="en-US" sz="12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Branch commands you will type</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branch commands</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024128"/>
          <a:ext cx="11173968" cy="1828800"/>
        </p:xfrm>
        <a:graphic>
          <a:graphicData uri="http://schemas.openxmlformats.org/drawingml/2006/table">
            <a:tbl>
              <a:tblPr/>
              <a:tblGrid>
                <a:gridCol w="4389120">
                  <a:extLst>
                    <a:ext uri="{9D8B030D-6E8A-4147-A177-3AD203B41FA5}">
                      <a16:colId xmlns:a16="http://schemas.microsoft.com/office/drawing/2014/main" val="20000"/>
                    </a:ext>
                  </a:extLst>
                </a:gridCol>
                <a:gridCol w="6784848">
                  <a:extLst>
                    <a:ext uri="{9D8B030D-6E8A-4147-A177-3AD203B41FA5}">
                      <a16:colId xmlns:a16="http://schemas.microsoft.com/office/drawing/2014/main" val="20001"/>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Command</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git branch</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List branches. * shows the one you are on.</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git checkout -b add-my-note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Create add-my-note from the current commit and switch to it.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git checkout main</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Switch back to main. Uncommitted files can follow you — commit or restore first.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git merge add-my-note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While on main: bring add-my-note’s commits into main. Local only until you push.</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git branch -d add-my-note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Delete the local branch after it is merged. Optional cleanup.</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Diagram: GitHub Flow (what jobs expect)</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the team loop</a:t>
            </a:r>
            <a:endParaRPr lang="en-US" sz="1100" dirty="0"/>
          </a:p>
        </p:txBody>
      </p:sp>
      <p:sp>
        <p:nvSpPr>
          <p:cNvPr id="4" name="Shape 2"/>
          <p:cNvSpPr/>
          <p:nvPr/>
        </p:nvSpPr>
        <p:spPr>
          <a:xfrm>
            <a:off x="457200" y="1097280"/>
            <a:ext cx="1847088" cy="2331720"/>
          </a:xfrm>
          <a:prstGeom prst="roundRect">
            <a:avLst>
              <a:gd name="adj" fmla="val 3960"/>
            </a:avLst>
          </a:prstGeom>
          <a:solidFill>
            <a:srgbClr val="F1F5F9"/>
          </a:solidFill>
          <a:ln/>
        </p:spPr>
        <p:txBody>
          <a:bodyPr/>
          <a:lstStyle/>
          <a:p>
            <a:endParaRPr lang="en-IN"/>
          </a:p>
        </p:txBody>
      </p:sp>
      <p:sp>
        <p:nvSpPr>
          <p:cNvPr id="5" name="Text 3"/>
          <p:cNvSpPr txBox="1"/>
          <p:nvPr/>
        </p:nvSpPr>
        <p:spPr>
          <a:xfrm>
            <a:off x="530352" y="1207008"/>
            <a:ext cx="1700784" cy="365760"/>
          </a:xfrm>
          <a:prstGeom prst="rect">
            <a:avLst/>
          </a:prstGeom>
          <a:noFill/>
          <a:ln/>
        </p:spPr>
        <p:txBody>
          <a:bodyPr wrap="square" lIns="0" tIns="0" rIns="0" bIns="0" rtlCol="0" anchor="ctr"/>
          <a:lstStyle/>
          <a:p>
            <a:pPr marL="0" indent="0" algn="ctr">
              <a:buNone/>
            </a:pPr>
            <a:r>
              <a:rPr lang="en-US" sz="1400" b="1" dirty="0">
                <a:solidFill>
                  <a:srgbClr val="0F172A"/>
                </a:solidFill>
              </a:rPr>
              <a:t>1  Update main</a:t>
            </a:r>
            <a:endParaRPr lang="en-US" sz="1400" dirty="0"/>
          </a:p>
        </p:txBody>
      </p:sp>
      <p:sp>
        <p:nvSpPr>
          <p:cNvPr id="6" name="Text 4"/>
          <p:cNvSpPr txBox="1"/>
          <p:nvPr/>
        </p:nvSpPr>
        <p:spPr>
          <a:xfrm>
            <a:off x="530352" y="1572768"/>
            <a:ext cx="1700784" cy="1764792"/>
          </a:xfrm>
          <a:prstGeom prst="rect">
            <a:avLst/>
          </a:prstGeom>
          <a:noFill/>
          <a:ln/>
        </p:spPr>
        <p:txBody>
          <a:bodyPr wrap="square" lIns="0" tIns="0" rIns="0" bIns="0" rtlCol="0" anchor="ctr"/>
          <a:lstStyle/>
          <a:p>
            <a:pPr marL="0" indent="0" algn="ctr">
              <a:buNone/>
            </a:pPr>
            <a:r>
              <a:rPr lang="en-US" sz="1200" dirty="0">
                <a:solidFill>
                  <a:srgbClr val="334155"/>
                </a:solidFill>
              </a:rPr>
              <a:t>git checkout main then git pull</a:t>
            </a:r>
            <a:endParaRPr lang="en-US" sz="1200" dirty="0"/>
          </a:p>
        </p:txBody>
      </p:sp>
      <p:sp>
        <p:nvSpPr>
          <p:cNvPr id="7" name="Shape 5"/>
          <p:cNvSpPr/>
          <p:nvPr/>
        </p:nvSpPr>
        <p:spPr>
          <a:xfrm>
            <a:off x="2404872" y="1097280"/>
            <a:ext cx="1847088" cy="2331720"/>
          </a:xfrm>
          <a:prstGeom prst="roundRect">
            <a:avLst>
              <a:gd name="adj" fmla="val 3960"/>
            </a:avLst>
          </a:prstGeom>
          <a:solidFill>
            <a:srgbClr val="F1F5F9"/>
          </a:solidFill>
          <a:ln/>
        </p:spPr>
        <p:txBody>
          <a:bodyPr/>
          <a:lstStyle/>
          <a:p>
            <a:endParaRPr lang="en-IN"/>
          </a:p>
        </p:txBody>
      </p:sp>
      <p:sp>
        <p:nvSpPr>
          <p:cNvPr id="8" name="Text 6"/>
          <p:cNvSpPr txBox="1"/>
          <p:nvPr/>
        </p:nvSpPr>
        <p:spPr>
          <a:xfrm>
            <a:off x="2478024" y="1207008"/>
            <a:ext cx="1700784" cy="365760"/>
          </a:xfrm>
          <a:prstGeom prst="rect">
            <a:avLst/>
          </a:prstGeom>
          <a:noFill/>
          <a:ln/>
        </p:spPr>
        <p:txBody>
          <a:bodyPr wrap="square" lIns="0" tIns="0" rIns="0" bIns="0" rtlCol="0" anchor="ctr"/>
          <a:lstStyle/>
          <a:p>
            <a:pPr marL="0" indent="0" algn="ctr">
              <a:buNone/>
            </a:pPr>
            <a:r>
              <a:rPr lang="en-US" sz="1400" b="1" dirty="0">
                <a:solidFill>
                  <a:srgbClr val="0F172A"/>
                </a:solidFill>
              </a:rPr>
              <a:t>2  New branch</a:t>
            </a:r>
            <a:endParaRPr lang="en-US" sz="1400" dirty="0"/>
          </a:p>
        </p:txBody>
      </p:sp>
      <p:sp>
        <p:nvSpPr>
          <p:cNvPr id="9" name="Text 7"/>
          <p:cNvSpPr txBox="1"/>
          <p:nvPr/>
        </p:nvSpPr>
        <p:spPr>
          <a:xfrm>
            <a:off x="2478024" y="1572768"/>
            <a:ext cx="1700784" cy="1764792"/>
          </a:xfrm>
          <a:prstGeom prst="rect">
            <a:avLst/>
          </a:prstGeom>
          <a:noFill/>
          <a:ln/>
        </p:spPr>
        <p:txBody>
          <a:bodyPr wrap="square" lIns="0" tIns="0" rIns="0" bIns="0" rtlCol="0" anchor="ctr"/>
          <a:lstStyle/>
          <a:p>
            <a:pPr marL="0" indent="0" algn="ctr">
              <a:buNone/>
            </a:pPr>
            <a:r>
              <a:rPr lang="en-US" sz="1200" dirty="0">
                <a:solidFill>
                  <a:srgbClr val="334155"/>
                </a:solidFill>
              </a:rPr>
              <a:t>git checkout -b feature-name</a:t>
            </a:r>
            <a:endParaRPr lang="en-US" sz="1200" dirty="0"/>
          </a:p>
        </p:txBody>
      </p:sp>
      <p:sp>
        <p:nvSpPr>
          <p:cNvPr id="10" name="Shape 8"/>
          <p:cNvSpPr/>
          <p:nvPr/>
        </p:nvSpPr>
        <p:spPr>
          <a:xfrm>
            <a:off x="4352544" y="1097280"/>
            <a:ext cx="1847088" cy="2331720"/>
          </a:xfrm>
          <a:prstGeom prst="roundRect">
            <a:avLst>
              <a:gd name="adj" fmla="val 3960"/>
            </a:avLst>
          </a:prstGeom>
          <a:solidFill>
            <a:srgbClr val="F1F5F9"/>
          </a:solidFill>
          <a:ln/>
        </p:spPr>
        <p:txBody>
          <a:bodyPr/>
          <a:lstStyle/>
          <a:p>
            <a:endParaRPr lang="en-IN"/>
          </a:p>
        </p:txBody>
      </p:sp>
      <p:sp>
        <p:nvSpPr>
          <p:cNvPr id="11" name="Text 9"/>
          <p:cNvSpPr txBox="1"/>
          <p:nvPr/>
        </p:nvSpPr>
        <p:spPr>
          <a:xfrm>
            <a:off x="4425696" y="1207008"/>
            <a:ext cx="1700784" cy="365760"/>
          </a:xfrm>
          <a:prstGeom prst="rect">
            <a:avLst/>
          </a:prstGeom>
          <a:noFill/>
          <a:ln/>
        </p:spPr>
        <p:txBody>
          <a:bodyPr wrap="square" lIns="0" tIns="0" rIns="0" bIns="0" rtlCol="0" anchor="ctr"/>
          <a:lstStyle/>
          <a:p>
            <a:pPr marL="0" indent="0" algn="ctr">
              <a:buNone/>
            </a:pPr>
            <a:r>
              <a:rPr lang="en-US" sz="1400" b="1" dirty="0">
                <a:solidFill>
                  <a:srgbClr val="0F172A"/>
                </a:solidFill>
              </a:rPr>
              <a:t>3  Commit</a:t>
            </a:r>
            <a:endParaRPr lang="en-US" sz="1400" dirty="0"/>
          </a:p>
        </p:txBody>
      </p:sp>
      <p:sp>
        <p:nvSpPr>
          <p:cNvPr id="12" name="Text 10"/>
          <p:cNvSpPr txBox="1"/>
          <p:nvPr/>
        </p:nvSpPr>
        <p:spPr>
          <a:xfrm>
            <a:off x="4425696" y="1572768"/>
            <a:ext cx="1700784" cy="1764792"/>
          </a:xfrm>
          <a:prstGeom prst="rect">
            <a:avLst/>
          </a:prstGeom>
          <a:noFill/>
          <a:ln/>
        </p:spPr>
        <p:txBody>
          <a:bodyPr wrap="square" lIns="0" tIns="0" rIns="0" bIns="0" rtlCol="0" anchor="ctr"/>
          <a:lstStyle/>
          <a:p>
            <a:pPr marL="0" indent="0" algn="ctr">
              <a:buNone/>
            </a:pPr>
            <a:r>
              <a:rPr lang="en-US" sz="1200" dirty="0">
                <a:solidFill>
                  <a:srgbClr val="334155"/>
                </a:solidFill>
              </a:rPr>
              <a:t>edit, status, add, commit</a:t>
            </a:r>
            <a:endParaRPr lang="en-US" sz="1200" dirty="0"/>
          </a:p>
        </p:txBody>
      </p:sp>
      <p:sp>
        <p:nvSpPr>
          <p:cNvPr id="13" name="Shape 11"/>
          <p:cNvSpPr/>
          <p:nvPr/>
        </p:nvSpPr>
        <p:spPr>
          <a:xfrm>
            <a:off x="6300216" y="1097280"/>
            <a:ext cx="1847088" cy="2331720"/>
          </a:xfrm>
          <a:prstGeom prst="roundRect">
            <a:avLst>
              <a:gd name="adj" fmla="val 3960"/>
            </a:avLst>
          </a:prstGeom>
          <a:solidFill>
            <a:srgbClr val="F1F5F9"/>
          </a:solidFill>
          <a:ln/>
        </p:spPr>
        <p:txBody>
          <a:bodyPr/>
          <a:lstStyle/>
          <a:p>
            <a:endParaRPr lang="en-IN"/>
          </a:p>
        </p:txBody>
      </p:sp>
      <p:sp>
        <p:nvSpPr>
          <p:cNvPr id="14" name="Text 12"/>
          <p:cNvSpPr txBox="1"/>
          <p:nvPr/>
        </p:nvSpPr>
        <p:spPr>
          <a:xfrm>
            <a:off x="6373368" y="1207008"/>
            <a:ext cx="1700784" cy="365760"/>
          </a:xfrm>
          <a:prstGeom prst="rect">
            <a:avLst/>
          </a:prstGeom>
          <a:noFill/>
          <a:ln/>
        </p:spPr>
        <p:txBody>
          <a:bodyPr wrap="square" lIns="0" tIns="0" rIns="0" bIns="0" rtlCol="0" anchor="ctr"/>
          <a:lstStyle/>
          <a:p>
            <a:pPr marL="0" indent="0" algn="ctr">
              <a:buNone/>
            </a:pPr>
            <a:r>
              <a:rPr lang="en-US" sz="1400" b="1" dirty="0">
                <a:solidFill>
                  <a:srgbClr val="0F172A"/>
                </a:solidFill>
              </a:rPr>
              <a:t>4  Push</a:t>
            </a:r>
            <a:endParaRPr lang="en-US" sz="1400" dirty="0"/>
          </a:p>
        </p:txBody>
      </p:sp>
      <p:sp>
        <p:nvSpPr>
          <p:cNvPr id="15" name="Text 13"/>
          <p:cNvSpPr txBox="1"/>
          <p:nvPr/>
        </p:nvSpPr>
        <p:spPr>
          <a:xfrm>
            <a:off x="6373368" y="1572768"/>
            <a:ext cx="1700784" cy="1764792"/>
          </a:xfrm>
          <a:prstGeom prst="rect">
            <a:avLst/>
          </a:prstGeom>
          <a:noFill/>
          <a:ln/>
        </p:spPr>
        <p:txBody>
          <a:bodyPr wrap="square" lIns="0" tIns="0" rIns="0" bIns="0" rtlCol="0" anchor="ctr"/>
          <a:lstStyle/>
          <a:p>
            <a:pPr marL="0" indent="0" algn="ctr">
              <a:buNone/>
            </a:pPr>
            <a:r>
              <a:rPr lang="en-US" sz="1200" dirty="0">
                <a:solidFill>
                  <a:srgbClr val="334155"/>
                </a:solidFill>
              </a:rPr>
              <a:t>git push -u origin feature-name</a:t>
            </a:r>
            <a:endParaRPr lang="en-US" sz="1200" dirty="0"/>
          </a:p>
        </p:txBody>
      </p:sp>
      <p:sp>
        <p:nvSpPr>
          <p:cNvPr id="16" name="Shape 14"/>
          <p:cNvSpPr/>
          <p:nvPr/>
        </p:nvSpPr>
        <p:spPr>
          <a:xfrm>
            <a:off x="8247888" y="1097280"/>
            <a:ext cx="1847088" cy="2331720"/>
          </a:xfrm>
          <a:prstGeom prst="roundRect">
            <a:avLst>
              <a:gd name="adj" fmla="val 3960"/>
            </a:avLst>
          </a:prstGeom>
          <a:solidFill>
            <a:srgbClr val="F1F5F9"/>
          </a:solidFill>
          <a:ln/>
        </p:spPr>
        <p:txBody>
          <a:bodyPr/>
          <a:lstStyle/>
          <a:p>
            <a:endParaRPr lang="en-IN"/>
          </a:p>
        </p:txBody>
      </p:sp>
      <p:sp>
        <p:nvSpPr>
          <p:cNvPr id="17" name="Text 15"/>
          <p:cNvSpPr txBox="1"/>
          <p:nvPr/>
        </p:nvSpPr>
        <p:spPr>
          <a:xfrm>
            <a:off x="8321040" y="1207008"/>
            <a:ext cx="1700784" cy="365760"/>
          </a:xfrm>
          <a:prstGeom prst="rect">
            <a:avLst/>
          </a:prstGeom>
          <a:noFill/>
          <a:ln/>
        </p:spPr>
        <p:txBody>
          <a:bodyPr wrap="square" lIns="0" tIns="0" rIns="0" bIns="0" rtlCol="0" anchor="ctr"/>
          <a:lstStyle/>
          <a:p>
            <a:pPr marL="0" indent="0" algn="ctr">
              <a:buNone/>
            </a:pPr>
            <a:r>
              <a:rPr lang="en-US" sz="1400" b="1" dirty="0">
                <a:solidFill>
                  <a:srgbClr val="0F172A"/>
                </a:solidFill>
              </a:rPr>
              <a:t>5  Pull request</a:t>
            </a:r>
            <a:endParaRPr lang="en-US" sz="1400" dirty="0"/>
          </a:p>
        </p:txBody>
      </p:sp>
      <p:sp>
        <p:nvSpPr>
          <p:cNvPr id="18" name="Text 16"/>
          <p:cNvSpPr txBox="1"/>
          <p:nvPr/>
        </p:nvSpPr>
        <p:spPr>
          <a:xfrm>
            <a:off x="8321040" y="1572768"/>
            <a:ext cx="1700784" cy="1764792"/>
          </a:xfrm>
          <a:prstGeom prst="rect">
            <a:avLst/>
          </a:prstGeom>
          <a:noFill/>
          <a:ln/>
        </p:spPr>
        <p:txBody>
          <a:bodyPr wrap="square" lIns="0" tIns="0" rIns="0" bIns="0" rtlCol="0" anchor="ctr"/>
          <a:lstStyle/>
          <a:p>
            <a:pPr marL="0" indent="0" algn="ctr">
              <a:buNone/>
            </a:pPr>
            <a:r>
              <a:rPr lang="en-US" sz="1200" dirty="0">
                <a:solidFill>
                  <a:srgbClr val="334155"/>
                </a:solidFill>
              </a:rPr>
              <a:t>Ask to merge into main</a:t>
            </a:r>
            <a:endParaRPr lang="en-US" sz="1200" dirty="0"/>
          </a:p>
        </p:txBody>
      </p:sp>
      <p:sp>
        <p:nvSpPr>
          <p:cNvPr id="19" name="Shape 17"/>
          <p:cNvSpPr/>
          <p:nvPr/>
        </p:nvSpPr>
        <p:spPr>
          <a:xfrm>
            <a:off x="10195560" y="1097280"/>
            <a:ext cx="1847088" cy="2331720"/>
          </a:xfrm>
          <a:prstGeom prst="roundRect">
            <a:avLst>
              <a:gd name="adj" fmla="val 3960"/>
            </a:avLst>
          </a:prstGeom>
          <a:solidFill>
            <a:srgbClr val="0F766E"/>
          </a:solidFill>
          <a:ln/>
        </p:spPr>
        <p:txBody>
          <a:bodyPr/>
          <a:lstStyle/>
          <a:p>
            <a:endParaRPr lang="en-IN"/>
          </a:p>
        </p:txBody>
      </p:sp>
      <p:sp>
        <p:nvSpPr>
          <p:cNvPr id="20" name="Text 18"/>
          <p:cNvSpPr txBox="1"/>
          <p:nvPr/>
        </p:nvSpPr>
        <p:spPr>
          <a:xfrm>
            <a:off x="10268712" y="1207008"/>
            <a:ext cx="1700784" cy="365760"/>
          </a:xfrm>
          <a:prstGeom prst="rect">
            <a:avLst/>
          </a:prstGeom>
          <a:noFill/>
          <a:ln/>
        </p:spPr>
        <p:txBody>
          <a:bodyPr wrap="square" lIns="0" tIns="0" rIns="0" bIns="0" rtlCol="0" anchor="ctr"/>
          <a:lstStyle/>
          <a:p>
            <a:pPr marL="0" indent="0" algn="ctr">
              <a:buNone/>
            </a:pPr>
            <a:r>
              <a:rPr lang="en-US" sz="1400" b="1" dirty="0">
                <a:solidFill>
                  <a:srgbClr val="FFFFFF"/>
                </a:solidFill>
              </a:rPr>
              <a:t>6  Review + merge</a:t>
            </a:r>
            <a:endParaRPr lang="en-US" sz="1400" dirty="0"/>
          </a:p>
        </p:txBody>
      </p:sp>
      <p:sp>
        <p:nvSpPr>
          <p:cNvPr id="21" name="Text 19"/>
          <p:cNvSpPr txBox="1"/>
          <p:nvPr/>
        </p:nvSpPr>
        <p:spPr>
          <a:xfrm>
            <a:off x="10268712" y="1572768"/>
            <a:ext cx="1700784" cy="1764792"/>
          </a:xfrm>
          <a:prstGeom prst="rect">
            <a:avLst/>
          </a:prstGeom>
          <a:noFill/>
          <a:ln/>
        </p:spPr>
        <p:txBody>
          <a:bodyPr wrap="square" lIns="0" tIns="0" rIns="0" bIns="0" rtlCol="0" anchor="ctr"/>
          <a:lstStyle/>
          <a:p>
            <a:pPr marL="0" indent="0" algn="ctr">
              <a:buNone/>
            </a:pPr>
            <a:r>
              <a:rPr lang="en-US" sz="1200" dirty="0">
                <a:solidFill>
                  <a:srgbClr val="CCFBF1"/>
                </a:solidFill>
              </a:rPr>
              <a:t>Human reads; GitHub merges</a:t>
            </a:r>
            <a:endParaRPr lang="en-US" sz="1200" dirty="0"/>
          </a:p>
        </p:txBody>
      </p:sp>
      <p:sp>
        <p:nvSpPr>
          <p:cNvPr id="22" name="Shape 20"/>
          <p:cNvSpPr/>
          <p:nvPr/>
        </p:nvSpPr>
        <p:spPr>
          <a:xfrm>
            <a:off x="502920" y="3703320"/>
            <a:ext cx="11155680" cy="2514600"/>
          </a:xfrm>
          <a:prstGeom prst="roundRect">
            <a:avLst>
              <a:gd name="adj" fmla="val 2909"/>
            </a:avLst>
          </a:prstGeom>
          <a:solidFill>
            <a:srgbClr val="FEF3C7"/>
          </a:solidFill>
          <a:ln/>
        </p:spPr>
        <p:txBody>
          <a:bodyPr/>
          <a:lstStyle/>
          <a:p>
            <a:endParaRPr lang="en-IN"/>
          </a:p>
        </p:txBody>
      </p:sp>
      <p:sp>
        <p:nvSpPr>
          <p:cNvPr id="23" name="Text 21"/>
          <p:cNvSpPr txBox="1"/>
          <p:nvPr/>
        </p:nvSpPr>
        <p:spPr>
          <a:xfrm>
            <a:off x="667512" y="3813048"/>
            <a:ext cx="10826496" cy="292608"/>
          </a:xfrm>
          <a:prstGeom prst="rect">
            <a:avLst/>
          </a:prstGeom>
          <a:noFill/>
          <a:ln/>
        </p:spPr>
        <p:txBody>
          <a:bodyPr wrap="square" lIns="0" tIns="0" rIns="0" bIns="0" rtlCol="0" anchor="ctr"/>
          <a:lstStyle/>
          <a:p>
            <a:pPr marL="0" indent="0">
              <a:buNone/>
            </a:pPr>
            <a:r>
              <a:rPr lang="en-US" sz="1300" b="1" dirty="0">
                <a:solidFill>
                  <a:srgbClr val="B45309"/>
                </a:solidFill>
              </a:rPr>
              <a:t>Do not skip the review</a:t>
            </a:r>
            <a:endParaRPr lang="en-US" sz="1300" dirty="0"/>
          </a:p>
        </p:txBody>
      </p:sp>
      <p:sp>
        <p:nvSpPr>
          <p:cNvPr id="24" name="Text 22"/>
          <p:cNvSpPr txBox="1"/>
          <p:nvPr/>
        </p:nvSpPr>
        <p:spPr>
          <a:xfrm>
            <a:off x="667512" y="4123944"/>
            <a:ext cx="10826496" cy="1965960"/>
          </a:xfrm>
          <a:prstGeom prst="rect">
            <a:avLst/>
          </a:prstGeom>
          <a:noFill/>
          <a:ln/>
        </p:spPr>
        <p:txBody>
          <a:bodyPr wrap="square" lIns="0" tIns="0" rIns="0" bIns="0" rtlCol="0" anchor="t"/>
          <a:lstStyle/>
          <a:p>
            <a:pPr marL="0" indent="0">
              <a:buNone/>
            </a:pPr>
            <a:r>
              <a:rPr lang="en-US" sz="1400" dirty="0">
                <a:solidFill>
                  <a:srgbClr val="334155"/>
                </a:solidFill>
              </a:rPr>
              <a:t>Pushing straight to main is how “it worked on my laptop” becomes everyone’s outage. Protect main in GitHub: require a pull request, dismiss stale reviews, deny force push.</a:t>
            </a:r>
            <a:endParaRPr lang="en-US" sz="1400" dirty="0"/>
          </a:p>
          <a:p>
            <a:pPr marL="0" indent="0">
              <a:buNone/>
            </a:pPr>
            <a:endParaRPr lang="en-US" sz="1400" dirty="0"/>
          </a:p>
          <a:p>
            <a:pPr marL="0" indent="0">
              <a:buNone/>
            </a:pPr>
            <a:r>
              <a:rPr lang="en-US" sz="1400" dirty="0">
                <a:solidFill>
                  <a:srgbClr val="334155"/>
                </a:solidFill>
              </a:rPr>
              <a:t>You can merge your own PR in this class. At work, another person should click Merge.</a:t>
            </a:r>
            <a:endParaRPr lang="en-US" sz="14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origin, clone, fetch, pull, push</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remotes</a:t>
            </a:r>
            <a:endParaRPr lang="en-US" sz="1100" dirty="0"/>
          </a:p>
        </p:txBody>
      </p:sp>
      <p:sp>
        <p:nvSpPr>
          <p:cNvPr id="4" name="Text 2"/>
          <p:cNvSpPr txBox="1"/>
          <p:nvPr/>
        </p:nvSpPr>
        <p:spPr>
          <a:xfrm>
            <a:off x="502920" y="960120"/>
            <a:ext cx="11155680" cy="1234440"/>
          </a:xfrm>
          <a:prstGeom prst="rect">
            <a:avLst/>
          </a:prstGeom>
          <a:noFill/>
          <a:ln/>
        </p:spPr>
        <p:txBody>
          <a:bodyPr wrap="square" lIns="0" tIns="0" rIns="0" bIns="0" rtlCol="0" anchor="t"/>
          <a:lstStyle/>
          <a:p>
            <a:pPr marL="0" indent="0">
              <a:buNone/>
            </a:pPr>
            <a:r>
              <a:rPr lang="en-US" sz="1600" dirty="0">
                <a:solidFill>
                  <a:srgbClr val="334155"/>
                </a:solidFill>
              </a:rPr>
              <a:t>origin is just a nickname. It almost always means “the GitHub URL for this repo”. git remote -v prints it. The first time you create a repo locally, you add origin yourself. clone sets origin for you.</a:t>
            </a:r>
            <a:endParaRPr lang="en-US" sz="1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2286000"/>
          <a:ext cx="11173968" cy="1447800"/>
        </p:xfrm>
        <a:graphic>
          <a:graphicData uri="http://schemas.openxmlformats.org/drawingml/2006/table">
            <a:tbl>
              <a:tblPr/>
              <a:tblGrid>
                <a:gridCol w="22860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493008">
                  <a:extLst>
                    <a:ext uri="{9D8B030D-6E8A-4147-A177-3AD203B41FA5}">
                      <a16:colId xmlns:a16="http://schemas.microsoft.com/office/drawing/2014/main" val="20003"/>
                    </a:ext>
                  </a:extLst>
                </a:gridCol>
              </a:tblGrid>
              <a:tr h="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Command</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Downloads?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Changes your files?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Use when</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git clone URL</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Yes, full history</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Creates a new folder</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First time you get the project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git fetch</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Yes, new commits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No merge yet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You want to look before merging</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git pull</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Yes — merge into current branch</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Your branch should match GitHub</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git push</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No — you upload</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Updates GitHub</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After local commits on your branch</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bl>
          </a:graphicData>
        </a:graphic>
      </p:graphicFrame>
      <p:sp>
        <p:nvSpPr>
          <p:cNvPr id="6" name="Text 3"/>
          <p:cNvSpPr txBox="1"/>
          <p:nvPr/>
        </p:nvSpPr>
        <p:spPr>
          <a:xfrm>
            <a:off x="502920" y="5715000"/>
            <a:ext cx="11155680" cy="502920"/>
          </a:xfrm>
          <a:prstGeom prst="rect">
            <a:avLst/>
          </a:prstGeom>
          <a:noFill/>
          <a:ln/>
        </p:spPr>
        <p:txBody>
          <a:bodyPr wrap="square" lIns="0" tIns="0" rIns="0" bIns="0" rtlCol="0" anchor="ctr"/>
          <a:lstStyle/>
          <a:p>
            <a:pPr marL="0" indent="0">
              <a:buNone/>
            </a:pPr>
            <a:r>
              <a:rPr lang="en-US" sz="1500" dirty="0">
                <a:solidFill>
                  <a:srgbClr val="334155"/>
                </a:solidFill>
              </a:rPr>
              <a:t>Habit: git checkout main &amp;&amp; git pull  before you create a new branch. Otherwise you start from old main.</a:t>
            </a:r>
            <a:endParaRPr lang="en-US" sz="1500" dirty="0"/>
          </a:p>
        </p:txBody>
      </p:sp>
      <p:sp>
        <p:nvSpPr>
          <p:cNvPr id="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Fork versus clone</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interview trap</a:t>
            </a:r>
            <a:endParaRPr lang="en-US" sz="1100" dirty="0"/>
          </a:p>
        </p:txBody>
      </p:sp>
      <p:sp>
        <p:nvSpPr>
          <p:cNvPr id="4" name="Shape 2"/>
          <p:cNvSpPr/>
          <p:nvPr/>
        </p:nvSpPr>
        <p:spPr>
          <a:xfrm>
            <a:off x="502920" y="1005840"/>
            <a:ext cx="5532120" cy="5212080"/>
          </a:xfrm>
          <a:prstGeom prst="roundRect">
            <a:avLst>
              <a:gd name="adj" fmla="val 1404"/>
            </a:avLst>
          </a:prstGeom>
          <a:solidFill>
            <a:srgbClr val="F1F5F9"/>
          </a:solidFill>
          <a:ln/>
        </p:spPr>
        <p:txBody>
          <a:bodyPr/>
          <a:lstStyle/>
          <a:p>
            <a:endParaRPr lang="en-IN"/>
          </a:p>
        </p:txBody>
      </p:sp>
      <p:sp>
        <p:nvSpPr>
          <p:cNvPr id="5" name="Text 3"/>
          <p:cNvSpPr txBox="1"/>
          <p:nvPr/>
        </p:nvSpPr>
        <p:spPr>
          <a:xfrm>
            <a:off x="667512" y="1115568"/>
            <a:ext cx="5202936" cy="292608"/>
          </a:xfrm>
          <a:prstGeom prst="rect">
            <a:avLst/>
          </a:prstGeom>
          <a:noFill/>
          <a:ln/>
        </p:spPr>
        <p:txBody>
          <a:bodyPr wrap="square" lIns="0" tIns="0" rIns="0" bIns="0" rtlCol="0" anchor="ctr"/>
          <a:lstStyle/>
          <a:p>
            <a:pPr marL="0" indent="0">
              <a:buNone/>
            </a:pPr>
            <a:r>
              <a:rPr lang="en-US" sz="1300" b="1" dirty="0">
                <a:solidFill>
                  <a:srgbClr val="0F172A"/>
                </a:solidFill>
              </a:rPr>
              <a:t>Clone</a:t>
            </a:r>
            <a:endParaRPr lang="en-US" sz="1300" dirty="0"/>
          </a:p>
        </p:txBody>
      </p:sp>
      <p:sp>
        <p:nvSpPr>
          <p:cNvPr id="6" name="Text 4"/>
          <p:cNvSpPr txBox="1"/>
          <p:nvPr/>
        </p:nvSpPr>
        <p:spPr>
          <a:xfrm>
            <a:off x="667512" y="1426464"/>
            <a:ext cx="5202936" cy="4663440"/>
          </a:xfrm>
          <a:prstGeom prst="rect">
            <a:avLst/>
          </a:prstGeom>
          <a:noFill/>
          <a:ln/>
        </p:spPr>
        <p:txBody>
          <a:bodyPr wrap="square" lIns="0" tIns="0" rIns="0" bIns="0" rtlCol="0" anchor="t"/>
          <a:lstStyle/>
          <a:p>
            <a:pPr marL="0" indent="0">
              <a:buNone/>
            </a:pPr>
            <a:r>
              <a:rPr lang="en-US" sz="1400" dirty="0">
                <a:solidFill>
                  <a:srgbClr val="334155"/>
                </a:solidFill>
              </a:rPr>
              <a:t>Copies a repository onto your laptop.</a:t>
            </a:r>
            <a:endParaRPr lang="en-US" sz="1400" dirty="0"/>
          </a:p>
          <a:p>
            <a:pPr marL="0" indent="0">
              <a:buNone/>
            </a:pPr>
            <a:endParaRPr lang="en-US" sz="1400" dirty="0"/>
          </a:p>
          <a:p>
            <a:pPr marL="0" indent="0">
              <a:buNone/>
            </a:pPr>
            <a:r>
              <a:rPr lang="en-US" sz="1400" dirty="0">
                <a:solidFill>
                  <a:srgbClr val="334155"/>
                </a:solidFill>
              </a:rPr>
              <a:t>If it is your repo, you can push.</a:t>
            </a:r>
            <a:endParaRPr lang="en-US" sz="1400" dirty="0"/>
          </a:p>
          <a:p>
            <a:pPr marL="0" indent="0">
              <a:buNone/>
            </a:pPr>
            <a:r>
              <a:rPr lang="en-US" sz="1400" dirty="0">
                <a:solidFill>
                  <a:srgbClr val="334155"/>
                </a:solidFill>
              </a:rPr>
              <a:t>If it is someone else’s and you are not a collaborator, push will be denied.</a:t>
            </a:r>
            <a:endParaRPr lang="en-US" sz="1400" dirty="0"/>
          </a:p>
          <a:p>
            <a:pPr marL="0" indent="0">
              <a:buNone/>
            </a:pPr>
            <a:endParaRPr lang="en-US" sz="1400" dirty="0"/>
          </a:p>
          <a:p>
            <a:pPr marL="0" indent="0">
              <a:buNone/>
            </a:pPr>
            <a:r>
              <a:rPr lang="en-US" sz="1400" dirty="0">
                <a:solidFill>
                  <a:srgbClr val="334155"/>
                </a:solidFill>
              </a:rPr>
              <a:t>Command: git clone URL</a:t>
            </a:r>
            <a:endParaRPr lang="en-US" sz="1400" dirty="0"/>
          </a:p>
        </p:txBody>
      </p:sp>
      <p:sp>
        <p:nvSpPr>
          <p:cNvPr id="7" name="Shape 5"/>
          <p:cNvSpPr/>
          <p:nvPr/>
        </p:nvSpPr>
        <p:spPr>
          <a:xfrm>
            <a:off x="6217920" y="1005840"/>
            <a:ext cx="5440680" cy="5212080"/>
          </a:xfrm>
          <a:prstGeom prst="roundRect">
            <a:avLst>
              <a:gd name="adj" fmla="val 1404"/>
            </a:avLst>
          </a:prstGeom>
          <a:solidFill>
            <a:srgbClr val="ECFDF5"/>
          </a:solidFill>
          <a:ln/>
        </p:spPr>
        <p:txBody>
          <a:bodyPr/>
          <a:lstStyle/>
          <a:p>
            <a:endParaRPr lang="en-IN"/>
          </a:p>
        </p:txBody>
      </p:sp>
      <p:sp>
        <p:nvSpPr>
          <p:cNvPr id="8" name="Text 6"/>
          <p:cNvSpPr txBox="1"/>
          <p:nvPr/>
        </p:nvSpPr>
        <p:spPr>
          <a:xfrm>
            <a:off x="6382512" y="1115568"/>
            <a:ext cx="5111496" cy="292608"/>
          </a:xfrm>
          <a:prstGeom prst="rect">
            <a:avLst/>
          </a:prstGeom>
          <a:noFill/>
          <a:ln/>
        </p:spPr>
        <p:txBody>
          <a:bodyPr wrap="square" lIns="0" tIns="0" rIns="0" bIns="0" rtlCol="0" anchor="ctr"/>
          <a:lstStyle/>
          <a:p>
            <a:pPr marL="0" indent="0">
              <a:buNone/>
            </a:pPr>
            <a:r>
              <a:rPr lang="en-US" sz="1300" b="1" dirty="0">
                <a:solidFill>
                  <a:srgbClr val="0F766E"/>
                </a:solidFill>
              </a:rPr>
              <a:t>Fork</a:t>
            </a:r>
            <a:endParaRPr lang="en-US" sz="1300" dirty="0"/>
          </a:p>
        </p:txBody>
      </p:sp>
      <p:sp>
        <p:nvSpPr>
          <p:cNvPr id="9" name="Text 7"/>
          <p:cNvSpPr txBox="1"/>
          <p:nvPr/>
        </p:nvSpPr>
        <p:spPr>
          <a:xfrm>
            <a:off x="6382512" y="1426464"/>
            <a:ext cx="5111496" cy="4663440"/>
          </a:xfrm>
          <a:prstGeom prst="rect">
            <a:avLst/>
          </a:prstGeom>
          <a:noFill/>
          <a:ln/>
        </p:spPr>
        <p:txBody>
          <a:bodyPr wrap="square" lIns="0" tIns="0" rIns="0" bIns="0" rtlCol="0" anchor="t"/>
          <a:lstStyle/>
          <a:p>
            <a:pPr marL="0" indent="0">
              <a:buNone/>
            </a:pPr>
            <a:r>
              <a:rPr lang="en-US" sz="1400" dirty="0">
                <a:solidFill>
                  <a:srgbClr val="334155"/>
                </a:solidFill>
              </a:rPr>
              <a:t>A GitHub button. It copies the repo under *your* GitHub user.</a:t>
            </a:r>
            <a:endParaRPr lang="en-US" sz="1400" dirty="0"/>
          </a:p>
          <a:p>
            <a:pPr marL="0" indent="0">
              <a:buNone/>
            </a:pPr>
            <a:endParaRPr lang="en-US" sz="1400" dirty="0"/>
          </a:p>
          <a:p>
            <a:pPr marL="0" indent="0">
              <a:buNone/>
            </a:pPr>
            <a:r>
              <a:rPr lang="en-US" sz="1400" dirty="0">
                <a:solidFill>
                  <a:srgbClr val="334155"/>
                </a:solidFill>
              </a:rPr>
              <a:t>You clone *your fork*, push to *your fork*, then open a pull request back to the original project.</a:t>
            </a:r>
            <a:endParaRPr lang="en-US" sz="1400" dirty="0"/>
          </a:p>
          <a:p>
            <a:pPr marL="0" indent="0">
              <a:buNone/>
            </a:pPr>
            <a:endParaRPr lang="en-US" sz="1400" dirty="0"/>
          </a:p>
          <a:p>
            <a:pPr marL="0" indent="0">
              <a:buNone/>
            </a:pPr>
            <a:r>
              <a:rPr lang="en-US" sz="1400" dirty="0">
                <a:solidFill>
                  <a:srgbClr val="334155"/>
                </a:solidFill>
              </a:rPr>
              <a:t>Used for open source, or when you do not have write access.</a:t>
            </a:r>
            <a:endParaRPr lang="en-US" sz="14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Pull request, step by step</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PR</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005840"/>
          <a:ext cx="11173968" cy="1828800"/>
        </p:xfrm>
        <a:graphic>
          <a:graphicData uri="http://schemas.openxmlformats.org/drawingml/2006/table">
            <a:tbl>
              <a:tblPr/>
              <a:tblGrid>
                <a:gridCol w="1097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8247888">
                  <a:extLst>
                    <a:ext uri="{9D8B030D-6E8A-4147-A177-3AD203B41FA5}">
                      <a16:colId xmlns:a16="http://schemas.microsoft.com/office/drawing/2014/main" val="20002"/>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Where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What you do</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Laptop</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Branch, commits, git push -u origin add-my-note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GitHub</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Yellow banner or Pull requests → New. Base = main. Compare = your branch.</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GitHub</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Title: what changed. Body: why. Link an issue if you have one.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GitHub</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Request reviewers. Wait. Answer comments with new commits on the same branch.</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GitHub</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Merge. Then delete the remote branch. git checkout main &amp;&amp; git pull locally.</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Protecting main and code review</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main is not a scratchpad</a:t>
            </a:r>
            <a:endParaRPr lang="en-US" sz="1100" dirty="0"/>
          </a:p>
        </p:txBody>
      </p:sp>
      <p:sp>
        <p:nvSpPr>
          <p:cNvPr id="4" name="Text 2"/>
          <p:cNvSpPr txBox="1"/>
          <p:nvPr/>
        </p:nvSpPr>
        <p:spPr>
          <a:xfrm>
            <a:off x="502920" y="987552"/>
            <a:ext cx="11155680" cy="1325880"/>
          </a:xfrm>
          <a:prstGeom prst="rect">
            <a:avLst/>
          </a:prstGeom>
          <a:noFill/>
          <a:ln/>
        </p:spPr>
        <p:txBody>
          <a:bodyPr wrap="square" lIns="0" tIns="0" rIns="0" bIns="0" rtlCol="0" anchor="t"/>
          <a:lstStyle/>
          <a:p>
            <a:pPr marL="0" indent="0">
              <a:buNone/>
            </a:pPr>
            <a:r>
              <a:rPr lang="en-US" sz="1600" dirty="0">
                <a:solidFill>
                  <a:srgbClr val="334155"/>
                </a:solidFill>
              </a:rPr>
              <a:t>On GitHub: Settings → Branches → Add rule for main. Require a pull request. Disallow force pushes. Optionally require one approval. That is “protecting the main branch” from the curriculum.</a:t>
            </a:r>
            <a:endParaRPr lang="en-US" sz="1600" dirty="0"/>
          </a:p>
        </p:txBody>
      </p:sp>
      <p:sp>
        <p:nvSpPr>
          <p:cNvPr id="5" name="Shape 3"/>
          <p:cNvSpPr/>
          <p:nvPr/>
        </p:nvSpPr>
        <p:spPr>
          <a:xfrm>
            <a:off x="502920" y="2468880"/>
            <a:ext cx="5532120" cy="3749040"/>
          </a:xfrm>
          <a:prstGeom prst="roundRect">
            <a:avLst>
              <a:gd name="adj" fmla="val 1951"/>
            </a:avLst>
          </a:prstGeom>
          <a:solidFill>
            <a:srgbClr val="ECFDF5"/>
          </a:solidFill>
          <a:ln/>
        </p:spPr>
        <p:txBody>
          <a:bodyPr/>
          <a:lstStyle/>
          <a:p>
            <a:endParaRPr lang="en-IN"/>
          </a:p>
        </p:txBody>
      </p:sp>
      <p:sp>
        <p:nvSpPr>
          <p:cNvPr id="6" name="Text 4"/>
          <p:cNvSpPr txBox="1"/>
          <p:nvPr/>
        </p:nvSpPr>
        <p:spPr>
          <a:xfrm>
            <a:off x="667512" y="2578608"/>
            <a:ext cx="5202936" cy="292608"/>
          </a:xfrm>
          <a:prstGeom prst="rect">
            <a:avLst/>
          </a:prstGeom>
          <a:noFill/>
          <a:ln/>
        </p:spPr>
        <p:txBody>
          <a:bodyPr wrap="square" lIns="0" tIns="0" rIns="0" bIns="0" rtlCol="0" anchor="ctr"/>
          <a:lstStyle/>
          <a:p>
            <a:pPr marL="0" indent="0">
              <a:buNone/>
            </a:pPr>
            <a:r>
              <a:rPr lang="en-US" sz="1300" b="1" dirty="0">
                <a:solidFill>
                  <a:srgbClr val="0F766E"/>
                </a:solidFill>
              </a:rPr>
              <a:t>Code review asks</a:t>
            </a:r>
            <a:endParaRPr lang="en-US" sz="1300" dirty="0"/>
          </a:p>
        </p:txBody>
      </p:sp>
      <p:sp>
        <p:nvSpPr>
          <p:cNvPr id="7" name="Text 5"/>
          <p:cNvSpPr txBox="1"/>
          <p:nvPr/>
        </p:nvSpPr>
        <p:spPr>
          <a:xfrm>
            <a:off x="667512" y="2889504"/>
            <a:ext cx="5202936" cy="3200400"/>
          </a:xfrm>
          <a:prstGeom prst="rect">
            <a:avLst/>
          </a:prstGeom>
          <a:noFill/>
          <a:ln/>
        </p:spPr>
        <p:txBody>
          <a:bodyPr wrap="square" lIns="0" tIns="0" rIns="0" bIns="0" rtlCol="0" anchor="t"/>
          <a:lstStyle/>
          <a:p>
            <a:pPr marL="0" indent="0">
              <a:buNone/>
            </a:pPr>
            <a:r>
              <a:rPr lang="en-US" sz="1400" dirty="0">
                <a:solidFill>
                  <a:srgbClr val="334155"/>
                </a:solidFill>
              </a:rPr>
              <a:t>What changed? Why? How do we know it works? Did they commit a secret? Is the commit message usable?</a:t>
            </a:r>
            <a:endParaRPr lang="en-US" sz="1400" dirty="0"/>
          </a:p>
          <a:p>
            <a:pPr marL="0" indent="0">
              <a:buNone/>
            </a:pPr>
            <a:endParaRPr lang="en-US" sz="1400" dirty="0"/>
          </a:p>
          <a:p>
            <a:pPr marL="0" indent="0">
              <a:buNone/>
            </a:pPr>
            <a:r>
              <a:rPr lang="en-US" sz="1400" dirty="0">
                <a:solidFill>
                  <a:srgbClr val="334155"/>
                </a:solidFill>
              </a:rPr>
              <a:t>You are not attacking the person. You are protecting main.</a:t>
            </a:r>
            <a:endParaRPr lang="en-US" sz="1400" dirty="0"/>
          </a:p>
        </p:txBody>
      </p:sp>
      <p:sp>
        <p:nvSpPr>
          <p:cNvPr id="8" name="Shape 6"/>
          <p:cNvSpPr/>
          <p:nvPr/>
        </p:nvSpPr>
        <p:spPr>
          <a:xfrm>
            <a:off x="6217920" y="2468880"/>
            <a:ext cx="5440680" cy="3749040"/>
          </a:xfrm>
          <a:prstGeom prst="roundRect">
            <a:avLst>
              <a:gd name="adj" fmla="val 1951"/>
            </a:avLst>
          </a:prstGeom>
          <a:solidFill>
            <a:srgbClr val="F1F5F9"/>
          </a:solidFill>
          <a:ln/>
        </p:spPr>
        <p:txBody>
          <a:bodyPr/>
          <a:lstStyle/>
          <a:p>
            <a:endParaRPr lang="en-IN"/>
          </a:p>
        </p:txBody>
      </p:sp>
      <p:sp>
        <p:nvSpPr>
          <p:cNvPr id="9" name="Text 7"/>
          <p:cNvSpPr txBox="1"/>
          <p:nvPr/>
        </p:nvSpPr>
        <p:spPr>
          <a:xfrm>
            <a:off x="6382512" y="2578608"/>
            <a:ext cx="5111496" cy="292608"/>
          </a:xfrm>
          <a:prstGeom prst="rect">
            <a:avLst/>
          </a:prstGeom>
          <a:noFill/>
          <a:ln/>
        </p:spPr>
        <p:txBody>
          <a:bodyPr wrap="square" lIns="0" tIns="0" rIns="0" bIns="0" rtlCol="0" anchor="ctr"/>
          <a:lstStyle/>
          <a:p>
            <a:pPr marL="0" indent="0">
              <a:buNone/>
            </a:pPr>
            <a:r>
              <a:rPr lang="en-US" sz="1300" b="1" dirty="0">
                <a:solidFill>
                  <a:srgbClr val="0F172A"/>
                </a:solidFill>
              </a:rPr>
              <a:t>Merge buttons (names only)</a:t>
            </a:r>
            <a:endParaRPr lang="en-US" sz="1300" dirty="0"/>
          </a:p>
        </p:txBody>
      </p:sp>
      <p:sp>
        <p:nvSpPr>
          <p:cNvPr id="10" name="Text 8"/>
          <p:cNvSpPr txBox="1"/>
          <p:nvPr/>
        </p:nvSpPr>
        <p:spPr>
          <a:xfrm>
            <a:off x="6382512" y="2889504"/>
            <a:ext cx="5111496" cy="3200400"/>
          </a:xfrm>
          <a:prstGeom prst="rect">
            <a:avLst/>
          </a:prstGeom>
          <a:noFill/>
          <a:ln/>
        </p:spPr>
        <p:txBody>
          <a:bodyPr wrap="square" lIns="0" tIns="0" rIns="0" bIns="0" rtlCol="0" anchor="t"/>
          <a:lstStyle/>
          <a:p>
            <a:pPr marL="0" indent="0">
              <a:buNone/>
            </a:pPr>
            <a:r>
              <a:rPr lang="en-US" sz="1400" dirty="0">
                <a:solidFill>
                  <a:srgbClr val="334155"/>
                </a:solidFill>
              </a:rPr>
              <a:t>Create a merge commit — keeps all history.</a:t>
            </a:r>
            <a:endParaRPr lang="en-US" sz="1400" dirty="0"/>
          </a:p>
          <a:p>
            <a:pPr marL="0" indent="0">
              <a:buNone/>
            </a:pPr>
            <a:r>
              <a:rPr lang="en-US" sz="1400" dirty="0">
                <a:solidFill>
                  <a:srgbClr val="334155"/>
                </a:solidFill>
              </a:rPr>
              <a:t>Squash — one commit on main.</a:t>
            </a:r>
            <a:endParaRPr lang="en-US" sz="1400" dirty="0"/>
          </a:p>
          <a:p>
            <a:pPr marL="0" indent="0">
              <a:buNone/>
            </a:pPr>
            <a:r>
              <a:rPr lang="en-US" sz="1400" dirty="0">
                <a:solidFill>
                  <a:srgbClr val="334155"/>
                </a:solidFill>
              </a:rPr>
              <a:t>Rebase and merge — later lecture.</a:t>
            </a:r>
            <a:endParaRPr lang="en-US" sz="1400" dirty="0"/>
          </a:p>
          <a:p>
            <a:pPr marL="0" indent="0">
              <a:buNone/>
            </a:pPr>
            <a:endParaRPr lang="en-US" sz="1400" dirty="0"/>
          </a:p>
          <a:p>
            <a:pPr marL="0" indent="0">
              <a:buNone/>
            </a:pPr>
            <a:r>
              <a:rPr lang="en-US" sz="1400" dirty="0">
                <a:solidFill>
                  <a:srgbClr val="334155"/>
                </a:solidFill>
              </a:rPr>
              <a:t>For class, “Create a merge commit” is fine. Do not panic at the names.</a:t>
            </a:r>
            <a:endParaRPr lang="en-US" sz="14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Merge conflict — Git will not guess</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conflict</a:t>
            </a:r>
            <a:endParaRPr lang="en-US" sz="1100" dirty="0"/>
          </a:p>
        </p:txBody>
      </p:sp>
      <p:sp>
        <p:nvSpPr>
          <p:cNvPr id="4" name="Text 2"/>
          <p:cNvSpPr txBox="1"/>
          <p:nvPr/>
        </p:nvSpPr>
        <p:spPr>
          <a:xfrm>
            <a:off x="502920" y="960120"/>
            <a:ext cx="11155680" cy="1143000"/>
          </a:xfrm>
          <a:prstGeom prst="rect">
            <a:avLst/>
          </a:prstGeom>
          <a:noFill/>
          <a:ln/>
        </p:spPr>
        <p:txBody>
          <a:bodyPr wrap="square" lIns="0" tIns="0" rIns="0" bIns="0" rtlCol="0" anchor="t"/>
          <a:lstStyle/>
          <a:p>
            <a:pPr marL="0" indent="0">
              <a:buNone/>
            </a:pPr>
            <a:r>
              <a:rPr lang="en-US" sz="1600" dirty="0">
                <a:solidFill>
                  <a:srgbClr val="334155"/>
                </a:solidFill>
              </a:rPr>
              <a:t>A conflict happens when two branches changed the same lines. Git inserts markers. You edit the file to the final text, git add, and commit. The lab script shows this on purpose.</a:t>
            </a:r>
            <a:endParaRPr lang="en-US" sz="1600" dirty="0"/>
          </a:p>
        </p:txBody>
      </p:sp>
      <p:sp>
        <p:nvSpPr>
          <p:cNvPr id="5" name="Shape 3"/>
          <p:cNvSpPr/>
          <p:nvPr/>
        </p:nvSpPr>
        <p:spPr>
          <a:xfrm>
            <a:off x="502920" y="2194560"/>
            <a:ext cx="11155680" cy="4023360"/>
          </a:xfrm>
          <a:prstGeom prst="roundRect">
            <a:avLst>
              <a:gd name="adj" fmla="val 1818"/>
            </a:avLst>
          </a:prstGeom>
          <a:solidFill>
            <a:srgbClr val="0F172A"/>
          </a:solidFill>
          <a:ln/>
        </p:spPr>
        <p:txBody>
          <a:bodyPr/>
          <a:lstStyle/>
          <a:p>
            <a:endParaRPr lang="en-IN"/>
          </a:p>
        </p:txBody>
      </p:sp>
      <p:sp>
        <p:nvSpPr>
          <p:cNvPr id="6" name="Text 4"/>
          <p:cNvSpPr txBox="1"/>
          <p:nvPr/>
        </p:nvSpPr>
        <p:spPr>
          <a:xfrm>
            <a:off x="667512" y="2304288"/>
            <a:ext cx="10826496" cy="292608"/>
          </a:xfrm>
          <a:prstGeom prst="rect">
            <a:avLst/>
          </a:prstGeom>
          <a:noFill/>
          <a:ln/>
        </p:spPr>
        <p:txBody>
          <a:bodyPr wrap="square" lIns="0" tIns="0" rIns="0" bIns="0" rtlCol="0" anchor="ctr"/>
          <a:lstStyle/>
          <a:p>
            <a:pPr marL="0" indent="0">
              <a:buNone/>
            </a:pPr>
            <a:r>
              <a:rPr lang="en-US" sz="1300" b="1" dirty="0">
                <a:solidFill>
                  <a:srgbClr val="FFFFFF"/>
                </a:solidFill>
              </a:rPr>
              <a:t>What the file looks like</a:t>
            </a:r>
            <a:endParaRPr lang="en-US" sz="1300" dirty="0"/>
          </a:p>
        </p:txBody>
      </p:sp>
      <p:sp>
        <p:nvSpPr>
          <p:cNvPr id="7" name="Text 5"/>
          <p:cNvSpPr txBox="1"/>
          <p:nvPr/>
        </p:nvSpPr>
        <p:spPr>
          <a:xfrm>
            <a:off x="667512" y="2615184"/>
            <a:ext cx="10826496" cy="3474720"/>
          </a:xfrm>
          <a:prstGeom prst="rect">
            <a:avLst/>
          </a:prstGeom>
          <a:noFill/>
          <a:ln/>
        </p:spPr>
        <p:txBody>
          <a:bodyPr wrap="square" lIns="0" tIns="0" rIns="0" bIns="0" rtlCol="0" anchor="t"/>
          <a:lstStyle/>
          <a:p>
            <a:pPr marL="0" indent="0">
              <a:buNone/>
            </a:pPr>
            <a:r>
              <a:rPr lang="en-US" sz="1400" dirty="0">
                <a:solidFill>
                  <a:srgbClr val="94A3B8"/>
                </a:solidFill>
              </a:rPr>
              <a:t>&lt;&lt;&lt;&lt;&lt;&lt;&lt; HEAD</a:t>
            </a:r>
            <a:endParaRPr lang="en-US" sz="1400" dirty="0"/>
          </a:p>
          <a:p>
            <a:pPr marL="0" indent="0">
              <a:buNone/>
            </a:pPr>
            <a:r>
              <a:rPr lang="en-US" sz="1400" dirty="0">
                <a:solidFill>
                  <a:srgbClr val="94A3B8"/>
                </a:solidFill>
              </a:rPr>
              <a:t>version A</a:t>
            </a:r>
            <a:endParaRPr lang="en-US" sz="1400" dirty="0"/>
          </a:p>
          <a:p>
            <a:pPr marL="0" indent="0">
              <a:buNone/>
            </a:pPr>
            <a:r>
              <a:rPr lang="en-US" sz="1400" dirty="0">
                <a:solidFill>
                  <a:srgbClr val="94A3B8"/>
                </a:solidFill>
              </a:rPr>
              <a:t>=======</a:t>
            </a:r>
            <a:endParaRPr lang="en-US" sz="1400" dirty="0"/>
          </a:p>
          <a:p>
            <a:pPr marL="0" indent="0">
              <a:buNone/>
            </a:pPr>
            <a:r>
              <a:rPr lang="en-US" sz="1400" dirty="0">
                <a:solidFill>
                  <a:srgbClr val="94A3B8"/>
                </a:solidFill>
              </a:rPr>
              <a:t>version B</a:t>
            </a:r>
            <a:endParaRPr lang="en-US" sz="1400" dirty="0"/>
          </a:p>
          <a:p>
            <a:pPr marL="0" indent="0">
              <a:buNone/>
            </a:pPr>
            <a:r>
              <a:rPr lang="en-US" sz="1400" dirty="0">
                <a:solidFill>
                  <a:srgbClr val="94A3B8"/>
                </a:solidFill>
              </a:rPr>
              <a:t>&gt;&gt;&gt;&gt;&gt;&gt;&gt; branch-b</a:t>
            </a:r>
            <a:endParaRPr lang="en-US" sz="1400" dirty="0"/>
          </a:p>
          <a:p>
            <a:pPr marL="0" indent="0">
              <a:buNone/>
            </a:pPr>
            <a:endParaRPr lang="en-US" sz="1400" dirty="0"/>
          </a:p>
          <a:p>
            <a:pPr marL="0" indent="0">
              <a:buNone/>
            </a:pPr>
            <a:r>
              <a:rPr lang="en-US" sz="1400" dirty="0">
                <a:solidFill>
                  <a:srgbClr val="94A3B8"/>
                </a:solidFill>
              </a:rPr>
              <a:t>Delete the markers. Keep version A, or B, or a mix that is correct. Then:</a:t>
            </a:r>
            <a:endParaRPr lang="en-US" sz="1400" dirty="0"/>
          </a:p>
          <a:p>
            <a:pPr marL="0" indent="0">
              <a:buNone/>
            </a:pPr>
            <a:r>
              <a:rPr lang="en-US" sz="1400" dirty="0">
                <a:solidFill>
                  <a:srgbClr val="94A3B8"/>
                </a:solidFill>
              </a:rPr>
              <a:t>git add message.txt</a:t>
            </a:r>
            <a:endParaRPr lang="en-US" sz="1400" dirty="0"/>
          </a:p>
          <a:p>
            <a:pPr marL="0" indent="0">
              <a:buNone/>
            </a:pPr>
            <a:r>
              <a:rPr lang="en-US" sz="1400" dirty="0">
                <a:solidFill>
                  <a:srgbClr val="94A3B8"/>
                </a:solidFill>
              </a:rPr>
              <a:t>git commit -m "Resolve conflict by keeping version A"</a:t>
            </a:r>
            <a:endParaRPr lang="en-US" sz="14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286000"/>
            <a:ext cx="10972800" cy="1097280"/>
          </a:xfrm>
          <a:prstGeom prst="rect">
            <a:avLst/>
          </a:prstGeom>
          <a:noFill/>
          <a:ln/>
        </p:spPr>
        <p:txBody>
          <a:bodyPr wrap="square" lIns="0" tIns="0" rIns="0" bIns="0" rtlCol="0"/>
          <a:lstStyle/>
          <a:p>
            <a:r>
              <a:rPr lang="en-US" sz="3200" b="1" dirty="0">
                <a:solidFill>
                  <a:schemeClr val="bg1"/>
                </a:solidFill>
              </a:rPr>
              <a:t>Lab: </a:t>
            </a:r>
            <a:r>
              <a:rPr lang="en-US" dirty="0"/>
              <a:t>git-demo-instructions.txt </a:t>
            </a:r>
            <a:r>
              <a:rPr lang="en-US" sz="3200" b="1" dirty="0">
                <a:solidFill>
                  <a:schemeClr val="bg1"/>
                </a:solidFill>
              </a:rPr>
              <a:t>then a GitHub PR</a:t>
            </a:r>
            <a:endParaRPr lang="en-US" sz="3200" dirty="0"/>
          </a:p>
        </p:txBody>
      </p:sp>
      <p:sp>
        <p:nvSpPr>
          <p:cNvPr id="3" name="Text 0"/>
          <p:cNvSpPr>
            <a:spLocks noGrp="1"/>
          </p:cNvSpPr>
          <p:nvPr>
            <p:ph type="body" idx="101" hasCustomPrompt="1"/>
          </p:nvPr>
        </p:nvSpPr>
        <p:spPr>
          <a:xfrm>
            <a:off x="640080" y="3474720"/>
            <a:ext cx="10515600" cy="1371600"/>
          </a:xfrm>
          <a:prstGeom prst="rect">
            <a:avLst/>
          </a:prstGeom>
          <a:noFill/>
          <a:ln/>
        </p:spPr>
        <p:txBody>
          <a:bodyPr wrap="square" lIns="0" tIns="0" rIns="0" bIns="0" rtlCol="0"/>
          <a:lstStyle/>
          <a:p>
            <a:pPr marL="0" indent="0">
              <a:buNone/>
            </a:pPr>
            <a:r>
              <a:rPr lang="en-US" sz="1800" dirty="0">
                <a:solidFill>
                  <a:srgbClr val="94A3B8"/>
                </a:solidFill>
              </a:rPr>
              <a:t>Local Git first. Browser second.</a:t>
            </a:r>
            <a:endParaRPr lang="en-US" sz="18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Part A — run the script</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local</a:t>
            </a:r>
            <a:endParaRPr lang="en-US" sz="1100" dirty="0"/>
          </a:p>
        </p:txBody>
      </p:sp>
      <p:sp>
        <p:nvSpPr>
          <p:cNvPr id="4" name="Shape 2"/>
          <p:cNvSpPr/>
          <p:nvPr/>
        </p:nvSpPr>
        <p:spPr>
          <a:xfrm>
            <a:off x="502920" y="1051560"/>
            <a:ext cx="11155680" cy="5166360"/>
          </a:xfrm>
          <a:prstGeom prst="roundRect">
            <a:avLst>
              <a:gd name="adj" fmla="val 1416"/>
            </a:avLst>
          </a:prstGeom>
          <a:solidFill>
            <a:srgbClr val="0F172A"/>
          </a:solidFill>
          <a:ln/>
        </p:spPr>
        <p:txBody>
          <a:bodyPr/>
          <a:lstStyle/>
          <a:p>
            <a:endParaRPr lang="en-IN"/>
          </a:p>
        </p:txBody>
      </p:sp>
      <p:sp>
        <p:nvSpPr>
          <p:cNvPr id="5" name="Text 3"/>
          <p:cNvSpPr txBox="1"/>
          <p:nvPr/>
        </p:nvSpPr>
        <p:spPr>
          <a:xfrm>
            <a:off x="667512" y="1161288"/>
            <a:ext cx="10826496" cy="292608"/>
          </a:xfrm>
          <a:prstGeom prst="rect">
            <a:avLst/>
          </a:prstGeom>
          <a:noFill/>
          <a:ln/>
        </p:spPr>
        <p:txBody>
          <a:bodyPr wrap="square" lIns="0" tIns="0" rIns="0" bIns="0" rtlCol="0" anchor="ctr"/>
          <a:lstStyle/>
          <a:p>
            <a:pPr marL="0" indent="0">
              <a:buNone/>
            </a:pPr>
            <a:r>
              <a:rPr lang="en-US" sz="1300" b="1" dirty="0">
                <a:solidFill>
                  <a:srgbClr val="FFFFFF"/>
                </a:solidFill>
              </a:rPr>
              <a:t>Type this</a:t>
            </a:r>
            <a:endParaRPr lang="en-US" sz="1300" dirty="0"/>
          </a:p>
        </p:txBody>
      </p:sp>
      <p:sp>
        <p:nvSpPr>
          <p:cNvPr id="6" name="Text 4"/>
          <p:cNvSpPr txBox="1"/>
          <p:nvPr/>
        </p:nvSpPr>
        <p:spPr>
          <a:xfrm>
            <a:off x="667512" y="1472184"/>
            <a:ext cx="10826496" cy="4617720"/>
          </a:xfrm>
          <a:prstGeom prst="rect">
            <a:avLst/>
          </a:prstGeom>
          <a:noFill/>
          <a:ln/>
        </p:spPr>
        <p:txBody>
          <a:bodyPr wrap="square" lIns="0" tIns="0" rIns="0" bIns="0" rtlCol="0" anchor="t"/>
          <a:lstStyle/>
          <a:p>
            <a:pPr marL="0" indent="0">
              <a:buNone/>
            </a:pPr>
            <a:r>
              <a:rPr lang="en-US" sz="1400" dirty="0">
                <a:solidFill>
                  <a:srgbClr val="94A3B8"/>
                </a:solidFill>
              </a:rPr>
              <a:t>cd lec-02/codebase</a:t>
            </a:r>
            <a:endParaRPr lang="en-US" sz="1400" dirty="0"/>
          </a:p>
          <a:p>
            <a:r>
              <a:rPr lang="en-US" sz="1400" dirty="0">
                <a:solidFill>
                  <a:srgbClr val="94A3B8"/>
                </a:solidFill>
              </a:rPr>
              <a:t>Run all commands of git-demo-instructions.txt</a:t>
            </a:r>
            <a:endParaRPr lang="en-US" sz="1400" dirty="0"/>
          </a:p>
          <a:p>
            <a:pPr marL="0" indent="0">
              <a:buNone/>
            </a:pPr>
            <a:endParaRPr lang="en-US" sz="14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2286000"/>
            <a:ext cx="10972800" cy="1097280"/>
          </a:xfrm>
          <a:prstGeom prst="rect">
            <a:avLst/>
          </a:prstGeom>
          <a:noFill/>
          <a:ln/>
        </p:spPr>
        <p:txBody>
          <a:bodyPr wrap="square" lIns="0" tIns="0" rIns="0" bIns="0" rtlCol="0"/>
          <a:lstStyle/>
          <a:p>
            <a:pPr marL="0" indent="0">
              <a:buNone/>
            </a:pPr>
            <a:r>
              <a:rPr lang="en-US" sz="3200" b="1" dirty="0">
                <a:solidFill>
                  <a:schemeClr val="bg1"/>
                </a:solidFill>
              </a:rPr>
              <a:t>Bonus: Waterfall, Agile, Scrum, Kanban</a:t>
            </a:r>
            <a:endParaRPr lang="en-US" sz="3200" dirty="0"/>
          </a:p>
        </p:txBody>
      </p:sp>
      <p:sp>
        <p:nvSpPr>
          <p:cNvPr id="3" name="Text 0"/>
          <p:cNvSpPr>
            <a:spLocks noGrp="1"/>
          </p:cNvSpPr>
          <p:nvPr>
            <p:ph type="body" idx="101" hasCustomPrompt="1"/>
          </p:nvPr>
        </p:nvSpPr>
        <p:spPr>
          <a:xfrm>
            <a:off x="640080" y="3474720"/>
            <a:ext cx="10515600" cy="1371600"/>
          </a:xfrm>
          <a:prstGeom prst="rect">
            <a:avLst/>
          </a:prstGeom>
          <a:noFill/>
          <a:ln/>
        </p:spPr>
        <p:txBody>
          <a:bodyPr wrap="square" lIns="0" tIns="0" rIns="0" bIns="0" rtlCol="0"/>
          <a:lstStyle/>
          <a:p>
            <a:pPr marL="0" indent="0">
              <a:buNone/>
            </a:pPr>
            <a:r>
              <a:rPr lang="en-US" sz="1800" dirty="0">
                <a:solidFill>
                  <a:srgbClr val="94A3B8"/>
                </a:solidFill>
              </a:rPr>
              <a:t>Interview models that are not in the Git curriculum — diagrams and examples</a:t>
            </a:r>
            <a:endParaRPr lang="en-US" sz="18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Why this bonus exists</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Bonus  ·  interview</a:t>
            </a:r>
            <a:endParaRPr lang="en-US" sz="1100" dirty="0"/>
          </a:p>
        </p:txBody>
      </p:sp>
      <p:sp>
        <p:nvSpPr>
          <p:cNvPr id="4" name="Text 2"/>
          <p:cNvSpPr txBox="1"/>
          <p:nvPr/>
        </p:nvSpPr>
        <p:spPr>
          <a:xfrm>
            <a:off x="502920" y="987552"/>
            <a:ext cx="11155680" cy="1691640"/>
          </a:xfrm>
          <a:prstGeom prst="rect">
            <a:avLst/>
          </a:prstGeom>
          <a:noFill/>
          <a:ln/>
        </p:spPr>
        <p:txBody>
          <a:bodyPr wrap="square" lIns="0" tIns="0" rIns="0" bIns="0" rtlCol="0" anchor="t"/>
          <a:lstStyle/>
          <a:p>
            <a:pPr marL="0" indent="0">
              <a:buNone/>
            </a:pPr>
            <a:r>
              <a:rPr lang="en-US" sz="1600" dirty="0">
                <a:solidFill>
                  <a:srgbClr val="334155"/>
                </a:solidFill>
              </a:rPr>
              <a:t>Lecture 1 taught SDLC stages (need → design → build → test → deploy → operate). Interviewers then ask *how those stages are scheduled*. That is Waterfall vs Agile. DevOps is not a third scheduling religion. DevOps is how code gets to production safely. This section is extra because it is asked, and it is not a named lecture in the course list.</a:t>
            </a:r>
            <a:endParaRPr lang="en-US" sz="1600" dirty="0"/>
          </a:p>
        </p:txBody>
      </p:sp>
      <p:sp>
        <p:nvSpPr>
          <p:cNvPr id="5" name="Shape 3"/>
          <p:cNvSpPr/>
          <p:nvPr/>
        </p:nvSpPr>
        <p:spPr>
          <a:xfrm>
            <a:off x="502920" y="2834640"/>
            <a:ext cx="11155680" cy="3383280"/>
          </a:xfrm>
          <a:prstGeom prst="roundRect">
            <a:avLst>
              <a:gd name="adj" fmla="val 2162"/>
            </a:avLst>
          </a:prstGeom>
          <a:solidFill>
            <a:srgbClr val="ECFDF5"/>
          </a:solidFill>
          <a:ln/>
        </p:spPr>
        <p:txBody>
          <a:bodyPr/>
          <a:lstStyle/>
          <a:p>
            <a:endParaRPr lang="en-IN"/>
          </a:p>
        </p:txBody>
      </p:sp>
      <p:sp>
        <p:nvSpPr>
          <p:cNvPr id="6" name="Text 4"/>
          <p:cNvSpPr txBox="1"/>
          <p:nvPr/>
        </p:nvSpPr>
        <p:spPr>
          <a:xfrm>
            <a:off x="667512" y="2944368"/>
            <a:ext cx="10826496" cy="292608"/>
          </a:xfrm>
          <a:prstGeom prst="rect">
            <a:avLst/>
          </a:prstGeom>
          <a:noFill/>
          <a:ln/>
        </p:spPr>
        <p:txBody>
          <a:bodyPr wrap="square" lIns="0" tIns="0" rIns="0" bIns="0" rtlCol="0" anchor="ctr"/>
          <a:lstStyle/>
          <a:p>
            <a:pPr marL="0" indent="0">
              <a:buNone/>
            </a:pPr>
            <a:r>
              <a:rPr lang="en-US" sz="1300" b="1" dirty="0">
                <a:solidFill>
                  <a:srgbClr val="0F766E"/>
                </a:solidFill>
              </a:rPr>
              <a:t>Map in one sentence each</a:t>
            </a:r>
            <a:endParaRPr lang="en-US" sz="1300" dirty="0"/>
          </a:p>
        </p:txBody>
      </p:sp>
      <p:sp>
        <p:nvSpPr>
          <p:cNvPr id="7" name="Text 5"/>
          <p:cNvSpPr txBox="1"/>
          <p:nvPr/>
        </p:nvSpPr>
        <p:spPr>
          <a:xfrm>
            <a:off x="667512" y="3255264"/>
            <a:ext cx="10826496" cy="2834640"/>
          </a:xfrm>
          <a:prstGeom prst="rect">
            <a:avLst/>
          </a:prstGeom>
          <a:noFill/>
          <a:ln/>
        </p:spPr>
        <p:txBody>
          <a:bodyPr wrap="square" lIns="0" tIns="0" rIns="0" bIns="0" rtlCol="0" anchor="t"/>
          <a:lstStyle/>
          <a:p>
            <a:pPr marL="0" indent="0">
              <a:buNone/>
            </a:pPr>
            <a:r>
              <a:rPr lang="en-US" sz="1400" dirty="0">
                <a:solidFill>
                  <a:srgbClr val="334155"/>
                </a:solidFill>
              </a:rPr>
              <a:t>Waterfall = one long plan, one late release.</a:t>
            </a:r>
            <a:endParaRPr lang="en-US" sz="1400" dirty="0"/>
          </a:p>
          <a:p>
            <a:pPr marL="0" indent="0">
              <a:buNone/>
            </a:pPr>
            <a:r>
              <a:rPr lang="en-US" sz="1400" dirty="0">
                <a:solidFill>
                  <a:srgbClr val="334155"/>
                </a:solidFill>
              </a:rPr>
              <a:t>Agile = short cycles, frequent working software.</a:t>
            </a:r>
            <a:endParaRPr lang="en-US" sz="1400" dirty="0"/>
          </a:p>
          <a:p>
            <a:pPr marL="0" indent="0">
              <a:buNone/>
            </a:pPr>
            <a:r>
              <a:rPr lang="en-US" sz="1400" dirty="0">
                <a:solidFill>
                  <a:srgbClr val="334155"/>
                </a:solidFill>
              </a:rPr>
              <a:t>Scrum = Agile with time-boxed sprints.</a:t>
            </a:r>
            <a:endParaRPr lang="en-US" sz="1400" dirty="0"/>
          </a:p>
          <a:p>
            <a:pPr marL="0" indent="0">
              <a:buNone/>
            </a:pPr>
            <a:r>
              <a:rPr lang="en-US" sz="1400" dirty="0">
                <a:solidFill>
                  <a:srgbClr val="334155"/>
                </a:solidFill>
              </a:rPr>
              <a:t>Kanban = Agile with a board and WIP limits, no required sprint.</a:t>
            </a:r>
            <a:endParaRPr lang="en-US" sz="1400" dirty="0"/>
          </a:p>
          <a:p>
            <a:pPr marL="0" indent="0">
              <a:buNone/>
            </a:pPr>
            <a:r>
              <a:rPr lang="en-US" sz="1400" dirty="0">
                <a:solidFill>
                  <a:srgbClr val="334155"/>
                </a:solidFill>
              </a:rPr>
              <a:t>DevOps = build, release, run, monitor as one loop.</a:t>
            </a:r>
            <a:endParaRPr lang="en-US" sz="14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Waterfall — one way through, then stop</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Bonus  ·  Waterfall</a:t>
            </a:r>
            <a:endParaRPr lang="en-US" sz="1100" dirty="0"/>
          </a:p>
        </p:txBody>
      </p:sp>
      <p:sp>
        <p:nvSpPr>
          <p:cNvPr id="4" name="Text 2"/>
          <p:cNvSpPr txBox="1"/>
          <p:nvPr/>
        </p:nvSpPr>
        <p:spPr>
          <a:xfrm>
            <a:off x="502920" y="932688"/>
            <a:ext cx="11155680" cy="1097280"/>
          </a:xfrm>
          <a:prstGeom prst="rect">
            <a:avLst/>
          </a:prstGeom>
          <a:noFill/>
          <a:ln/>
        </p:spPr>
        <p:txBody>
          <a:bodyPr wrap="square" lIns="0" tIns="0" rIns="0" bIns="0" rtlCol="0" anchor="t"/>
          <a:lstStyle/>
          <a:p>
            <a:pPr marL="0" indent="0">
              <a:buNone/>
            </a:pPr>
            <a:r>
              <a:rPr lang="en-US" sz="1600" dirty="0">
                <a:solidFill>
                  <a:srgbClr val="334155"/>
                </a:solidFill>
              </a:rPr>
              <a:t>Waterfall treats SDLC as a staircase. You finish requirements, then design, then build, then test, then go live. You do not go back without a formal change request. The customer often sees the product at the end.</a:t>
            </a:r>
            <a:endParaRPr lang="en-US" sz="1600" dirty="0"/>
          </a:p>
        </p:txBody>
      </p:sp>
      <p:sp>
        <p:nvSpPr>
          <p:cNvPr id="5" name="Shape 3"/>
          <p:cNvSpPr/>
          <p:nvPr/>
        </p:nvSpPr>
        <p:spPr>
          <a:xfrm>
            <a:off x="502920" y="2148840"/>
            <a:ext cx="2103120" cy="1554480"/>
          </a:xfrm>
          <a:prstGeom prst="roundRect">
            <a:avLst>
              <a:gd name="adj" fmla="val 4706"/>
            </a:avLst>
          </a:prstGeom>
          <a:solidFill>
            <a:srgbClr val="F1F5F9"/>
          </a:solidFill>
          <a:ln/>
        </p:spPr>
        <p:txBody>
          <a:bodyPr/>
          <a:lstStyle/>
          <a:p>
            <a:endParaRPr lang="en-IN"/>
          </a:p>
        </p:txBody>
      </p:sp>
      <p:sp>
        <p:nvSpPr>
          <p:cNvPr id="6" name="Text 4"/>
          <p:cNvSpPr txBox="1"/>
          <p:nvPr/>
        </p:nvSpPr>
        <p:spPr>
          <a:xfrm>
            <a:off x="576072" y="2258568"/>
            <a:ext cx="1956816" cy="365760"/>
          </a:xfrm>
          <a:prstGeom prst="rect">
            <a:avLst/>
          </a:prstGeom>
          <a:noFill/>
          <a:ln/>
        </p:spPr>
        <p:txBody>
          <a:bodyPr wrap="square" lIns="0" tIns="0" rIns="0" bIns="0" rtlCol="0" anchor="ctr"/>
          <a:lstStyle/>
          <a:p>
            <a:pPr marL="0" indent="0" algn="ctr">
              <a:buNone/>
            </a:pPr>
            <a:r>
              <a:rPr lang="en-US" sz="1400" b="1" dirty="0">
                <a:solidFill>
                  <a:srgbClr val="0F172A"/>
                </a:solidFill>
              </a:rPr>
              <a:t>1</a:t>
            </a:r>
            <a:endParaRPr lang="en-US" sz="1400" dirty="0"/>
          </a:p>
        </p:txBody>
      </p:sp>
      <p:sp>
        <p:nvSpPr>
          <p:cNvPr id="7" name="Text 5"/>
          <p:cNvSpPr txBox="1"/>
          <p:nvPr/>
        </p:nvSpPr>
        <p:spPr>
          <a:xfrm>
            <a:off x="576072" y="2624328"/>
            <a:ext cx="1956816" cy="987552"/>
          </a:xfrm>
          <a:prstGeom prst="rect">
            <a:avLst/>
          </a:prstGeom>
          <a:noFill/>
          <a:ln/>
        </p:spPr>
        <p:txBody>
          <a:bodyPr wrap="square" lIns="0" tIns="0" rIns="0" bIns="0" rtlCol="0" anchor="ctr"/>
          <a:lstStyle/>
          <a:p>
            <a:pPr marL="0" indent="0" algn="ctr">
              <a:buNone/>
            </a:pPr>
            <a:r>
              <a:rPr lang="en-US" sz="1200" dirty="0">
                <a:solidFill>
                  <a:srgbClr val="334155"/>
                </a:solidFill>
              </a:rPr>
              <a:t>Requirements</a:t>
            </a:r>
            <a:endParaRPr lang="en-US" sz="1200" dirty="0"/>
          </a:p>
        </p:txBody>
      </p:sp>
      <p:sp>
        <p:nvSpPr>
          <p:cNvPr id="8" name="Text 6"/>
          <p:cNvSpPr txBox="1"/>
          <p:nvPr/>
        </p:nvSpPr>
        <p:spPr>
          <a:xfrm>
            <a:off x="2587752" y="2697480"/>
            <a:ext cx="365760" cy="365760"/>
          </a:xfrm>
          <a:prstGeom prst="rect">
            <a:avLst/>
          </a:prstGeom>
          <a:noFill/>
          <a:ln/>
        </p:spPr>
        <p:txBody>
          <a:bodyPr wrap="square" lIns="0" tIns="0" rIns="0" bIns="0" rtlCol="0" anchor="ctr"/>
          <a:lstStyle/>
          <a:p>
            <a:pPr marL="0" indent="0" algn="ctr">
              <a:buNone/>
            </a:pPr>
            <a:r>
              <a:rPr lang="en-US" sz="2200" b="1" dirty="0">
                <a:solidFill>
                  <a:srgbClr val="0F766E"/>
                </a:solidFill>
              </a:rPr>
              <a:t>→</a:t>
            </a:r>
            <a:endParaRPr lang="en-US" sz="2200" dirty="0"/>
          </a:p>
        </p:txBody>
      </p:sp>
      <p:sp>
        <p:nvSpPr>
          <p:cNvPr id="9" name="Shape 7"/>
          <p:cNvSpPr/>
          <p:nvPr/>
        </p:nvSpPr>
        <p:spPr>
          <a:xfrm>
            <a:off x="2788920" y="2148840"/>
            <a:ext cx="2103120" cy="1554480"/>
          </a:xfrm>
          <a:prstGeom prst="roundRect">
            <a:avLst>
              <a:gd name="adj" fmla="val 4706"/>
            </a:avLst>
          </a:prstGeom>
          <a:solidFill>
            <a:srgbClr val="F1F5F9"/>
          </a:solidFill>
          <a:ln/>
        </p:spPr>
        <p:txBody>
          <a:bodyPr/>
          <a:lstStyle/>
          <a:p>
            <a:endParaRPr lang="en-IN"/>
          </a:p>
        </p:txBody>
      </p:sp>
      <p:sp>
        <p:nvSpPr>
          <p:cNvPr id="10" name="Text 8"/>
          <p:cNvSpPr txBox="1"/>
          <p:nvPr/>
        </p:nvSpPr>
        <p:spPr>
          <a:xfrm>
            <a:off x="2862072" y="2258568"/>
            <a:ext cx="1956816" cy="365760"/>
          </a:xfrm>
          <a:prstGeom prst="rect">
            <a:avLst/>
          </a:prstGeom>
          <a:noFill/>
          <a:ln/>
        </p:spPr>
        <p:txBody>
          <a:bodyPr wrap="square" lIns="0" tIns="0" rIns="0" bIns="0" rtlCol="0" anchor="ctr"/>
          <a:lstStyle/>
          <a:p>
            <a:pPr marL="0" indent="0" algn="ctr">
              <a:buNone/>
            </a:pPr>
            <a:r>
              <a:rPr lang="en-US" sz="1400" b="1" dirty="0">
                <a:solidFill>
                  <a:srgbClr val="0F172A"/>
                </a:solidFill>
              </a:rPr>
              <a:t>2</a:t>
            </a:r>
            <a:endParaRPr lang="en-US" sz="1400" dirty="0"/>
          </a:p>
        </p:txBody>
      </p:sp>
      <p:sp>
        <p:nvSpPr>
          <p:cNvPr id="11" name="Text 9"/>
          <p:cNvSpPr txBox="1"/>
          <p:nvPr/>
        </p:nvSpPr>
        <p:spPr>
          <a:xfrm>
            <a:off x="2862072" y="2624328"/>
            <a:ext cx="1956816" cy="987552"/>
          </a:xfrm>
          <a:prstGeom prst="rect">
            <a:avLst/>
          </a:prstGeom>
          <a:noFill/>
          <a:ln/>
        </p:spPr>
        <p:txBody>
          <a:bodyPr wrap="square" lIns="0" tIns="0" rIns="0" bIns="0" rtlCol="0" anchor="ctr"/>
          <a:lstStyle/>
          <a:p>
            <a:pPr marL="0" indent="0" algn="ctr">
              <a:buNone/>
            </a:pPr>
            <a:r>
              <a:rPr lang="en-US" sz="1200" dirty="0">
                <a:solidFill>
                  <a:srgbClr val="334155"/>
                </a:solidFill>
              </a:rPr>
              <a:t>Design</a:t>
            </a:r>
            <a:endParaRPr lang="en-US" sz="1200" dirty="0"/>
          </a:p>
        </p:txBody>
      </p:sp>
      <p:sp>
        <p:nvSpPr>
          <p:cNvPr id="12" name="Text 10"/>
          <p:cNvSpPr txBox="1"/>
          <p:nvPr/>
        </p:nvSpPr>
        <p:spPr>
          <a:xfrm>
            <a:off x="4873752" y="2697480"/>
            <a:ext cx="365760" cy="365760"/>
          </a:xfrm>
          <a:prstGeom prst="rect">
            <a:avLst/>
          </a:prstGeom>
          <a:noFill/>
          <a:ln/>
        </p:spPr>
        <p:txBody>
          <a:bodyPr wrap="square" lIns="0" tIns="0" rIns="0" bIns="0" rtlCol="0" anchor="ctr"/>
          <a:lstStyle/>
          <a:p>
            <a:pPr marL="0" indent="0" algn="ctr">
              <a:buNone/>
            </a:pPr>
            <a:r>
              <a:rPr lang="en-US" sz="2200" b="1" dirty="0">
                <a:solidFill>
                  <a:srgbClr val="0F766E"/>
                </a:solidFill>
              </a:rPr>
              <a:t>→</a:t>
            </a:r>
            <a:endParaRPr lang="en-US" sz="2200" dirty="0"/>
          </a:p>
        </p:txBody>
      </p:sp>
      <p:sp>
        <p:nvSpPr>
          <p:cNvPr id="13" name="Shape 11"/>
          <p:cNvSpPr/>
          <p:nvPr/>
        </p:nvSpPr>
        <p:spPr>
          <a:xfrm>
            <a:off x="5074920" y="2148840"/>
            <a:ext cx="2103120" cy="1554480"/>
          </a:xfrm>
          <a:prstGeom prst="roundRect">
            <a:avLst>
              <a:gd name="adj" fmla="val 4706"/>
            </a:avLst>
          </a:prstGeom>
          <a:solidFill>
            <a:srgbClr val="F1F5F9"/>
          </a:solidFill>
          <a:ln/>
        </p:spPr>
        <p:txBody>
          <a:bodyPr/>
          <a:lstStyle/>
          <a:p>
            <a:endParaRPr lang="en-IN"/>
          </a:p>
        </p:txBody>
      </p:sp>
      <p:sp>
        <p:nvSpPr>
          <p:cNvPr id="14" name="Text 12"/>
          <p:cNvSpPr txBox="1"/>
          <p:nvPr/>
        </p:nvSpPr>
        <p:spPr>
          <a:xfrm>
            <a:off x="5148072" y="2258568"/>
            <a:ext cx="1956816" cy="365760"/>
          </a:xfrm>
          <a:prstGeom prst="rect">
            <a:avLst/>
          </a:prstGeom>
          <a:noFill/>
          <a:ln/>
        </p:spPr>
        <p:txBody>
          <a:bodyPr wrap="square" lIns="0" tIns="0" rIns="0" bIns="0" rtlCol="0" anchor="ctr"/>
          <a:lstStyle/>
          <a:p>
            <a:pPr marL="0" indent="0" algn="ctr">
              <a:buNone/>
            </a:pPr>
            <a:r>
              <a:rPr lang="en-US" sz="1400" b="1" dirty="0">
                <a:solidFill>
                  <a:srgbClr val="0F172A"/>
                </a:solidFill>
              </a:rPr>
              <a:t>3</a:t>
            </a:r>
            <a:endParaRPr lang="en-US" sz="1400" dirty="0"/>
          </a:p>
        </p:txBody>
      </p:sp>
      <p:sp>
        <p:nvSpPr>
          <p:cNvPr id="15" name="Text 13"/>
          <p:cNvSpPr txBox="1"/>
          <p:nvPr/>
        </p:nvSpPr>
        <p:spPr>
          <a:xfrm>
            <a:off x="5148072" y="2624328"/>
            <a:ext cx="1956816" cy="987552"/>
          </a:xfrm>
          <a:prstGeom prst="rect">
            <a:avLst/>
          </a:prstGeom>
          <a:noFill/>
          <a:ln/>
        </p:spPr>
        <p:txBody>
          <a:bodyPr wrap="square" lIns="0" tIns="0" rIns="0" bIns="0" rtlCol="0" anchor="ctr"/>
          <a:lstStyle/>
          <a:p>
            <a:pPr marL="0" indent="0" algn="ctr">
              <a:buNone/>
            </a:pPr>
            <a:r>
              <a:rPr lang="en-US" sz="1200" dirty="0">
                <a:solidFill>
                  <a:srgbClr val="334155"/>
                </a:solidFill>
              </a:rPr>
              <a:t>Build</a:t>
            </a:r>
            <a:endParaRPr lang="en-US" sz="1200" dirty="0"/>
          </a:p>
        </p:txBody>
      </p:sp>
      <p:sp>
        <p:nvSpPr>
          <p:cNvPr id="16" name="Text 14"/>
          <p:cNvSpPr txBox="1"/>
          <p:nvPr/>
        </p:nvSpPr>
        <p:spPr>
          <a:xfrm>
            <a:off x="7159752" y="2697480"/>
            <a:ext cx="365760" cy="365760"/>
          </a:xfrm>
          <a:prstGeom prst="rect">
            <a:avLst/>
          </a:prstGeom>
          <a:noFill/>
          <a:ln/>
        </p:spPr>
        <p:txBody>
          <a:bodyPr wrap="square" lIns="0" tIns="0" rIns="0" bIns="0" rtlCol="0" anchor="ctr"/>
          <a:lstStyle/>
          <a:p>
            <a:pPr marL="0" indent="0" algn="ctr">
              <a:buNone/>
            </a:pPr>
            <a:r>
              <a:rPr lang="en-US" sz="2200" b="1" dirty="0">
                <a:solidFill>
                  <a:srgbClr val="0F766E"/>
                </a:solidFill>
              </a:rPr>
              <a:t>→</a:t>
            </a:r>
            <a:endParaRPr lang="en-US" sz="2200" dirty="0"/>
          </a:p>
        </p:txBody>
      </p:sp>
      <p:sp>
        <p:nvSpPr>
          <p:cNvPr id="17" name="Shape 15"/>
          <p:cNvSpPr/>
          <p:nvPr/>
        </p:nvSpPr>
        <p:spPr>
          <a:xfrm>
            <a:off x="7360920" y="2148840"/>
            <a:ext cx="2103120" cy="1554480"/>
          </a:xfrm>
          <a:prstGeom prst="roundRect">
            <a:avLst>
              <a:gd name="adj" fmla="val 4706"/>
            </a:avLst>
          </a:prstGeom>
          <a:solidFill>
            <a:srgbClr val="F1F5F9"/>
          </a:solidFill>
          <a:ln/>
        </p:spPr>
        <p:txBody>
          <a:bodyPr/>
          <a:lstStyle/>
          <a:p>
            <a:endParaRPr lang="en-IN"/>
          </a:p>
        </p:txBody>
      </p:sp>
      <p:sp>
        <p:nvSpPr>
          <p:cNvPr id="18" name="Text 16"/>
          <p:cNvSpPr txBox="1"/>
          <p:nvPr/>
        </p:nvSpPr>
        <p:spPr>
          <a:xfrm>
            <a:off x="7434072" y="2258568"/>
            <a:ext cx="1956816" cy="365760"/>
          </a:xfrm>
          <a:prstGeom prst="rect">
            <a:avLst/>
          </a:prstGeom>
          <a:noFill/>
          <a:ln/>
        </p:spPr>
        <p:txBody>
          <a:bodyPr wrap="square" lIns="0" tIns="0" rIns="0" bIns="0" rtlCol="0" anchor="ctr"/>
          <a:lstStyle/>
          <a:p>
            <a:pPr marL="0" indent="0" algn="ctr">
              <a:buNone/>
            </a:pPr>
            <a:r>
              <a:rPr lang="en-US" sz="1400" b="1" dirty="0">
                <a:solidFill>
                  <a:srgbClr val="0F172A"/>
                </a:solidFill>
              </a:rPr>
              <a:t>4</a:t>
            </a:r>
            <a:endParaRPr lang="en-US" sz="1400" dirty="0"/>
          </a:p>
        </p:txBody>
      </p:sp>
      <p:sp>
        <p:nvSpPr>
          <p:cNvPr id="19" name="Text 17"/>
          <p:cNvSpPr txBox="1"/>
          <p:nvPr/>
        </p:nvSpPr>
        <p:spPr>
          <a:xfrm>
            <a:off x="7434072" y="2624328"/>
            <a:ext cx="1956816" cy="987552"/>
          </a:xfrm>
          <a:prstGeom prst="rect">
            <a:avLst/>
          </a:prstGeom>
          <a:noFill/>
          <a:ln/>
        </p:spPr>
        <p:txBody>
          <a:bodyPr wrap="square" lIns="0" tIns="0" rIns="0" bIns="0" rtlCol="0" anchor="ctr"/>
          <a:lstStyle/>
          <a:p>
            <a:pPr marL="0" indent="0" algn="ctr">
              <a:buNone/>
            </a:pPr>
            <a:r>
              <a:rPr lang="en-US" sz="1200" dirty="0">
                <a:solidFill>
                  <a:srgbClr val="334155"/>
                </a:solidFill>
              </a:rPr>
              <a:t>Test</a:t>
            </a:r>
            <a:endParaRPr lang="en-US" sz="1200" dirty="0"/>
          </a:p>
        </p:txBody>
      </p:sp>
      <p:sp>
        <p:nvSpPr>
          <p:cNvPr id="20" name="Text 18"/>
          <p:cNvSpPr txBox="1"/>
          <p:nvPr/>
        </p:nvSpPr>
        <p:spPr>
          <a:xfrm>
            <a:off x="9445752" y="2697480"/>
            <a:ext cx="365760" cy="365760"/>
          </a:xfrm>
          <a:prstGeom prst="rect">
            <a:avLst/>
          </a:prstGeom>
          <a:noFill/>
          <a:ln/>
        </p:spPr>
        <p:txBody>
          <a:bodyPr wrap="square" lIns="0" tIns="0" rIns="0" bIns="0" rtlCol="0" anchor="ctr"/>
          <a:lstStyle/>
          <a:p>
            <a:pPr marL="0" indent="0" algn="ctr">
              <a:buNone/>
            </a:pPr>
            <a:r>
              <a:rPr lang="en-US" sz="2200" b="1" dirty="0">
                <a:solidFill>
                  <a:srgbClr val="0F766E"/>
                </a:solidFill>
              </a:rPr>
              <a:t>→</a:t>
            </a:r>
            <a:endParaRPr lang="en-US" sz="2200" dirty="0"/>
          </a:p>
        </p:txBody>
      </p:sp>
      <p:sp>
        <p:nvSpPr>
          <p:cNvPr id="21" name="Shape 19"/>
          <p:cNvSpPr/>
          <p:nvPr/>
        </p:nvSpPr>
        <p:spPr>
          <a:xfrm>
            <a:off x="9646920" y="2148840"/>
            <a:ext cx="2103120" cy="1554480"/>
          </a:xfrm>
          <a:prstGeom prst="roundRect">
            <a:avLst>
              <a:gd name="adj" fmla="val 4706"/>
            </a:avLst>
          </a:prstGeom>
          <a:solidFill>
            <a:srgbClr val="0F766E"/>
          </a:solidFill>
          <a:ln/>
        </p:spPr>
        <p:txBody>
          <a:bodyPr/>
          <a:lstStyle/>
          <a:p>
            <a:endParaRPr lang="en-IN"/>
          </a:p>
        </p:txBody>
      </p:sp>
      <p:sp>
        <p:nvSpPr>
          <p:cNvPr id="22" name="Text 20"/>
          <p:cNvSpPr txBox="1"/>
          <p:nvPr/>
        </p:nvSpPr>
        <p:spPr>
          <a:xfrm>
            <a:off x="9720072" y="2258568"/>
            <a:ext cx="1956816" cy="36576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3" name="Text 21"/>
          <p:cNvSpPr txBox="1"/>
          <p:nvPr/>
        </p:nvSpPr>
        <p:spPr>
          <a:xfrm>
            <a:off x="9720072" y="2624328"/>
            <a:ext cx="1956816" cy="987552"/>
          </a:xfrm>
          <a:prstGeom prst="rect">
            <a:avLst/>
          </a:prstGeom>
          <a:noFill/>
          <a:ln/>
        </p:spPr>
        <p:txBody>
          <a:bodyPr wrap="square" lIns="0" tIns="0" rIns="0" bIns="0" rtlCol="0" anchor="ctr"/>
          <a:lstStyle/>
          <a:p>
            <a:pPr marL="0" indent="0" algn="ctr">
              <a:buNone/>
            </a:pPr>
            <a:r>
              <a:rPr lang="en-US" sz="1200" dirty="0">
                <a:solidFill>
                  <a:srgbClr val="CCFBF1"/>
                </a:solidFill>
              </a:rPr>
              <a:t>Go live</a:t>
            </a:r>
            <a:endParaRPr lang="en-US" sz="1200" dirty="0"/>
          </a:p>
        </p:txBody>
      </p:sp>
      <p:sp>
        <p:nvSpPr>
          <p:cNvPr id="24" name="Shape 22"/>
          <p:cNvSpPr/>
          <p:nvPr/>
        </p:nvSpPr>
        <p:spPr>
          <a:xfrm>
            <a:off x="502920" y="3886200"/>
            <a:ext cx="11155680" cy="2331720"/>
          </a:xfrm>
          <a:prstGeom prst="roundRect">
            <a:avLst>
              <a:gd name="adj" fmla="val 3137"/>
            </a:avLst>
          </a:prstGeom>
          <a:solidFill>
            <a:srgbClr val="F1F5F9"/>
          </a:solidFill>
          <a:ln/>
        </p:spPr>
        <p:txBody>
          <a:bodyPr/>
          <a:lstStyle/>
          <a:p>
            <a:endParaRPr lang="en-IN"/>
          </a:p>
        </p:txBody>
      </p:sp>
      <p:sp>
        <p:nvSpPr>
          <p:cNvPr id="25" name="Text 23"/>
          <p:cNvSpPr txBox="1"/>
          <p:nvPr/>
        </p:nvSpPr>
        <p:spPr>
          <a:xfrm>
            <a:off x="667512" y="3995928"/>
            <a:ext cx="10826496" cy="292608"/>
          </a:xfrm>
          <a:prstGeom prst="rect">
            <a:avLst/>
          </a:prstGeom>
          <a:noFill/>
          <a:ln/>
        </p:spPr>
        <p:txBody>
          <a:bodyPr wrap="square" lIns="0" tIns="0" rIns="0" bIns="0" rtlCol="0" anchor="ctr"/>
          <a:lstStyle/>
          <a:p>
            <a:pPr marL="0" indent="0">
              <a:buNone/>
            </a:pPr>
            <a:r>
              <a:rPr lang="en-US" sz="1300" b="1" dirty="0">
                <a:solidFill>
                  <a:srgbClr val="0F172A"/>
                </a:solidFill>
              </a:rPr>
              <a:t>Example</a:t>
            </a:r>
            <a:endParaRPr lang="en-US" sz="1300" dirty="0"/>
          </a:p>
        </p:txBody>
      </p:sp>
      <p:sp>
        <p:nvSpPr>
          <p:cNvPr id="26" name="Text 24"/>
          <p:cNvSpPr txBox="1"/>
          <p:nvPr/>
        </p:nvSpPr>
        <p:spPr>
          <a:xfrm>
            <a:off x="667512" y="4306824"/>
            <a:ext cx="10826496" cy="1783080"/>
          </a:xfrm>
          <a:prstGeom prst="rect">
            <a:avLst/>
          </a:prstGeom>
          <a:noFill/>
          <a:ln/>
        </p:spPr>
        <p:txBody>
          <a:bodyPr wrap="square" lIns="0" tIns="0" rIns="0" bIns="0" rtlCol="0" anchor="t"/>
          <a:lstStyle/>
          <a:p>
            <a:pPr marL="0" indent="0">
              <a:buNone/>
            </a:pPr>
            <a:r>
              <a:rPr lang="en-US" sz="1400" dirty="0">
                <a:solidFill>
                  <a:srgbClr val="334155"/>
                </a:solidFill>
              </a:rPr>
              <a:t>A bank wants a regulatory report in 18 months. The law is fixed. Changing scope mid-build is expensive. Waterfall can fit. The risk: you discover a bad design after 12 months of coding, when test finally starts.</a:t>
            </a:r>
            <a:endParaRPr lang="en-US" sz="1400" dirty="0"/>
          </a:p>
        </p:txBody>
      </p:sp>
      <p:sp>
        <p:nvSpPr>
          <p:cNvPr id="27"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Waterfall — what goes wrong in product teams</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Bonus  ·  Waterfall limits</a:t>
            </a:r>
            <a:endParaRPr lang="en-US" sz="11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2920" y="1024128"/>
          <a:ext cx="11173968" cy="1524000"/>
        </p:xfrm>
        <a:graphic>
          <a:graphicData uri="http://schemas.openxmlformats.org/drawingml/2006/table">
            <a:tbl>
              <a:tblPr/>
              <a:tblGrid>
                <a:gridCol w="3200400">
                  <a:extLst>
                    <a:ext uri="{9D8B030D-6E8A-4147-A177-3AD203B41FA5}">
                      <a16:colId xmlns:a16="http://schemas.microsoft.com/office/drawing/2014/main" val="20000"/>
                    </a:ext>
                  </a:extLst>
                </a:gridCol>
                <a:gridCol w="7973568">
                  <a:extLst>
                    <a:ext uri="{9D8B030D-6E8A-4147-A177-3AD203B41FA5}">
                      <a16:colId xmlns:a16="http://schemas.microsoft.com/office/drawing/2014/main" val="20001"/>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Symptom</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Why Waterfall produced it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Users hate the UI at go-live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They were not shown working software every few weeks.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A 9-month delay</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A late test phase found issues that were cheap in week 2 and ruinous in month 9.</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Blame at release night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Dev “finished” months ago; Ops first sees the zip at the end. That is the wall from Lecture 1.</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“The spec changed”</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The world changed. Waterfall treated the spec as frozen.</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Agile — repeat a small SDLC</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Bonus  ·  Agile</a:t>
            </a:r>
            <a:endParaRPr lang="en-US" sz="1100" dirty="0"/>
          </a:p>
        </p:txBody>
      </p:sp>
      <p:sp>
        <p:nvSpPr>
          <p:cNvPr id="4" name="Text 2"/>
          <p:cNvSpPr txBox="1"/>
          <p:nvPr/>
        </p:nvSpPr>
        <p:spPr>
          <a:xfrm>
            <a:off x="502920" y="932688"/>
            <a:ext cx="11155680" cy="1143000"/>
          </a:xfrm>
          <a:prstGeom prst="rect">
            <a:avLst/>
          </a:prstGeom>
          <a:noFill/>
          <a:ln/>
        </p:spPr>
        <p:txBody>
          <a:bodyPr wrap="square" lIns="0" tIns="0" rIns="0" bIns="0" rtlCol="0" anchor="t"/>
          <a:lstStyle/>
          <a:p>
            <a:pPr marL="0" indent="0">
              <a:buNone/>
            </a:pPr>
            <a:r>
              <a:rPr lang="en-US" sz="1600" dirty="0">
                <a:solidFill>
                  <a:srgbClr val="334155"/>
                </a:solidFill>
              </a:rPr>
              <a:t>Agile is not “no plan”. It is a plan you are allowed to change when you learn. You still analyse, design, build, test, and ship — but in a slice that fits days or weeks, not a year. You show working software often.</a:t>
            </a:r>
            <a:endParaRPr lang="en-US" sz="1600" dirty="0"/>
          </a:p>
        </p:txBody>
      </p:sp>
      <p:sp>
        <p:nvSpPr>
          <p:cNvPr id="5" name="Shape 3"/>
          <p:cNvSpPr/>
          <p:nvPr/>
        </p:nvSpPr>
        <p:spPr>
          <a:xfrm>
            <a:off x="502920" y="2194560"/>
            <a:ext cx="2103120" cy="1691640"/>
          </a:xfrm>
          <a:prstGeom prst="roundRect">
            <a:avLst>
              <a:gd name="adj" fmla="val 4324"/>
            </a:avLst>
          </a:prstGeom>
          <a:solidFill>
            <a:srgbClr val="ECFDF5"/>
          </a:solidFill>
          <a:ln/>
        </p:spPr>
        <p:txBody>
          <a:bodyPr/>
          <a:lstStyle/>
          <a:p>
            <a:endParaRPr lang="en-IN"/>
          </a:p>
        </p:txBody>
      </p:sp>
      <p:sp>
        <p:nvSpPr>
          <p:cNvPr id="6" name="Text 4"/>
          <p:cNvSpPr txBox="1"/>
          <p:nvPr/>
        </p:nvSpPr>
        <p:spPr>
          <a:xfrm>
            <a:off x="576072" y="2304288"/>
            <a:ext cx="1956816" cy="365760"/>
          </a:xfrm>
          <a:prstGeom prst="rect">
            <a:avLst/>
          </a:prstGeom>
          <a:noFill/>
          <a:ln/>
        </p:spPr>
        <p:txBody>
          <a:bodyPr wrap="square" lIns="0" tIns="0" rIns="0" bIns="0" rtlCol="0" anchor="ctr"/>
          <a:lstStyle/>
          <a:p>
            <a:pPr marL="0" indent="0" algn="ctr">
              <a:buNone/>
            </a:pPr>
            <a:r>
              <a:rPr lang="en-US" sz="1400" b="1" dirty="0">
                <a:solidFill>
                  <a:srgbClr val="0F766E"/>
                </a:solidFill>
              </a:rPr>
              <a:t>1</a:t>
            </a:r>
            <a:endParaRPr lang="en-US" sz="1400" dirty="0"/>
          </a:p>
        </p:txBody>
      </p:sp>
      <p:sp>
        <p:nvSpPr>
          <p:cNvPr id="7" name="Text 5"/>
          <p:cNvSpPr txBox="1"/>
          <p:nvPr/>
        </p:nvSpPr>
        <p:spPr>
          <a:xfrm>
            <a:off x="576072" y="2670048"/>
            <a:ext cx="1956816" cy="1124712"/>
          </a:xfrm>
          <a:prstGeom prst="rect">
            <a:avLst/>
          </a:prstGeom>
          <a:noFill/>
          <a:ln/>
        </p:spPr>
        <p:txBody>
          <a:bodyPr wrap="square" lIns="0" tIns="0" rIns="0" bIns="0" rtlCol="0" anchor="ctr"/>
          <a:lstStyle/>
          <a:p>
            <a:pPr marL="0" indent="0" algn="ctr">
              <a:buNone/>
            </a:pPr>
            <a:r>
              <a:rPr lang="en-US" sz="1200" dirty="0">
                <a:solidFill>
                  <a:srgbClr val="334155"/>
                </a:solidFill>
              </a:rPr>
              <a:t>Plan a slice</a:t>
            </a:r>
            <a:endParaRPr lang="en-US" sz="1200" dirty="0"/>
          </a:p>
        </p:txBody>
      </p:sp>
      <p:sp>
        <p:nvSpPr>
          <p:cNvPr id="8" name="Text 6"/>
          <p:cNvSpPr txBox="1"/>
          <p:nvPr/>
        </p:nvSpPr>
        <p:spPr>
          <a:xfrm>
            <a:off x="2587752" y="2788920"/>
            <a:ext cx="365760" cy="365760"/>
          </a:xfrm>
          <a:prstGeom prst="rect">
            <a:avLst/>
          </a:prstGeom>
          <a:noFill/>
          <a:ln/>
        </p:spPr>
        <p:txBody>
          <a:bodyPr wrap="square" lIns="0" tIns="0" rIns="0" bIns="0" rtlCol="0" anchor="ctr"/>
          <a:lstStyle/>
          <a:p>
            <a:pPr marL="0" indent="0" algn="ctr">
              <a:buNone/>
            </a:pPr>
            <a:r>
              <a:rPr lang="en-US" sz="2200" b="1" dirty="0">
                <a:solidFill>
                  <a:srgbClr val="0F766E"/>
                </a:solidFill>
              </a:rPr>
              <a:t>→</a:t>
            </a:r>
            <a:endParaRPr lang="en-US" sz="2200" dirty="0"/>
          </a:p>
        </p:txBody>
      </p:sp>
      <p:sp>
        <p:nvSpPr>
          <p:cNvPr id="9" name="Shape 7"/>
          <p:cNvSpPr/>
          <p:nvPr/>
        </p:nvSpPr>
        <p:spPr>
          <a:xfrm>
            <a:off x="2788920" y="2194560"/>
            <a:ext cx="2103120" cy="1691640"/>
          </a:xfrm>
          <a:prstGeom prst="roundRect">
            <a:avLst>
              <a:gd name="adj" fmla="val 4324"/>
            </a:avLst>
          </a:prstGeom>
          <a:solidFill>
            <a:srgbClr val="ECFDF5"/>
          </a:solidFill>
          <a:ln/>
        </p:spPr>
        <p:txBody>
          <a:bodyPr/>
          <a:lstStyle/>
          <a:p>
            <a:endParaRPr lang="en-IN"/>
          </a:p>
        </p:txBody>
      </p:sp>
      <p:sp>
        <p:nvSpPr>
          <p:cNvPr id="10" name="Text 8"/>
          <p:cNvSpPr txBox="1"/>
          <p:nvPr/>
        </p:nvSpPr>
        <p:spPr>
          <a:xfrm>
            <a:off x="2862072" y="2304288"/>
            <a:ext cx="1956816" cy="365760"/>
          </a:xfrm>
          <a:prstGeom prst="rect">
            <a:avLst/>
          </a:prstGeom>
          <a:noFill/>
          <a:ln/>
        </p:spPr>
        <p:txBody>
          <a:bodyPr wrap="square" lIns="0" tIns="0" rIns="0" bIns="0" rtlCol="0" anchor="ctr"/>
          <a:lstStyle/>
          <a:p>
            <a:pPr marL="0" indent="0" algn="ctr">
              <a:buNone/>
            </a:pPr>
            <a:r>
              <a:rPr lang="en-US" sz="1400" b="1" dirty="0">
                <a:solidFill>
                  <a:srgbClr val="0F766E"/>
                </a:solidFill>
              </a:rPr>
              <a:t>2</a:t>
            </a:r>
            <a:endParaRPr lang="en-US" sz="1400" dirty="0"/>
          </a:p>
        </p:txBody>
      </p:sp>
      <p:sp>
        <p:nvSpPr>
          <p:cNvPr id="11" name="Text 9"/>
          <p:cNvSpPr txBox="1"/>
          <p:nvPr/>
        </p:nvSpPr>
        <p:spPr>
          <a:xfrm>
            <a:off x="2862072" y="2670048"/>
            <a:ext cx="1956816" cy="1124712"/>
          </a:xfrm>
          <a:prstGeom prst="rect">
            <a:avLst/>
          </a:prstGeom>
          <a:noFill/>
          <a:ln/>
        </p:spPr>
        <p:txBody>
          <a:bodyPr wrap="square" lIns="0" tIns="0" rIns="0" bIns="0" rtlCol="0" anchor="ctr"/>
          <a:lstStyle/>
          <a:p>
            <a:pPr marL="0" indent="0" algn="ctr">
              <a:buNone/>
            </a:pPr>
            <a:r>
              <a:rPr lang="en-US" sz="1200" dirty="0">
                <a:solidFill>
                  <a:srgbClr val="334155"/>
                </a:solidFill>
              </a:rPr>
              <a:t>Build it</a:t>
            </a:r>
            <a:endParaRPr lang="en-US" sz="1200" dirty="0"/>
          </a:p>
        </p:txBody>
      </p:sp>
      <p:sp>
        <p:nvSpPr>
          <p:cNvPr id="12" name="Text 10"/>
          <p:cNvSpPr txBox="1"/>
          <p:nvPr/>
        </p:nvSpPr>
        <p:spPr>
          <a:xfrm>
            <a:off x="4873752" y="2788920"/>
            <a:ext cx="365760" cy="365760"/>
          </a:xfrm>
          <a:prstGeom prst="rect">
            <a:avLst/>
          </a:prstGeom>
          <a:noFill/>
          <a:ln/>
        </p:spPr>
        <p:txBody>
          <a:bodyPr wrap="square" lIns="0" tIns="0" rIns="0" bIns="0" rtlCol="0" anchor="ctr"/>
          <a:lstStyle/>
          <a:p>
            <a:pPr marL="0" indent="0" algn="ctr">
              <a:buNone/>
            </a:pPr>
            <a:r>
              <a:rPr lang="en-US" sz="2200" b="1" dirty="0">
                <a:solidFill>
                  <a:srgbClr val="0F766E"/>
                </a:solidFill>
              </a:rPr>
              <a:t>→</a:t>
            </a:r>
            <a:endParaRPr lang="en-US" sz="2200" dirty="0"/>
          </a:p>
        </p:txBody>
      </p:sp>
      <p:sp>
        <p:nvSpPr>
          <p:cNvPr id="13" name="Shape 11"/>
          <p:cNvSpPr/>
          <p:nvPr/>
        </p:nvSpPr>
        <p:spPr>
          <a:xfrm>
            <a:off x="5074920" y="2194560"/>
            <a:ext cx="2103120" cy="1691640"/>
          </a:xfrm>
          <a:prstGeom prst="roundRect">
            <a:avLst>
              <a:gd name="adj" fmla="val 4324"/>
            </a:avLst>
          </a:prstGeom>
          <a:solidFill>
            <a:srgbClr val="ECFDF5"/>
          </a:solidFill>
          <a:ln/>
        </p:spPr>
        <p:txBody>
          <a:bodyPr/>
          <a:lstStyle/>
          <a:p>
            <a:endParaRPr lang="en-IN"/>
          </a:p>
        </p:txBody>
      </p:sp>
      <p:sp>
        <p:nvSpPr>
          <p:cNvPr id="14" name="Text 12"/>
          <p:cNvSpPr txBox="1"/>
          <p:nvPr/>
        </p:nvSpPr>
        <p:spPr>
          <a:xfrm>
            <a:off x="5148072" y="2304288"/>
            <a:ext cx="1956816" cy="365760"/>
          </a:xfrm>
          <a:prstGeom prst="rect">
            <a:avLst/>
          </a:prstGeom>
          <a:noFill/>
          <a:ln/>
        </p:spPr>
        <p:txBody>
          <a:bodyPr wrap="square" lIns="0" tIns="0" rIns="0" bIns="0" rtlCol="0" anchor="ctr"/>
          <a:lstStyle/>
          <a:p>
            <a:pPr marL="0" indent="0" algn="ctr">
              <a:buNone/>
            </a:pPr>
            <a:r>
              <a:rPr lang="en-US" sz="1400" b="1" dirty="0">
                <a:solidFill>
                  <a:srgbClr val="0F766E"/>
                </a:solidFill>
              </a:rPr>
              <a:t>3</a:t>
            </a:r>
            <a:endParaRPr lang="en-US" sz="1400" dirty="0"/>
          </a:p>
        </p:txBody>
      </p:sp>
      <p:sp>
        <p:nvSpPr>
          <p:cNvPr id="15" name="Text 13"/>
          <p:cNvSpPr txBox="1"/>
          <p:nvPr/>
        </p:nvSpPr>
        <p:spPr>
          <a:xfrm>
            <a:off x="5148072" y="2670048"/>
            <a:ext cx="1956816" cy="1124712"/>
          </a:xfrm>
          <a:prstGeom prst="rect">
            <a:avLst/>
          </a:prstGeom>
          <a:noFill/>
          <a:ln/>
        </p:spPr>
        <p:txBody>
          <a:bodyPr wrap="square" lIns="0" tIns="0" rIns="0" bIns="0" rtlCol="0" anchor="ctr"/>
          <a:lstStyle/>
          <a:p>
            <a:pPr marL="0" indent="0" algn="ctr">
              <a:buNone/>
            </a:pPr>
            <a:r>
              <a:rPr lang="en-US" sz="1200" dirty="0">
                <a:solidFill>
                  <a:srgbClr val="334155"/>
                </a:solidFill>
              </a:rPr>
              <a:t>Show it</a:t>
            </a:r>
            <a:endParaRPr lang="en-US" sz="1200" dirty="0"/>
          </a:p>
        </p:txBody>
      </p:sp>
      <p:sp>
        <p:nvSpPr>
          <p:cNvPr id="16" name="Text 14"/>
          <p:cNvSpPr txBox="1"/>
          <p:nvPr/>
        </p:nvSpPr>
        <p:spPr>
          <a:xfrm>
            <a:off x="7159752" y="2788920"/>
            <a:ext cx="365760" cy="365760"/>
          </a:xfrm>
          <a:prstGeom prst="rect">
            <a:avLst/>
          </a:prstGeom>
          <a:noFill/>
          <a:ln/>
        </p:spPr>
        <p:txBody>
          <a:bodyPr wrap="square" lIns="0" tIns="0" rIns="0" bIns="0" rtlCol="0" anchor="ctr"/>
          <a:lstStyle/>
          <a:p>
            <a:pPr marL="0" indent="0" algn="ctr">
              <a:buNone/>
            </a:pPr>
            <a:r>
              <a:rPr lang="en-US" sz="2200" b="1" dirty="0">
                <a:solidFill>
                  <a:srgbClr val="0F766E"/>
                </a:solidFill>
              </a:rPr>
              <a:t>→</a:t>
            </a:r>
            <a:endParaRPr lang="en-US" sz="2200" dirty="0"/>
          </a:p>
        </p:txBody>
      </p:sp>
      <p:sp>
        <p:nvSpPr>
          <p:cNvPr id="17" name="Shape 15"/>
          <p:cNvSpPr/>
          <p:nvPr/>
        </p:nvSpPr>
        <p:spPr>
          <a:xfrm>
            <a:off x="7360920" y="2194560"/>
            <a:ext cx="2103120" cy="1691640"/>
          </a:xfrm>
          <a:prstGeom prst="roundRect">
            <a:avLst>
              <a:gd name="adj" fmla="val 4324"/>
            </a:avLst>
          </a:prstGeom>
          <a:solidFill>
            <a:srgbClr val="ECFDF5"/>
          </a:solidFill>
          <a:ln/>
        </p:spPr>
        <p:txBody>
          <a:bodyPr/>
          <a:lstStyle/>
          <a:p>
            <a:endParaRPr lang="en-IN"/>
          </a:p>
        </p:txBody>
      </p:sp>
      <p:sp>
        <p:nvSpPr>
          <p:cNvPr id="18" name="Text 16"/>
          <p:cNvSpPr txBox="1"/>
          <p:nvPr/>
        </p:nvSpPr>
        <p:spPr>
          <a:xfrm>
            <a:off x="7434072" y="2304288"/>
            <a:ext cx="1956816" cy="365760"/>
          </a:xfrm>
          <a:prstGeom prst="rect">
            <a:avLst/>
          </a:prstGeom>
          <a:noFill/>
          <a:ln/>
        </p:spPr>
        <p:txBody>
          <a:bodyPr wrap="square" lIns="0" tIns="0" rIns="0" bIns="0" rtlCol="0" anchor="ctr"/>
          <a:lstStyle/>
          <a:p>
            <a:pPr marL="0" indent="0" algn="ctr">
              <a:buNone/>
            </a:pPr>
            <a:r>
              <a:rPr lang="en-US" sz="1400" b="1" dirty="0">
                <a:solidFill>
                  <a:srgbClr val="0F766E"/>
                </a:solidFill>
              </a:rPr>
              <a:t>4</a:t>
            </a:r>
            <a:endParaRPr lang="en-US" sz="1400" dirty="0"/>
          </a:p>
        </p:txBody>
      </p:sp>
      <p:sp>
        <p:nvSpPr>
          <p:cNvPr id="19" name="Text 17"/>
          <p:cNvSpPr txBox="1"/>
          <p:nvPr/>
        </p:nvSpPr>
        <p:spPr>
          <a:xfrm>
            <a:off x="7434072" y="2670048"/>
            <a:ext cx="1956816" cy="1124712"/>
          </a:xfrm>
          <a:prstGeom prst="rect">
            <a:avLst/>
          </a:prstGeom>
          <a:noFill/>
          <a:ln/>
        </p:spPr>
        <p:txBody>
          <a:bodyPr wrap="square" lIns="0" tIns="0" rIns="0" bIns="0" rtlCol="0" anchor="ctr"/>
          <a:lstStyle/>
          <a:p>
            <a:pPr marL="0" indent="0" algn="ctr">
              <a:buNone/>
            </a:pPr>
            <a:r>
              <a:rPr lang="en-US" sz="1200" dirty="0">
                <a:solidFill>
                  <a:srgbClr val="334155"/>
                </a:solidFill>
              </a:rPr>
              <a:t>Learn</a:t>
            </a:r>
            <a:endParaRPr lang="en-US" sz="1200" dirty="0"/>
          </a:p>
        </p:txBody>
      </p:sp>
      <p:sp>
        <p:nvSpPr>
          <p:cNvPr id="20" name="Text 18"/>
          <p:cNvSpPr txBox="1"/>
          <p:nvPr/>
        </p:nvSpPr>
        <p:spPr>
          <a:xfrm>
            <a:off x="9445752" y="2788920"/>
            <a:ext cx="365760" cy="365760"/>
          </a:xfrm>
          <a:prstGeom prst="rect">
            <a:avLst/>
          </a:prstGeom>
          <a:noFill/>
          <a:ln/>
        </p:spPr>
        <p:txBody>
          <a:bodyPr wrap="square" lIns="0" tIns="0" rIns="0" bIns="0" rtlCol="0" anchor="ctr"/>
          <a:lstStyle/>
          <a:p>
            <a:pPr marL="0" indent="0" algn="ctr">
              <a:buNone/>
            </a:pPr>
            <a:r>
              <a:rPr lang="en-US" sz="2200" b="1" dirty="0">
                <a:solidFill>
                  <a:srgbClr val="0F766E"/>
                </a:solidFill>
              </a:rPr>
              <a:t>→</a:t>
            </a:r>
            <a:endParaRPr lang="en-US" sz="2200" dirty="0"/>
          </a:p>
        </p:txBody>
      </p:sp>
      <p:sp>
        <p:nvSpPr>
          <p:cNvPr id="21" name="Shape 19"/>
          <p:cNvSpPr/>
          <p:nvPr/>
        </p:nvSpPr>
        <p:spPr>
          <a:xfrm>
            <a:off x="9646920" y="2194560"/>
            <a:ext cx="2103120" cy="1691640"/>
          </a:xfrm>
          <a:prstGeom prst="roundRect">
            <a:avLst>
              <a:gd name="adj" fmla="val 4324"/>
            </a:avLst>
          </a:prstGeom>
          <a:solidFill>
            <a:srgbClr val="ECFDF5"/>
          </a:solidFill>
          <a:ln/>
        </p:spPr>
        <p:txBody>
          <a:bodyPr/>
          <a:lstStyle/>
          <a:p>
            <a:endParaRPr lang="en-IN"/>
          </a:p>
        </p:txBody>
      </p:sp>
      <p:sp>
        <p:nvSpPr>
          <p:cNvPr id="22" name="Text 20"/>
          <p:cNvSpPr txBox="1"/>
          <p:nvPr/>
        </p:nvSpPr>
        <p:spPr>
          <a:xfrm>
            <a:off x="9720072" y="2304288"/>
            <a:ext cx="1956816" cy="365760"/>
          </a:xfrm>
          <a:prstGeom prst="rect">
            <a:avLst/>
          </a:prstGeom>
          <a:noFill/>
          <a:ln/>
        </p:spPr>
        <p:txBody>
          <a:bodyPr wrap="square" lIns="0" tIns="0" rIns="0" bIns="0" rtlCol="0" anchor="ctr"/>
          <a:lstStyle/>
          <a:p>
            <a:pPr marL="0" indent="0" algn="ctr">
              <a:buNone/>
            </a:pPr>
            <a:r>
              <a:rPr lang="en-US" sz="1400" b="1" dirty="0">
                <a:solidFill>
                  <a:srgbClr val="0F766E"/>
                </a:solidFill>
              </a:rPr>
              <a:t>5</a:t>
            </a:r>
            <a:endParaRPr lang="en-US" sz="1400" dirty="0"/>
          </a:p>
        </p:txBody>
      </p:sp>
      <p:sp>
        <p:nvSpPr>
          <p:cNvPr id="23" name="Text 21"/>
          <p:cNvSpPr txBox="1"/>
          <p:nvPr/>
        </p:nvSpPr>
        <p:spPr>
          <a:xfrm>
            <a:off x="9720072" y="2670048"/>
            <a:ext cx="1956816" cy="1124712"/>
          </a:xfrm>
          <a:prstGeom prst="rect">
            <a:avLst/>
          </a:prstGeom>
          <a:noFill/>
          <a:ln/>
        </p:spPr>
        <p:txBody>
          <a:bodyPr wrap="square" lIns="0" tIns="0" rIns="0" bIns="0" rtlCol="0" anchor="ctr"/>
          <a:lstStyle/>
          <a:p>
            <a:pPr marL="0" indent="0" algn="ctr">
              <a:buNone/>
            </a:pPr>
            <a:r>
              <a:rPr lang="en-US" sz="1200" dirty="0">
                <a:solidFill>
                  <a:srgbClr val="334155"/>
                </a:solidFill>
              </a:rPr>
              <a:t>Next slice</a:t>
            </a:r>
            <a:endParaRPr lang="en-US" sz="1200" dirty="0"/>
          </a:p>
        </p:txBody>
      </p:sp>
      <p:sp>
        <p:nvSpPr>
          <p:cNvPr id="24" name="Shape 22"/>
          <p:cNvSpPr/>
          <p:nvPr/>
        </p:nvSpPr>
        <p:spPr>
          <a:xfrm>
            <a:off x="502920" y="4114800"/>
            <a:ext cx="11155680" cy="2103120"/>
          </a:xfrm>
          <a:prstGeom prst="roundRect">
            <a:avLst>
              <a:gd name="adj" fmla="val 3478"/>
            </a:avLst>
          </a:prstGeom>
          <a:solidFill>
            <a:srgbClr val="ECFDF5"/>
          </a:solidFill>
          <a:ln/>
        </p:spPr>
        <p:txBody>
          <a:bodyPr/>
          <a:lstStyle/>
          <a:p>
            <a:endParaRPr lang="en-IN"/>
          </a:p>
        </p:txBody>
      </p:sp>
      <p:sp>
        <p:nvSpPr>
          <p:cNvPr id="25" name="Text 23"/>
          <p:cNvSpPr txBox="1"/>
          <p:nvPr/>
        </p:nvSpPr>
        <p:spPr>
          <a:xfrm>
            <a:off x="667512" y="4224528"/>
            <a:ext cx="10826496" cy="292608"/>
          </a:xfrm>
          <a:prstGeom prst="rect">
            <a:avLst/>
          </a:prstGeom>
          <a:noFill/>
          <a:ln/>
        </p:spPr>
        <p:txBody>
          <a:bodyPr wrap="square" lIns="0" tIns="0" rIns="0" bIns="0" rtlCol="0" anchor="ctr"/>
          <a:lstStyle/>
          <a:p>
            <a:pPr marL="0" indent="0">
              <a:buNone/>
            </a:pPr>
            <a:r>
              <a:rPr lang="en-US" sz="1300" b="1" dirty="0">
                <a:solidFill>
                  <a:srgbClr val="0F766E"/>
                </a:solidFill>
              </a:rPr>
              <a:t>Example</a:t>
            </a:r>
            <a:endParaRPr lang="en-US" sz="1300" dirty="0"/>
          </a:p>
        </p:txBody>
      </p:sp>
      <p:sp>
        <p:nvSpPr>
          <p:cNvPr id="26" name="Text 24"/>
          <p:cNvSpPr txBox="1"/>
          <p:nvPr/>
        </p:nvSpPr>
        <p:spPr>
          <a:xfrm>
            <a:off x="667512" y="4535424"/>
            <a:ext cx="10826496" cy="1554480"/>
          </a:xfrm>
          <a:prstGeom prst="rect">
            <a:avLst/>
          </a:prstGeom>
          <a:noFill/>
          <a:ln/>
        </p:spPr>
        <p:txBody>
          <a:bodyPr wrap="square" lIns="0" tIns="0" rIns="0" bIns="0" rtlCol="0" anchor="t"/>
          <a:lstStyle/>
          <a:p>
            <a:pPr marL="0" indent="0">
              <a:buNone/>
            </a:pPr>
            <a:r>
              <a:rPr lang="en-US" sz="1400" dirty="0">
                <a:solidFill>
                  <a:srgbClr val="334155"/>
                </a:solidFill>
              </a:rPr>
              <a:t>notes-api this week: “list notes in a file”. Next week: “add a note”. You can change week 3 after users try week 2. Git branches and PRs are how Agile work is saved without wrecking main.</a:t>
            </a:r>
            <a:endParaRPr lang="en-US" sz="1400" dirty="0"/>
          </a:p>
        </p:txBody>
      </p:sp>
      <p:sp>
        <p:nvSpPr>
          <p:cNvPr id="27"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Waterfall versus Agile</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Bonus  ·  comparison</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02920" y="1005840"/>
          <a:ext cx="11173968" cy="2133600"/>
        </p:xfrm>
        <a:graphic>
          <a:graphicData uri="http://schemas.openxmlformats.org/drawingml/2006/table">
            <a:tbl>
              <a:tblPr/>
              <a:tblGrid>
                <a:gridCol w="24688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498848">
                  <a:extLst>
                    <a:ext uri="{9D8B030D-6E8A-4147-A177-3AD203B41FA5}">
                      <a16:colId xmlns:a16="http://schemas.microsoft.com/office/drawing/2014/main" val="20002"/>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Question</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Waterfall</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Agile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When do users see it?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At the end</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Every slice / sprint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Can the plan change?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Painful, formal</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Expected</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Testing</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A late phase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Inside each slice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Risk</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Big bang at go-live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Smaller, more frequent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Fits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Fixed law / fixed contract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Learning products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DevOps needed?</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Still yes, or release night explodes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Still yes — Agile without deploy is just small documents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Scrum — Agile with a time box</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Bonus  ·  Scrum</a:t>
            </a:r>
            <a:endParaRPr lang="en-US" sz="1100" dirty="0"/>
          </a:p>
        </p:txBody>
      </p:sp>
      <p:sp>
        <p:nvSpPr>
          <p:cNvPr id="4" name="Text 2"/>
          <p:cNvSpPr txBox="1"/>
          <p:nvPr/>
        </p:nvSpPr>
        <p:spPr>
          <a:xfrm>
            <a:off x="502920" y="932688"/>
            <a:ext cx="11155680" cy="1417320"/>
          </a:xfrm>
          <a:prstGeom prst="rect">
            <a:avLst/>
          </a:prstGeom>
          <a:noFill/>
          <a:ln/>
        </p:spPr>
        <p:txBody>
          <a:bodyPr wrap="square" lIns="0" tIns="0" rIns="0" bIns="0" rtlCol="0" anchor="t"/>
          <a:lstStyle/>
          <a:p>
            <a:pPr marL="0" indent="0">
              <a:buNone/>
            </a:pPr>
            <a:r>
              <a:rPr lang="en-US" sz="1600" dirty="0">
                <a:solidFill>
                  <a:srgbClr val="334155"/>
                </a:solidFill>
              </a:rPr>
              <a:t>Scrum is a way to *do* Agile. Work is cut into a sprint (often 1–2 weeks) with a sprint goal. A backlog is the ordered list of work. A daily stand-up is a short “what I did / what I will do / what is blocked”. At the end you review working software, then improve how the team works (retro).</a:t>
            </a:r>
            <a:endParaRPr lang="en-US" sz="1600" dirty="0"/>
          </a:p>
        </p:txBody>
      </p:sp>
      <p:sp>
        <p:nvSpPr>
          <p:cNvPr id="5" name="Shape 3"/>
          <p:cNvSpPr/>
          <p:nvPr/>
        </p:nvSpPr>
        <p:spPr>
          <a:xfrm>
            <a:off x="502920" y="2468880"/>
            <a:ext cx="2651760" cy="3703320"/>
          </a:xfrm>
          <a:prstGeom prst="roundRect">
            <a:avLst>
              <a:gd name="adj" fmla="val 2759"/>
            </a:avLst>
          </a:prstGeom>
          <a:solidFill>
            <a:srgbClr val="F1F5F9"/>
          </a:solidFill>
          <a:ln/>
        </p:spPr>
        <p:txBody>
          <a:bodyPr/>
          <a:lstStyle/>
          <a:p>
            <a:endParaRPr lang="en-IN"/>
          </a:p>
        </p:txBody>
      </p:sp>
      <p:sp>
        <p:nvSpPr>
          <p:cNvPr id="6" name="Text 4"/>
          <p:cNvSpPr txBox="1"/>
          <p:nvPr/>
        </p:nvSpPr>
        <p:spPr>
          <a:xfrm>
            <a:off x="576072" y="2578608"/>
            <a:ext cx="2505456" cy="365760"/>
          </a:xfrm>
          <a:prstGeom prst="rect">
            <a:avLst/>
          </a:prstGeom>
          <a:noFill/>
          <a:ln/>
        </p:spPr>
        <p:txBody>
          <a:bodyPr wrap="square" lIns="0" tIns="0" rIns="0" bIns="0" rtlCol="0" anchor="ctr"/>
          <a:lstStyle/>
          <a:p>
            <a:pPr marL="0" indent="0" algn="ctr">
              <a:buNone/>
            </a:pPr>
            <a:r>
              <a:rPr lang="en-US" sz="1400" b="1" dirty="0">
                <a:solidFill>
                  <a:srgbClr val="0F172A"/>
                </a:solidFill>
              </a:rPr>
              <a:t>Backlog</a:t>
            </a:r>
            <a:endParaRPr lang="en-US" sz="1400" dirty="0"/>
          </a:p>
        </p:txBody>
      </p:sp>
      <p:sp>
        <p:nvSpPr>
          <p:cNvPr id="7" name="Text 5"/>
          <p:cNvSpPr txBox="1"/>
          <p:nvPr/>
        </p:nvSpPr>
        <p:spPr>
          <a:xfrm>
            <a:off x="576072" y="2944368"/>
            <a:ext cx="2505456" cy="3136392"/>
          </a:xfrm>
          <a:prstGeom prst="rect">
            <a:avLst/>
          </a:prstGeom>
          <a:noFill/>
          <a:ln/>
        </p:spPr>
        <p:txBody>
          <a:bodyPr wrap="square" lIns="0" tIns="0" rIns="0" bIns="0" rtlCol="0" anchor="ctr"/>
          <a:lstStyle/>
          <a:p>
            <a:pPr marL="0" indent="0" algn="ctr">
              <a:buNone/>
            </a:pPr>
            <a:r>
              <a:rPr lang="en-US" sz="1200" dirty="0">
                <a:solidFill>
                  <a:srgbClr val="334155"/>
                </a:solidFill>
              </a:rPr>
              <a:t>Ordered list of stories. Highest item is next.</a:t>
            </a:r>
            <a:endParaRPr lang="en-US" sz="1200" dirty="0"/>
          </a:p>
        </p:txBody>
      </p:sp>
      <p:sp>
        <p:nvSpPr>
          <p:cNvPr id="8" name="Shape 6"/>
          <p:cNvSpPr/>
          <p:nvPr/>
        </p:nvSpPr>
        <p:spPr>
          <a:xfrm>
            <a:off x="3383280" y="2468880"/>
            <a:ext cx="2651760" cy="3703320"/>
          </a:xfrm>
          <a:prstGeom prst="roundRect">
            <a:avLst>
              <a:gd name="adj" fmla="val 2759"/>
            </a:avLst>
          </a:prstGeom>
          <a:solidFill>
            <a:srgbClr val="ECFDF5"/>
          </a:solidFill>
          <a:ln/>
        </p:spPr>
        <p:txBody>
          <a:bodyPr/>
          <a:lstStyle/>
          <a:p>
            <a:endParaRPr lang="en-IN"/>
          </a:p>
        </p:txBody>
      </p:sp>
      <p:sp>
        <p:nvSpPr>
          <p:cNvPr id="9" name="Text 7"/>
          <p:cNvSpPr txBox="1"/>
          <p:nvPr/>
        </p:nvSpPr>
        <p:spPr>
          <a:xfrm>
            <a:off x="3456432" y="2578608"/>
            <a:ext cx="2505456" cy="365760"/>
          </a:xfrm>
          <a:prstGeom prst="rect">
            <a:avLst/>
          </a:prstGeom>
          <a:noFill/>
          <a:ln/>
        </p:spPr>
        <p:txBody>
          <a:bodyPr wrap="square" lIns="0" tIns="0" rIns="0" bIns="0" rtlCol="0" anchor="ctr"/>
          <a:lstStyle/>
          <a:p>
            <a:pPr marL="0" indent="0" algn="ctr">
              <a:buNone/>
            </a:pPr>
            <a:r>
              <a:rPr lang="en-US" sz="1400" b="1" dirty="0">
                <a:solidFill>
                  <a:srgbClr val="0F766E"/>
                </a:solidFill>
              </a:rPr>
              <a:t>Sprint</a:t>
            </a:r>
            <a:endParaRPr lang="en-US" sz="1400" dirty="0"/>
          </a:p>
        </p:txBody>
      </p:sp>
      <p:sp>
        <p:nvSpPr>
          <p:cNvPr id="10" name="Text 8"/>
          <p:cNvSpPr txBox="1"/>
          <p:nvPr/>
        </p:nvSpPr>
        <p:spPr>
          <a:xfrm>
            <a:off x="3456432" y="2944368"/>
            <a:ext cx="2505456" cy="3136392"/>
          </a:xfrm>
          <a:prstGeom prst="rect">
            <a:avLst/>
          </a:prstGeom>
          <a:noFill/>
          <a:ln/>
        </p:spPr>
        <p:txBody>
          <a:bodyPr wrap="square" lIns="0" tIns="0" rIns="0" bIns="0" rtlCol="0" anchor="ctr"/>
          <a:lstStyle/>
          <a:p>
            <a:pPr marL="0" indent="0" algn="ctr">
              <a:buNone/>
            </a:pPr>
            <a:r>
              <a:rPr lang="en-US" sz="1200" dirty="0">
                <a:solidFill>
                  <a:srgbClr val="334155"/>
                </a:solidFill>
              </a:rPr>
              <a:t>A fixed window. Team commits to a goal, not to 47 tickets.</a:t>
            </a:r>
            <a:endParaRPr lang="en-US" sz="1200" dirty="0"/>
          </a:p>
        </p:txBody>
      </p:sp>
      <p:sp>
        <p:nvSpPr>
          <p:cNvPr id="11" name="Shape 9"/>
          <p:cNvSpPr/>
          <p:nvPr/>
        </p:nvSpPr>
        <p:spPr>
          <a:xfrm>
            <a:off x="6263640" y="2468880"/>
            <a:ext cx="2651760" cy="3703320"/>
          </a:xfrm>
          <a:prstGeom prst="roundRect">
            <a:avLst>
              <a:gd name="adj" fmla="val 2759"/>
            </a:avLst>
          </a:prstGeom>
          <a:solidFill>
            <a:srgbClr val="CCFBF1"/>
          </a:solidFill>
          <a:ln/>
        </p:spPr>
        <p:txBody>
          <a:bodyPr/>
          <a:lstStyle/>
          <a:p>
            <a:endParaRPr lang="en-IN"/>
          </a:p>
        </p:txBody>
      </p:sp>
      <p:sp>
        <p:nvSpPr>
          <p:cNvPr id="12" name="Text 10"/>
          <p:cNvSpPr txBox="1"/>
          <p:nvPr/>
        </p:nvSpPr>
        <p:spPr>
          <a:xfrm>
            <a:off x="6336792" y="2578608"/>
            <a:ext cx="2505456" cy="365760"/>
          </a:xfrm>
          <a:prstGeom prst="rect">
            <a:avLst/>
          </a:prstGeom>
          <a:noFill/>
          <a:ln/>
        </p:spPr>
        <p:txBody>
          <a:bodyPr wrap="square" lIns="0" tIns="0" rIns="0" bIns="0" rtlCol="0" anchor="ctr"/>
          <a:lstStyle/>
          <a:p>
            <a:pPr marL="0" indent="0" algn="ctr">
              <a:buNone/>
            </a:pPr>
            <a:r>
              <a:rPr lang="en-US" sz="1400" b="1" dirty="0">
                <a:solidFill>
                  <a:srgbClr val="0F766E"/>
                </a:solidFill>
              </a:rPr>
              <a:t>Review</a:t>
            </a:r>
            <a:endParaRPr lang="en-US" sz="1400" dirty="0"/>
          </a:p>
        </p:txBody>
      </p:sp>
      <p:sp>
        <p:nvSpPr>
          <p:cNvPr id="13" name="Text 11"/>
          <p:cNvSpPr txBox="1"/>
          <p:nvPr/>
        </p:nvSpPr>
        <p:spPr>
          <a:xfrm>
            <a:off x="6336792" y="2944368"/>
            <a:ext cx="2505456" cy="3136392"/>
          </a:xfrm>
          <a:prstGeom prst="rect">
            <a:avLst/>
          </a:prstGeom>
          <a:noFill/>
          <a:ln/>
        </p:spPr>
        <p:txBody>
          <a:bodyPr wrap="square" lIns="0" tIns="0" rIns="0" bIns="0" rtlCol="0" anchor="ctr"/>
          <a:lstStyle/>
          <a:p>
            <a:pPr marL="0" indent="0" algn="ctr">
              <a:buNone/>
            </a:pPr>
            <a:r>
              <a:rPr lang="en-US" sz="1200" dirty="0">
                <a:solidFill>
                  <a:srgbClr val="334155"/>
                </a:solidFill>
              </a:rPr>
              <a:t>Show what actually runs. Not a slide of promises.</a:t>
            </a:r>
            <a:endParaRPr lang="en-US" sz="1200" dirty="0"/>
          </a:p>
        </p:txBody>
      </p:sp>
      <p:sp>
        <p:nvSpPr>
          <p:cNvPr id="14" name="Shape 12"/>
          <p:cNvSpPr/>
          <p:nvPr/>
        </p:nvSpPr>
        <p:spPr>
          <a:xfrm>
            <a:off x="9144000" y="2468880"/>
            <a:ext cx="2514600" cy="3703320"/>
          </a:xfrm>
          <a:prstGeom prst="roundRect">
            <a:avLst>
              <a:gd name="adj" fmla="val 2909"/>
            </a:avLst>
          </a:prstGeom>
          <a:solidFill>
            <a:srgbClr val="0F766E"/>
          </a:solidFill>
          <a:ln/>
        </p:spPr>
        <p:txBody>
          <a:bodyPr/>
          <a:lstStyle/>
          <a:p>
            <a:endParaRPr lang="en-IN"/>
          </a:p>
        </p:txBody>
      </p:sp>
      <p:sp>
        <p:nvSpPr>
          <p:cNvPr id="15" name="Text 13"/>
          <p:cNvSpPr txBox="1"/>
          <p:nvPr/>
        </p:nvSpPr>
        <p:spPr>
          <a:xfrm>
            <a:off x="9217152" y="2578608"/>
            <a:ext cx="2368296" cy="365760"/>
          </a:xfrm>
          <a:prstGeom prst="rect">
            <a:avLst/>
          </a:prstGeom>
          <a:noFill/>
          <a:ln/>
        </p:spPr>
        <p:txBody>
          <a:bodyPr wrap="square" lIns="0" tIns="0" rIns="0" bIns="0" rtlCol="0" anchor="ctr"/>
          <a:lstStyle/>
          <a:p>
            <a:pPr marL="0" indent="0" algn="ctr">
              <a:buNone/>
            </a:pPr>
            <a:r>
              <a:rPr lang="en-US" sz="1400" b="1" dirty="0">
                <a:solidFill>
                  <a:srgbClr val="FFFFFF"/>
                </a:solidFill>
              </a:rPr>
              <a:t>Retro</a:t>
            </a:r>
            <a:endParaRPr lang="en-US" sz="1400" dirty="0"/>
          </a:p>
        </p:txBody>
      </p:sp>
      <p:sp>
        <p:nvSpPr>
          <p:cNvPr id="16" name="Text 14"/>
          <p:cNvSpPr txBox="1"/>
          <p:nvPr/>
        </p:nvSpPr>
        <p:spPr>
          <a:xfrm>
            <a:off x="9217152" y="2944368"/>
            <a:ext cx="2368296" cy="3136392"/>
          </a:xfrm>
          <a:prstGeom prst="rect">
            <a:avLst/>
          </a:prstGeom>
          <a:noFill/>
          <a:ln/>
        </p:spPr>
        <p:txBody>
          <a:bodyPr wrap="square" lIns="0" tIns="0" rIns="0" bIns="0" rtlCol="0" anchor="ctr"/>
          <a:lstStyle/>
          <a:p>
            <a:pPr marL="0" indent="0" algn="ctr">
              <a:buNone/>
            </a:pPr>
            <a:r>
              <a:rPr lang="en-US" sz="1200" dirty="0">
                <a:solidFill>
                  <a:srgbClr val="CCFBF1"/>
                </a:solidFill>
              </a:rPr>
              <a:t>What should we change in how we work?</a:t>
            </a:r>
            <a:endParaRPr lang="en-US" sz="12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Kanban — a board and a WIP limit</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Bonus  ·  Kanban</a:t>
            </a:r>
            <a:endParaRPr lang="en-US" sz="1100" dirty="0"/>
          </a:p>
        </p:txBody>
      </p:sp>
      <p:sp>
        <p:nvSpPr>
          <p:cNvPr id="4" name="Text 2"/>
          <p:cNvSpPr txBox="1"/>
          <p:nvPr/>
        </p:nvSpPr>
        <p:spPr>
          <a:xfrm>
            <a:off x="502920" y="932688"/>
            <a:ext cx="11155680" cy="1097280"/>
          </a:xfrm>
          <a:prstGeom prst="rect">
            <a:avLst/>
          </a:prstGeom>
          <a:noFill/>
          <a:ln/>
        </p:spPr>
        <p:txBody>
          <a:bodyPr wrap="square" lIns="0" tIns="0" rIns="0" bIns="0" rtlCol="0" anchor="t"/>
          <a:lstStyle/>
          <a:p>
            <a:pPr marL="0" indent="0">
              <a:buNone/>
            </a:pPr>
            <a:r>
              <a:rPr lang="en-US" sz="1600" dirty="0">
                <a:solidFill>
                  <a:srgbClr val="334155"/>
                </a:solidFill>
              </a:rPr>
              <a:t>Kanban is another way to *do* Agile. There is no required sprint. Cards move left to right. You limit how many cards can sit in “In progress” (WIP = work in progress). The point is to finish work, not to start more work.</a:t>
            </a:r>
            <a:endParaRPr lang="en-US" sz="1600" dirty="0"/>
          </a:p>
        </p:txBody>
      </p:sp>
      <p:sp>
        <p:nvSpPr>
          <p:cNvPr id="5" name="Shape 3"/>
          <p:cNvSpPr/>
          <p:nvPr/>
        </p:nvSpPr>
        <p:spPr>
          <a:xfrm>
            <a:off x="502920" y="2148840"/>
            <a:ext cx="2788920" cy="2788920"/>
          </a:xfrm>
          <a:prstGeom prst="roundRect">
            <a:avLst>
              <a:gd name="adj" fmla="val 2623"/>
            </a:avLst>
          </a:prstGeom>
          <a:solidFill>
            <a:srgbClr val="F1F5F9"/>
          </a:solidFill>
          <a:ln/>
        </p:spPr>
        <p:txBody>
          <a:bodyPr/>
          <a:lstStyle/>
          <a:p>
            <a:endParaRPr lang="en-IN"/>
          </a:p>
        </p:txBody>
      </p:sp>
      <p:sp>
        <p:nvSpPr>
          <p:cNvPr id="6" name="Text 4"/>
          <p:cNvSpPr txBox="1"/>
          <p:nvPr/>
        </p:nvSpPr>
        <p:spPr>
          <a:xfrm>
            <a:off x="576072" y="2258568"/>
            <a:ext cx="2642616" cy="365760"/>
          </a:xfrm>
          <a:prstGeom prst="rect">
            <a:avLst/>
          </a:prstGeom>
          <a:noFill/>
          <a:ln/>
        </p:spPr>
        <p:txBody>
          <a:bodyPr wrap="square" lIns="0" tIns="0" rIns="0" bIns="0" rtlCol="0" anchor="ctr"/>
          <a:lstStyle/>
          <a:p>
            <a:pPr marL="0" indent="0" algn="ctr">
              <a:buNone/>
            </a:pPr>
            <a:r>
              <a:rPr lang="en-US" sz="1400" b="1" dirty="0">
                <a:solidFill>
                  <a:srgbClr val="0F172A"/>
                </a:solidFill>
              </a:rPr>
              <a:t>To do</a:t>
            </a:r>
            <a:endParaRPr lang="en-US" sz="1400" dirty="0"/>
          </a:p>
        </p:txBody>
      </p:sp>
      <p:sp>
        <p:nvSpPr>
          <p:cNvPr id="7" name="Text 5"/>
          <p:cNvSpPr txBox="1"/>
          <p:nvPr/>
        </p:nvSpPr>
        <p:spPr>
          <a:xfrm>
            <a:off x="576072" y="2624328"/>
            <a:ext cx="2642616" cy="2221992"/>
          </a:xfrm>
          <a:prstGeom prst="rect">
            <a:avLst/>
          </a:prstGeom>
          <a:noFill/>
          <a:ln/>
        </p:spPr>
        <p:txBody>
          <a:bodyPr wrap="square" lIns="0" tIns="0" rIns="0" bIns="0" rtlCol="0" anchor="ctr"/>
          <a:lstStyle/>
          <a:p>
            <a:pPr marL="0" indent="0" algn="ctr">
              <a:buNone/>
            </a:pPr>
            <a:r>
              <a:rPr lang="en-US" sz="1200" dirty="0">
                <a:solidFill>
                  <a:srgbClr val="334155"/>
                </a:solidFill>
              </a:rPr>
              <a:t>Write PR template</a:t>
            </a:r>
            <a:endParaRPr lang="en-US" sz="1200" dirty="0"/>
          </a:p>
          <a:p>
            <a:pPr marL="0" indent="0" algn="ctr">
              <a:buNone/>
            </a:pPr>
            <a:r>
              <a:rPr lang="en-US" sz="1200" dirty="0">
                <a:solidFill>
                  <a:srgbClr val="334155"/>
                </a:solidFill>
              </a:rPr>
              <a:t>Add note to notes.txt</a:t>
            </a:r>
            <a:endParaRPr lang="en-US" sz="1200" dirty="0"/>
          </a:p>
          <a:p>
            <a:pPr marL="0" indent="0" algn="ctr">
              <a:buNone/>
            </a:pPr>
            <a:r>
              <a:rPr lang="en-US" sz="1200" dirty="0">
                <a:solidFill>
                  <a:srgbClr val="334155"/>
                </a:solidFill>
              </a:rPr>
              <a:t>Ignore .env</a:t>
            </a:r>
            <a:endParaRPr lang="en-US" sz="1200" dirty="0"/>
          </a:p>
        </p:txBody>
      </p:sp>
      <p:sp>
        <p:nvSpPr>
          <p:cNvPr id="8" name="Shape 6"/>
          <p:cNvSpPr/>
          <p:nvPr/>
        </p:nvSpPr>
        <p:spPr>
          <a:xfrm>
            <a:off x="3429000" y="2148840"/>
            <a:ext cx="2788920" cy="2788920"/>
          </a:xfrm>
          <a:prstGeom prst="roundRect">
            <a:avLst>
              <a:gd name="adj" fmla="val 2623"/>
            </a:avLst>
          </a:prstGeom>
          <a:solidFill>
            <a:srgbClr val="FEF3C7"/>
          </a:solidFill>
          <a:ln/>
        </p:spPr>
        <p:txBody>
          <a:bodyPr/>
          <a:lstStyle/>
          <a:p>
            <a:endParaRPr lang="en-IN"/>
          </a:p>
        </p:txBody>
      </p:sp>
      <p:sp>
        <p:nvSpPr>
          <p:cNvPr id="9" name="Text 7"/>
          <p:cNvSpPr txBox="1"/>
          <p:nvPr/>
        </p:nvSpPr>
        <p:spPr>
          <a:xfrm>
            <a:off x="3502152" y="2258568"/>
            <a:ext cx="2642616" cy="365760"/>
          </a:xfrm>
          <a:prstGeom prst="rect">
            <a:avLst/>
          </a:prstGeom>
          <a:noFill/>
          <a:ln/>
        </p:spPr>
        <p:txBody>
          <a:bodyPr wrap="square" lIns="0" tIns="0" rIns="0" bIns="0" rtlCol="0" anchor="ctr"/>
          <a:lstStyle/>
          <a:p>
            <a:pPr marL="0" indent="0" algn="ctr">
              <a:buNone/>
            </a:pPr>
            <a:r>
              <a:rPr lang="en-US" sz="1400" b="1" dirty="0">
                <a:solidFill>
                  <a:srgbClr val="B45309"/>
                </a:solidFill>
              </a:rPr>
              <a:t>In progress (WIP 2)</a:t>
            </a:r>
            <a:endParaRPr lang="en-US" sz="1400" dirty="0"/>
          </a:p>
        </p:txBody>
      </p:sp>
      <p:sp>
        <p:nvSpPr>
          <p:cNvPr id="10" name="Text 8"/>
          <p:cNvSpPr txBox="1"/>
          <p:nvPr/>
        </p:nvSpPr>
        <p:spPr>
          <a:xfrm>
            <a:off x="3502152" y="2624328"/>
            <a:ext cx="2642616" cy="2221992"/>
          </a:xfrm>
          <a:prstGeom prst="rect">
            <a:avLst/>
          </a:prstGeom>
          <a:noFill/>
          <a:ln/>
        </p:spPr>
        <p:txBody>
          <a:bodyPr wrap="square" lIns="0" tIns="0" rIns="0" bIns="0" rtlCol="0" anchor="ctr"/>
          <a:lstStyle/>
          <a:p>
            <a:pPr marL="0" indent="0" algn="ctr">
              <a:buNone/>
            </a:pPr>
            <a:r>
              <a:rPr lang="en-US" sz="1200" dirty="0">
                <a:solidFill>
                  <a:srgbClr val="334155"/>
                </a:solidFill>
              </a:rPr>
              <a:t>Document git restore</a:t>
            </a:r>
            <a:endParaRPr lang="en-US" sz="1200" dirty="0"/>
          </a:p>
          <a:p>
            <a:pPr marL="0" indent="0" algn="ctr">
              <a:buNone/>
            </a:pPr>
            <a:r>
              <a:rPr lang="en-US" sz="1200" dirty="0">
                <a:solidFill>
                  <a:srgbClr val="334155"/>
                </a:solidFill>
              </a:rPr>
              <a:t>Fix README typo</a:t>
            </a:r>
            <a:endParaRPr lang="en-US" sz="1200" dirty="0"/>
          </a:p>
        </p:txBody>
      </p:sp>
      <p:sp>
        <p:nvSpPr>
          <p:cNvPr id="11" name="Shape 9"/>
          <p:cNvSpPr/>
          <p:nvPr/>
        </p:nvSpPr>
        <p:spPr>
          <a:xfrm>
            <a:off x="6355080" y="2148840"/>
            <a:ext cx="2788920" cy="2788920"/>
          </a:xfrm>
          <a:prstGeom prst="roundRect">
            <a:avLst>
              <a:gd name="adj" fmla="val 2623"/>
            </a:avLst>
          </a:prstGeom>
          <a:solidFill>
            <a:srgbClr val="ECFDF5"/>
          </a:solidFill>
          <a:ln/>
        </p:spPr>
        <p:txBody>
          <a:bodyPr/>
          <a:lstStyle/>
          <a:p>
            <a:endParaRPr lang="en-IN"/>
          </a:p>
        </p:txBody>
      </p:sp>
      <p:sp>
        <p:nvSpPr>
          <p:cNvPr id="12" name="Text 10"/>
          <p:cNvSpPr txBox="1"/>
          <p:nvPr/>
        </p:nvSpPr>
        <p:spPr>
          <a:xfrm>
            <a:off x="6428232" y="2258568"/>
            <a:ext cx="2642616" cy="365760"/>
          </a:xfrm>
          <a:prstGeom prst="rect">
            <a:avLst/>
          </a:prstGeom>
          <a:noFill/>
          <a:ln/>
        </p:spPr>
        <p:txBody>
          <a:bodyPr wrap="square" lIns="0" tIns="0" rIns="0" bIns="0" rtlCol="0" anchor="ctr"/>
          <a:lstStyle/>
          <a:p>
            <a:pPr marL="0" indent="0" algn="ctr">
              <a:buNone/>
            </a:pPr>
            <a:r>
              <a:rPr lang="en-US" sz="1400" b="1" dirty="0">
                <a:solidFill>
                  <a:srgbClr val="0F766E"/>
                </a:solidFill>
              </a:rPr>
              <a:t>Review</a:t>
            </a:r>
            <a:endParaRPr lang="en-US" sz="1400" dirty="0"/>
          </a:p>
        </p:txBody>
      </p:sp>
      <p:sp>
        <p:nvSpPr>
          <p:cNvPr id="13" name="Text 11"/>
          <p:cNvSpPr txBox="1"/>
          <p:nvPr/>
        </p:nvSpPr>
        <p:spPr>
          <a:xfrm>
            <a:off x="6428232" y="2624328"/>
            <a:ext cx="2642616" cy="2221992"/>
          </a:xfrm>
          <a:prstGeom prst="rect">
            <a:avLst/>
          </a:prstGeom>
          <a:noFill/>
          <a:ln/>
        </p:spPr>
        <p:txBody>
          <a:bodyPr wrap="square" lIns="0" tIns="0" rIns="0" bIns="0" rtlCol="0" anchor="ctr"/>
          <a:lstStyle/>
          <a:p>
            <a:pPr marL="0" indent="0" algn="ctr">
              <a:buNone/>
            </a:pPr>
            <a:r>
              <a:rPr lang="en-US" sz="1200" dirty="0">
                <a:solidFill>
                  <a:srgbClr val="334155"/>
                </a:solidFill>
              </a:rPr>
              <a:t>PR #12 add-my-note</a:t>
            </a:r>
            <a:endParaRPr lang="en-US" sz="1200" dirty="0"/>
          </a:p>
        </p:txBody>
      </p:sp>
      <p:sp>
        <p:nvSpPr>
          <p:cNvPr id="14" name="Shape 12"/>
          <p:cNvSpPr/>
          <p:nvPr/>
        </p:nvSpPr>
        <p:spPr>
          <a:xfrm>
            <a:off x="9281160" y="2148840"/>
            <a:ext cx="2788920" cy="2788920"/>
          </a:xfrm>
          <a:prstGeom prst="roundRect">
            <a:avLst>
              <a:gd name="adj" fmla="val 2623"/>
            </a:avLst>
          </a:prstGeom>
          <a:solidFill>
            <a:srgbClr val="0F766E"/>
          </a:solidFill>
          <a:ln/>
        </p:spPr>
        <p:txBody>
          <a:bodyPr/>
          <a:lstStyle/>
          <a:p>
            <a:endParaRPr lang="en-IN"/>
          </a:p>
        </p:txBody>
      </p:sp>
      <p:sp>
        <p:nvSpPr>
          <p:cNvPr id="15" name="Text 13"/>
          <p:cNvSpPr txBox="1"/>
          <p:nvPr/>
        </p:nvSpPr>
        <p:spPr>
          <a:xfrm>
            <a:off x="9354312" y="2258568"/>
            <a:ext cx="2642616" cy="365760"/>
          </a:xfrm>
          <a:prstGeom prst="rect">
            <a:avLst/>
          </a:prstGeom>
          <a:noFill/>
          <a:ln/>
        </p:spPr>
        <p:txBody>
          <a:bodyPr wrap="square" lIns="0" tIns="0" rIns="0" bIns="0" rtlCol="0" anchor="ctr"/>
          <a:lstStyle/>
          <a:p>
            <a:pPr marL="0" indent="0" algn="ctr">
              <a:buNone/>
            </a:pPr>
            <a:r>
              <a:rPr lang="en-US" sz="1400" b="1" dirty="0">
                <a:solidFill>
                  <a:srgbClr val="FFFFFF"/>
                </a:solidFill>
              </a:rPr>
              <a:t>Done</a:t>
            </a:r>
            <a:endParaRPr lang="en-US" sz="1400" dirty="0"/>
          </a:p>
        </p:txBody>
      </p:sp>
      <p:sp>
        <p:nvSpPr>
          <p:cNvPr id="16" name="Text 14"/>
          <p:cNvSpPr txBox="1"/>
          <p:nvPr/>
        </p:nvSpPr>
        <p:spPr>
          <a:xfrm>
            <a:off x="9354312" y="2624328"/>
            <a:ext cx="2642616" cy="2221992"/>
          </a:xfrm>
          <a:prstGeom prst="rect">
            <a:avLst/>
          </a:prstGeom>
          <a:noFill/>
          <a:ln/>
        </p:spPr>
        <p:txBody>
          <a:bodyPr wrap="square" lIns="0" tIns="0" rIns="0" bIns="0" rtlCol="0" anchor="ctr"/>
          <a:lstStyle/>
          <a:p>
            <a:pPr marL="0" indent="0" algn="ctr">
              <a:buNone/>
            </a:pPr>
            <a:r>
              <a:rPr lang="en-US" sz="1200" dirty="0">
                <a:solidFill>
                  <a:srgbClr val="CCFBF1"/>
                </a:solidFill>
              </a:rPr>
              <a:t>Create repo</a:t>
            </a:r>
            <a:endParaRPr lang="en-US" sz="1200" dirty="0"/>
          </a:p>
          <a:p>
            <a:pPr marL="0" indent="0" algn="ctr">
              <a:buNone/>
            </a:pPr>
            <a:r>
              <a:rPr lang="en-US" sz="1200" dirty="0">
                <a:solidFill>
                  <a:srgbClr val="CCFBF1"/>
                </a:solidFill>
              </a:rPr>
              <a:t>Add .gitignore</a:t>
            </a:r>
            <a:endParaRPr lang="en-US" sz="1200" dirty="0"/>
          </a:p>
        </p:txBody>
      </p:sp>
      <p:sp>
        <p:nvSpPr>
          <p:cNvPr id="17" name="Text 15"/>
          <p:cNvSpPr txBox="1"/>
          <p:nvPr/>
        </p:nvSpPr>
        <p:spPr>
          <a:xfrm>
            <a:off x="502920" y="5074920"/>
            <a:ext cx="11155680" cy="1143000"/>
          </a:xfrm>
          <a:prstGeom prst="rect">
            <a:avLst/>
          </a:prstGeom>
          <a:noFill/>
          <a:ln/>
        </p:spPr>
        <p:txBody>
          <a:bodyPr wrap="square" lIns="0" tIns="0" rIns="0" bIns="0" rtlCol="0" anchor="ctr"/>
          <a:lstStyle/>
          <a:p>
            <a:pPr marL="0" indent="0">
              <a:buNone/>
            </a:pPr>
            <a:r>
              <a:rPr lang="en-US" sz="1500" dirty="0">
                <a:solidFill>
                  <a:srgbClr val="334155"/>
                </a:solidFill>
              </a:rPr>
              <a:t>Example: if WIP is 2 and two cards are already in progress, you cannot start a third. You help finish one. That is Kanban’s control knob.</a:t>
            </a:r>
            <a:endParaRPr lang="en-US" sz="15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Scrum versus Kanban</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Bonus  ·  two Agile tools</a:t>
            </a:r>
            <a:endParaRPr lang="en-US" sz="11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02920" y="1005840"/>
          <a:ext cx="11173968" cy="2133600"/>
        </p:xfrm>
        <a:graphic>
          <a:graphicData uri="http://schemas.openxmlformats.org/drawingml/2006/table">
            <a:tbl>
              <a:tblPr/>
              <a:tblGrid>
                <a:gridCol w="2286000">
                  <a:extLst>
                    <a:ext uri="{9D8B030D-6E8A-4147-A177-3AD203B41FA5}">
                      <a16:colId xmlns:a16="http://schemas.microsoft.com/office/drawing/2014/main" val="20000"/>
                    </a:ext>
                  </a:extLst>
                </a:gridCol>
                <a:gridCol w="4443984">
                  <a:extLst>
                    <a:ext uri="{9D8B030D-6E8A-4147-A177-3AD203B41FA5}">
                      <a16:colId xmlns:a16="http://schemas.microsoft.com/office/drawing/2014/main" val="20001"/>
                    </a:ext>
                  </a:extLst>
                </a:gridCol>
                <a:gridCol w="4443984">
                  <a:extLst>
                    <a:ext uri="{9D8B030D-6E8A-4147-A177-3AD203B41FA5}">
                      <a16:colId xmlns:a16="http://schemas.microsoft.com/office/drawing/2014/main" val="20002"/>
                    </a:ext>
                  </a:extLst>
                </a:gridCol>
              </a:tblGrid>
              <a:tr h="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Question</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Scrum</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Kanban</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Time box?</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Yes — the sprint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No required sprint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Cadence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Plan → sprint → review → retro</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Continuous flow</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Control knob</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Sprint goal and sprint length</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WIP limit on the board</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Roles you will hear</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Product Owner, Scrum Master, Developers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Often no extra role names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Fits</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A product team that likes a drumbeat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Support / ops work that arrives randomly</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r h="0">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Still need Git?</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Yes — branches and PRs every slice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F172A"/>
                          </a:solidFill>
                          <a:latin typeface="Calibri" pitchFamily="34" charset="0"/>
                          <a:ea typeface="Calibri" pitchFamily="34" charset="-122"/>
                          <a:cs typeface="Calibri" pitchFamily="34" charset="-120"/>
                        </a:rPr>
                        <a:t>Yes — same</a:t>
                      </a:r>
                      <a:endParaRPr lang="en-US" sz="14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237744"/>
            <a:ext cx="11155680" cy="621792"/>
          </a:xfrm>
          <a:prstGeom prst="rect">
            <a:avLst/>
          </a:prstGeom>
          <a:noFill/>
          <a:ln/>
        </p:spPr>
        <p:txBody>
          <a:bodyPr wrap="square" lIns="0" tIns="0" rIns="0" bIns="0" rtlCol="0"/>
          <a:lstStyle/>
          <a:p>
            <a:pPr marL="0" indent="0">
              <a:buNone/>
            </a:pPr>
            <a:r>
              <a:rPr lang="en-US" sz="2600" b="1" dirty="0">
                <a:solidFill>
                  <a:schemeClr val="tx1"/>
                </a:solidFill>
              </a:rPr>
              <a:t>Interview answers you can read aloud</a:t>
            </a:r>
            <a:endParaRPr lang="en-US" sz="2600" dirty="0"/>
          </a:p>
        </p:txBody>
      </p:sp>
      <p:sp>
        <p:nvSpPr>
          <p:cNvPr id="3" name="Text 1"/>
          <p:cNvSpPr txBox="1"/>
          <p:nvPr/>
        </p:nvSpPr>
        <p:spPr>
          <a:xfrm>
            <a:off x="502920" y="6473952"/>
            <a:ext cx="9601200" cy="256032"/>
          </a:xfrm>
          <a:prstGeom prst="rect">
            <a:avLst/>
          </a:prstGeom>
          <a:noFill/>
          <a:ln/>
        </p:spPr>
        <p:txBody>
          <a:bodyPr wrap="square" lIns="0" tIns="0" rIns="0" bIns="0" rtlCol="0" anchor="ctr"/>
          <a:lstStyle/>
          <a:p>
            <a:pPr marL="0" indent="0">
              <a:buNone/>
            </a:pPr>
            <a:r>
              <a:rPr lang="en-US" sz="1100" dirty="0">
                <a:solidFill>
                  <a:srgbClr val="64748B"/>
                </a:solidFill>
              </a:rPr>
              <a:t>Lecture 2  ·  practise</a:t>
            </a:r>
            <a:endParaRPr lang="en-US" sz="1100" dirty="0"/>
          </a:p>
        </p:txBody>
      </p:sp>
      <p:graphicFrame>
        <p:nvGraphicFramePr>
          <p:cNvPr id="49" name="Table 0"/>
          <p:cNvGraphicFramePr>
            <a:graphicFrameLocks noGrp="1"/>
          </p:cNvGraphicFramePr>
          <p:nvPr>
            <p:extLst>
              <p:ext uri="{D42A27DB-BD31-4B8C-83A1-F6EECF244321}">
                <p14:modId xmlns:p14="http://schemas.microsoft.com/office/powerpoint/2010/main" val="2294185442"/>
              </p:ext>
            </p:extLst>
          </p:nvPr>
        </p:nvGraphicFramePr>
        <p:xfrm>
          <a:off x="502920" y="987552"/>
          <a:ext cx="11173968" cy="2316480"/>
        </p:xfrm>
        <a:graphic>
          <a:graphicData uri="http://schemas.openxmlformats.org/drawingml/2006/table">
            <a:tbl>
              <a:tblPr/>
              <a:tblGrid>
                <a:gridCol w="3200400">
                  <a:extLst>
                    <a:ext uri="{9D8B030D-6E8A-4147-A177-3AD203B41FA5}">
                      <a16:colId xmlns:a16="http://schemas.microsoft.com/office/drawing/2014/main" val="20000"/>
                    </a:ext>
                  </a:extLst>
                </a:gridCol>
                <a:gridCol w="7973568">
                  <a:extLst>
                    <a:ext uri="{9D8B030D-6E8A-4147-A177-3AD203B41FA5}">
                      <a16:colId xmlns:a16="http://schemas.microsoft.com/office/drawing/2014/main" val="20001"/>
                    </a:ext>
                  </a:extLst>
                </a:gridCol>
              </a:tblGrid>
              <a:tr h="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Say this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F172A"/>
                    </a:solidFill>
                  </a:tcPr>
                </a:tc>
                <a:extLst>
                  <a:ext uri="{0D108BD9-81ED-4DB2-BD59-A6C34878D82A}">
                    <a16:rowId xmlns:a16="http://schemas.microsoft.com/office/drawing/2014/main" val="10000"/>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Git vs GitHub?</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Git is local history. GitHub hosts the shared repo and pull requests.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What is a PR?</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A request to review my branch and merge it into main.</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Never commit?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Secrets, .env, keys. Rotate if it leaked. .gitignore is not enough after the fact.</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Waterfall vs Agile?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Waterfall is one late release. Agile is small slices of working software.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Scrum vs Kanban?</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Scrum uses sprints. Kanban uses WIP limits and flow.</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r h="0">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Agile vs DevOps?</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r>
                        <a:rPr lang="en-US" sz="1300" dirty="0">
                          <a:solidFill>
                            <a:srgbClr val="0F172A"/>
                          </a:solidFill>
                          <a:latin typeface="Calibri" pitchFamily="34" charset="0"/>
                          <a:ea typeface="Calibri" pitchFamily="34" charset="-122"/>
                          <a:cs typeface="Calibri" pitchFamily="34" charset="-120"/>
                        </a:rPr>
                        <a:t>Agile plans small. DevOps ships and runs small. Not the same.</a:t>
                      </a: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6"/>
                  </a:ext>
                </a:extLst>
              </a:tr>
              <a:tr h="0">
                <a:tc>
                  <a:txBody>
                    <a:bodyPr/>
                    <a:lstStyle/>
                    <a:p>
                      <a:pPr marL="0" indent="0" algn="l">
                        <a:buNone/>
                      </a:pP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tc>
                  <a:txBody>
                    <a:bodyPr/>
                    <a:lstStyle/>
                    <a:p>
                      <a:pPr marL="0" indent="0" algn="l">
                        <a:buNone/>
                      </a:pPr>
                      <a:endParaRPr lang="en-US" sz="1300" dirty="0">
                        <a:latin typeface="Calibri" charset="0"/>
                        <a:ea typeface="Calibri" charset="0"/>
                        <a:cs typeface="Calibr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640080" y="1234440"/>
            <a:ext cx="2286000" cy="365760"/>
          </a:xfrm>
          <a:prstGeom prst="roundRect">
            <a:avLst>
              <a:gd name="adj" fmla="val 15000"/>
            </a:avLst>
          </a:prstGeom>
          <a:solidFill>
            <a:srgbClr val="0F766E"/>
          </a:solidFill>
          <a:ln/>
        </p:spPr>
        <p:txBody>
          <a:bodyPr/>
          <a:lstStyle/>
          <a:p>
            <a:endParaRPr lang="en-IN"/>
          </a:p>
        </p:txBody>
      </p:sp>
      <p:sp>
        <p:nvSpPr>
          <p:cNvPr id="3" name="Text 1"/>
          <p:cNvSpPr txBox="1"/>
          <p:nvPr/>
        </p:nvSpPr>
        <p:spPr>
          <a:xfrm>
            <a:off x="640080" y="1234440"/>
            <a:ext cx="2286000" cy="365760"/>
          </a:xfrm>
          <a:prstGeom prst="rect">
            <a:avLst/>
          </a:prstGeom>
          <a:noFill/>
          <a:ln/>
        </p:spPr>
        <p:txBody>
          <a:bodyPr wrap="square" lIns="0" tIns="0" rIns="0" bIns="0" rtlCol="0" anchor="ctr"/>
          <a:lstStyle/>
          <a:p>
            <a:pPr marL="0" indent="0" algn="ctr">
              <a:buNone/>
            </a:pPr>
            <a:r>
              <a:rPr lang="en-US" sz="1100" b="1" dirty="0">
                <a:solidFill>
                  <a:srgbClr val="FFFFFF"/>
                </a:solidFill>
              </a:rPr>
              <a:t>BEFORE LECTURE 3</a:t>
            </a:r>
            <a:endParaRPr lang="en-US" sz="1100" dirty="0"/>
          </a:p>
        </p:txBody>
      </p:sp>
      <p:sp>
        <p:nvSpPr>
          <p:cNvPr id="4" name="Text 0"/>
          <p:cNvSpPr>
            <a:spLocks noGrp="1"/>
          </p:cNvSpPr>
          <p:nvPr>
            <p:ph type="title" idx="100" hasCustomPrompt="1"/>
          </p:nvPr>
        </p:nvSpPr>
        <p:spPr>
          <a:xfrm>
            <a:off x="640080" y="1828800"/>
            <a:ext cx="10881360" cy="1371600"/>
          </a:xfrm>
          <a:prstGeom prst="rect">
            <a:avLst/>
          </a:prstGeom>
          <a:noFill/>
          <a:ln/>
        </p:spPr>
        <p:txBody>
          <a:bodyPr wrap="square" lIns="0" tIns="0" rIns="0" bIns="0" rtlCol="0" anchor="b"/>
          <a:lstStyle/>
          <a:p>
            <a:pPr marL="0" indent="0">
              <a:buNone/>
            </a:pPr>
            <a:r>
              <a:rPr lang="en-US" sz="3400" b="1" dirty="0">
                <a:solidFill>
                  <a:schemeClr val="bg1"/>
                </a:solidFill>
              </a:rPr>
              <a:t>Open a real pull request. Then rest.</a:t>
            </a:r>
            <a:endParaRPr lang="en-US" sz="3400" dirty="0"/>
          </a:p>
        </p:txBody>
      </p:sp>
      <p:sp>
        <p:nvSpPr>
          <p:cNvPr id="5" name="Text 0"/>
          <p:cNvSpPr>
            <a:spLocks noGrp="1"/>
          </p:cNvSpPr>
          <p:nvPr>
            <p:ph type="body" idx="101" hasCustomPrompt="1"/>
          </p:nvPr>
        </p:nvSpPr>
        <p:spPr>
          <a:xfrm>
            <a:off x="640080" y="3291840"/>
            <a:ext cx="10515600" cy="1554480"/>
          </a:xfrm>
          <a:prstGeom prst="rect">
            <a:avLst/>
          </a:prstGeom>
          <a:noFill/>
          <a:ln/>
        </p:spPr>
        <p:txBody>
          <a:bodyPr wrap="square" lIns="0" tIns="0" rIns="0" bIns="0" rtlCol="0"/>
          <a:lstStyle/>
          <a:p>
            <a:pPr marL="0" indent="0">
              <a:buNone/>
            </a:pPr>
            <a:r>
              <a:rPr lang="en-US" sz="1800" dirty="0">
                <a:solidFill>
                  <a:srgbClr val="94A3B8"/>
                </a:solidFill>
              </a:rPr>
              <a:t>Redo git-lab.sh once. Push notes-api with a PR. Write four sentences: Git vs GitHub, Waterfall vs Agile, Scrum vs Kanban, Agile vs DevOps.</a:t>
            </a:r>
            <a:endParaRPr lang="en-US" sz="1800" dirty="0"/>
          </a:p>
          <a:p>
            <a:pPr marL="0" indent="0">
              <a:buNone/>
            </a:pPr>
            <a:r>
              <a:rPr lang="en-US" sz="1800" dirty="0">
                <a:solidFill>
                  <a:srgbClr val="94A3B8"/>
                </a:solidFill>
              </a:rPr>
              <a:t>Lecture 3 is networking and AWS basics — IP, DNS, VPC. Git stays underneath everything after this.</a:t>
            </a:r>
            <a:endParaRPr lang="en-US" sz="1800" dirty="0"/>
          </a:p>
        </p:txBody>
      </p:sp>
      <p:sp>
        <p:nvSpPr>
          <p:cNvPr id="25" name="Slide Number Placeholder 0"/>
          <p:cNvSpPr>
            <a:spLocks noGrp="1"/>
          </p:cNvSpPr>
          <p:nvPr>
            <p:ph type="sldNum" sz="quarter" idx="4294967295"/>
          </p:nvPr>
        </p:nvSpPr>
        <p:spPr>
          <a:xfrm>
            <a:off x="11292840" y="6473952"/>
            <a:ext cx="800000" cy="300000"/>
          </a:xfrm>
          <a:prstGeom prst="rect">
            <a:avLst/>
          </a:prstGeom>
          <a:extLst>
            <a:ext uri="{C572A759-6A51-4108-AA02-DFA0A04FC94B}">
              <ma14:wrappingTextBoxFlag xmlns:ma14="http://schemas.microsoft.com/office/mac/drawingml/2011/main" xmlns="" val="0"/>
            </a:ext>
          </a:extLst>
        </p:spPr>
        <p:txBody>
          <a:bodyPr/>
          <a:lstStyle>
            <a:lvl1pPr>
              <a:defRPr sz="1100">
                <a:solidFill>
                  <a:srgbClr val="64748B"/>
                </a:solidFill>
              </a:defRPr>
            </a:lvl1pPr>
          </a:lstStyle>
          <a:p>
            <a:pPr algn="l"/>
            <a:fld id="{F7021451-1387-4CA6-816F-3879F97B5CBC}" type="slidenum">
              <a:rPr lang="en-US" b="0"/>
              <a:t>38</a:t>
            </a:fld>
            <a:endParaRPr lang="en-US"/>
          </a:p>
        </p:txBody>
      </p:sp>
    </p:spTree>
  </p:cSld>
  <p:clrMapOvr>
    <a:masterClrMapping/>
  </p:clrMapOvr>
</p:sld>
</file>

<file path=ppt/theme/theme1.xml><?xml version="1.0" encoding="utf-8"?>
<a:theme xmlns:a="http://schemas.openxmlformats.org/drawingml/2006/main" name="Ops Teal">
  <a:themeElements>
    <a:clrScheme name="Ops Teal">
      <a:dk1>
        <a:srgbClr val="0F172A"/>
      </a:dk1>
      <a:lt1>
        <a:srgbClr val="F8FAFC"/>
      </a:lt1>
      <a:dk2>
        <a:srgbClr val="334155"/>
      </a:dk2>
      <a:lt2>
        <a:srgbClr val="E2E8F0"/>
      </a:lt2>
      <a:accent1>
        <a:srgbClr val="0F766E"/>
      </a:accent1>
      <a:accent2>
        <a:srgbClr val="B45309"/>
      </a:accent2>
      <a:accent3>
        <a:srgbClr val="155E75"/>
      </a:accent3>
      <a:accent4>
        <a:srgbClr val="64748B"/>
      </a:accent4>
      <a:accent5>
        <a:srgbClr val="0D9488"/>
      </a:accent5>
      <a:accent6>
        <a:srgbClr val="1E293B"/>
      </a:accent6>
      <a:hlink>
        <a:srgbClr val="0F766E"/>
      </a:hlink>
      <a:folHlink>
        <a:srgbClr val="115E59"/>
      </a:folHlink>
    </a:clrScheme>
    <a:fontScheme name="Ops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3868</Words>
  <Application>Microsoft Office PowerPoint</Application>
  <PresentationFormat>Widescreen</PresentationFormat>
  <Paragraphs>564</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Ops Teal</vt:lpstr>
      <vt:lpstr>Git, GitHub, and ways of working</vt:lpstr>
      <vt:lpstr>Why version control exists</vt:lpstr>
      <vt:lpstr>The problem without Git</vt:lpstr>
      <vt:lpstr>What a repository is</vt:lpstr>
      <vt:lpstr>Git versus GitHub</vt:lpstr>
      <vt:lpstr>Same idea, different product names</vt:lpstr>
      <vt:lpstr>Diagram: where your code lives</vt:lpstr>
      <vt:lpstr>Daily Git commands</vt:lpstr>
      <vt:lpstr>Start a repo: init or clone</vt:lpstr>
      <vt:lpstr>git status — always look before you add</vt:lpstr>
      <vt:lpstr>Staging: git add is a choice</vt:lpstr>
      <vt:lpstr>git commit — a snapshot with a message</vt:lpstr>
      <vt:lpstr>git log and git diff — see history and changes</vt:lpstr>
      <vt:lpstr>Undo uncommitted work: git restore</vt:lpstr>
      <vt:lpstr>What must never be committed</vt:lpstr>
      <vt:lpstr>.gitignore tells Git to skip files</vt:lpstr>
      <vt:lpstr>Branches, remotes, and pull requests</vt:lpstr>
      <vt:lpstr>Why branches exist</vt:lpstr>
      <vt:lpstr>Branch commands you will type</vt:lpstr>
      <vt:lpstr>Diagram: GitHub Flow (what jobs expect)</vt:lpstr>
      <vt:lpstr>origin, clone, fetch, pull, push</vt:lpstr>
      <vt:lpstr>Fork versus clone</vt:lpstr>
      <vt:lpstr>Pull request, step by step</vt:lpstr>
      <vt:lpstr>Protecting main and code review</vt:lpstr>
      <vt:lpstr>Merge conflict — Git will not guess</vt:lpstr>
      <vt:lpstr>Lab: git-demo-instructions.txt then a GitHub PR</vt:lpstr>
      <vt:lpstr>Part A — run the script</vt:lpstr>
      <vt:lpstr>Bonus: Waterfall, Agile, Scrum, Kanban</vt:lpstr>
      <vt:lpstr>Why this bonus exists</vt:lpstr>
      <vt:lpstr>Waterfall — one way through, then stop</vt:lpstr>
      <vt:lpstr>Waterfall — what goes wrong in product teams</vt:lpstr>
      <vt:lpstr>Agile — repeat a small SDLC</vt:lpstr>
      <vt:lpstr>Waterfall versus Agile</vt:lpstr>
      <vt:lpstr>Scrum — Agile with a time box</vt:lpstr>
      <vt:lpstr>Kanban — a board and a WIP limit</vt:lpstr>
      <vt:lpstr>Scrum versus Kanban</vt:lpstr>
      <vt:lpstr>Interview answers you can read aloud</vt:lpstr>
      <vt:lpstr>Open a real pull request. Then rest.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Git, GitHub, and ways of working</dc:title>
  <dc:subject>Student-readable lecture. Git in full, then bonus process models.</dc:subject>
  <dc:creator>DevOps Foundation Course</dc:creator>
  <cp:lastModifiedBy>Mayur Brijwani</cp:lastModifiedBy>
  <cp:revision>2</cp:revision>
  <dcterms:created xsi:type="dcterms:W3CDTF">2026-10-18T09:15:41Z</dcterms:created>
  <dcterms:modified xsi:type="dcterms:W3CDTF">2026-10-18T10:23:46Z</dcterms:modified>
</cp:coreProperties>
</file>